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730"/>
        </a:solidFill>
      </p:bgPr>
    </p:bg>
    <p:spTree>
      <p:nvGrpSpPr>
        <p:cNvPr id="1" name=""/>
        <p:cNvGrpSpPr/>
        <p:nvPr/>
      </p:nvGrpSpPr>
      <p:grpSpPr>
        <a:xfrm>
          <a:off x="0" y="0"/>
          <a:ext cx="0" cy="0"/>
          <a:chOff x="0" y="0"/>
          <a:chExt cx="0" cy="0"/>
        </a:xfrm>
      </p:grpSpPr>
      <p:sp>
        <p:nvSpPr>
          <p:cNvPr id="2" name="Shape 0"/>
          <p:cNvSpPr/>
          <p:nvPr/>
        </p:nvSpPr>
        <p:spPr>
          <a:xfrm>
            <a:off x="-2011680" y="-2377440"/>
            <a:ext cx="5943600" cy="5943600"/>
          </a:xfrm>
          <a:prstGeom prst="ellipse">
            <a:avLst/>
          </a:prstGeom>
          <a:solidFill>
            <a:srgbClr val="7B2D5E">
              <a:alpha val="45000"/>
            </a:srgbClr>
          </a:solidFill>
          <a:ln/>
        </p:spPr>
      </p:sp>
      <p:sp>
        <p:nvSpPr>
          <p:cNvPr id="3" name="Shape 1"/>
          <p:cNvSpPr/>
          <p:nvPr/>
        </p:nvSpPr>
        <p:spPr>
          <a:xfrm>
            <a:off x="8961120" y="3840480"/>
            <a:ext cx="5486400" cy="5486400"/>
          </a:xfrm>
          <a:prstGeom prst="ellipse">
            <a:avLst/>
          </a:prstGeom>
          <a:solidFill>
            <a:srgbClr val="E85D4E">
              <a:alpha val="30000"/>
            </a:srgbClr>
          </a:solidFill>
          <a:ln/>
        </p:spPr>
      </p:sp>
      <p:sp>
        <p:nvSpPr>
          <p:cNvPr id="4" name="Shape 2"/>
          <p:cNvSpPr/>
          <p:nvPr/>
        </p:nvSpPr>
        <p:spPr>
          <a:xfrm>
            <a:off x="9692640" y="-1463040"/>
            <a:ext cx="2926080" cy="2926080"/>
          </a:xfrm>
          <a:prstGeom prst="ellipse">
            <a:avLst/>
          </a:prstGeom>
          <a:solidFill>
            <a:srgbClr val="F4B942">
              <a:alpha val="35000"/>
            </a:srgbClr>
          </a:solidFill>
          <a:ln/>
        </p:spPr>
      </p:sp>
      <p:sp>
        <p:nvSpPr>
          <p:cNvPr id="5" name="Text 3"/>
          <p:cNvSpPr/>
          <p:nvPr/>
        </p:nvSpPr>
        <p:spPr>
          <a:xfrm>
            <a:off x="822960" y="1417320"/>
            <a:ext cx="7315200" cy="365760"/>
          </a:xfrm>
          <a:prstGeom prst="rect">
            <a:avLst/>
          </a:prstGeom>
          <a:noFill/>
          <a:ln/>
        </p:spPr>
        <p:txBody>
          <a:bodyPr wrap="square" rtlCol="0" anchor="ctr"/>
          <a:lstStyle/>
          <a:p>
            <a:pPr indent="0" marL="0">
              <a:buNone/>
            </a:pPr>
            <a:r>
              <a:rPr lang="en-US" sz="1300" b="1" spc="300" kern="0" dirty="0">
                <a:solidFill>
                  <a:srgbClr val="F4B942"/>
                </a:solidFill>
                <a:latin typeface="Calibri" pitchFamily="34" charset="0"/>
                <a:ea typeface="Calibri" pitchFamily="34" charset="-122"/>
                <a:cs typeface="Calibri" pitchFamily="34" charset="-120"/>
              </a:rPr>
              <a:t>DATA ANALYTICS  •  BENGALURU  •  2026</a:t>
            </a:r>
            <a:endParaRPr lang="en-US" sz="1300" dirty="0"/>
          </a:p>
        </p:txBody>
      </p:sp>
      <p:sp>
        <p:nvSpPr>
          <p:cNvPr id="6" name="Text 4"/>
          <p:cNvSpPr/>
          <p:nvPr/>
        </p:nvSpPr>
        <p:spPr>
          <a:xfrm>
            <a:off x="777240" y="1874520"/>
            <a:ext cx="10241280" cy="1051560"/>
          </a:xfrm>
          <a:prstGeom prst="rect">
            <a:avLst/>
          </a:prstGeom>
          <a:noFill/>
          <a:ln/>
        </p:spPr>
        <p:txBody>
          <a:bodyPr wrap="square" rtlCol="0" anchor="ctr"/>
          <a:lstStyle/>
          <a:p>
            <a:pPr indent="0" marL="0">
              <a:buNone/>
            </a:pPr>
            <a:r>
              <a:rPr lang="en-US" sz="5400" b="1" dirty="0">
                <a:solidFill>
                  <a:srgbClr val="FFFFFF"/>
                </a:solidFill>
                <a:latin typeface="Bookman Old Style" pitchFamily="34" charset="0"/>
                <a:ea typeface="Bookman Old Style" pitchFamily="34" charset="-122"/>
                <a:cs typeface="Bookman Old Style" pitchFamily="34" charset="-120"/>
              </a:rPr>
              <a:t>Bengaluru PG Market</a:t>
            </a:r>
            <a:endParaRPr lang="en-US" sz="5400" dirty="0"/>
          </a:p>
        </p:txBody>
      </p:sp>
      <p:sp>
        <p:nvSpPr>
          <p:cNvPr id="7" name="Text 5"/>
          <p:cNvSpPr/>
          <p:nvPr/>
        </p:nvSpPr>
        <p:spPr>
          <a:xfrm>
            <a:off x="777240" y="2697480"/>
            <a:ext cx="10241280" cy="914400"/>
          </a:xfrm>
          <a:prstGeom prst="rect">
            <a:avLst/>
          </a:prstGeom>
          <a:noFill/>
          <a:ln/>
        </p:spPr>
        <p:txBody>
          <a:bodyPr wrap="square" rtlCol="0" anchor="ctr"/>
          <a:lstStyle/>
          <a:p>
            <a:pPr indent="0" marL="0">
              <a:buNone/>
            </a:pPr>
            <a:r>
              <a:rPr lang="en-US" sz="4400" b="1" dirty="0">
                <a:solidFill>
                  <a:srgbClr val="F3927F"/>
                </a:solidFill>
                <a:latin typeface="Bookman Old Style" pitchFamily="34" charset="0"/>
                <a:ea typeface="Bookman Old Style" pitchFamily="34" charset="-122"/>
                <a:cs typeface="Bookman Old Style" pitchFamily="34" charset="-120"/>
              </a:rPr>
              <a:t>Intelligence &amp; Analysis</a:t>
            </a:r>
            <a:endParaRPr lang="en-US" sz="4400" dirty="0"/>
          </a:p>
        </p:txBody>
      </p:sp>
      <p:sp>
        <p:nvSpPr>
          <p:cNvPr id="8" name="Text 6"/>
          <p:cNvSpPr/>
          <p:nvPr/>
        </p:nvSpPr>
        <p:spPr>
          <a:xfrm>
            <a:off x="822960" y="3794760"/>
            <a:ext cx="8595360" cy="548640"/>
          </a:xfrm>
          <a:prstGeom prst="rect">
            <a:avLst/>
          </a:prstGeom>
          <a:noFill/>
          <a:ln/>
        </p:spPr>
        <p:txBody>
          <a:bodyPr wrap="square" rtlCol="0" anchor="ctr"/>
          <a:lstStyle/>
          <a:p>
            <a:pPr indent="0" marL="0">
              <a:buNone/>
            </a:pPr>
            <a:r>
              <a:rPr lang="en-US" sz="1500" i="1" dirty="0">
                <a:solidFill>
                  <a:srgbClr val="E8D9DF"/>
                </a:solidFill>
                <a:latin typeface="Calibri" pitchFamily="34" charset="0"/>
                <a:ea typeface="Calibri" pitchFamily="34" charset="-122"/>
                <a:cs typeface="Calibri" pitchFamily="34" charset="-120"/>
              </a:rPr>
              <a:t>Decoding rent, ratings, amenities &amp; occupancy trends across 30,000+ paying-guest accommodations</a:t>
            </a:r>
            <a:endParaRPr lang="en-US" sz="1500" dirty="0"/>
          </a:p>
        </p:txBody>
      </p:sp>
      <p:sp>
        <p:nvSpPr>
          <p:cNvPr id="9" name="Shape 7"/>
          <p:cNvSpPr/>
          <p:nvPr/>
        </p:nvSpPr>
        <p:spPr>
          <a:xfrm>
            <a:off x="822960" y="4709160"/>
            <a:ext cx="7635240" cy="1234440"/>
          </a:xfrm>
          <a:prstGeom prst="roundRect">
            <a:avLst>
              <a:gd name="adj" fmla="val 7407"/>
            </a:avLst>
          </a:prstGeom>
          <a:solidFill>
            <a:srgbClr val="FFFFFF">
              <a:alpha val="8000"/>
            </a:srgbClr>
          </a:solidFill>
          <a:ln w="12700">
            <a:solidFill>
              <a:srgbClr val="F4B942"/>
            </a:solidFill>
            <a:prstDash val="solid"/>
          </a:ln>
        </p:spPr>
      </p:sp>
      <p:sp>
        <p:nvSpPr>
          <p:cNvPr id="10" name="Text 8"/>
          <p:cNvSpPr/>
          <p:nvPr/>
        </p:nvSpPr>
        <p:spPr>
          <a:xfrm>
            <a:off x="1051560" y="4892040"/>
            <a:ext cx="2286000" cy="292608"/>
          </a:xfrm>
          <a:prstGeom prst="rect">
            <a:avLst/>
          </a:prstGeom>
          <a:noFill/>
          <a:ln/>
        </p:spPr>
        <p:txBody>
          <a:bodyPr wrap="square" lIns="0" tIns="0" rIns="0" bIns="0" rtlCol="0" anchor="ctr"/>
          <a:lstStyle/>
          <a:p>
            <a:pPr indent="0" marL="0">
              <a:buNone/>
            </a:pPr>
            <a:r>
              <a:rPr lang="en-US" sz="950" b="1" spc="150" kern="0" dirty="0">
                <a:solidFill>
                  <a:srgbClr val="F4B942"/>
                </a:solidFill>
                <a:latin typeface="Calibri" pitchFamily="34" charset="0"/>
                <a:ea typeface="Calibri" pitchFamily="34" charset="-122"/>
                <a:cs typeface="Calibri" pitchFamily="34" charset="-120"/>
              </a:rPr>
              <a:t>NAME</a:t>
            </a:r>
            <a:endParaRPr lang="en-US" sz="950" dirty="0"/>
          </a:p>
        </p:txBody>
      </p:sp>
      <p:sp>
        <p:nvSpPr>
          <p:cNvPr id="11" name="Text 9"/>
          <p:cNvSpPr/>
          <p:nvPr/>
        </p:nvSpPr>
        <p:spPr>
          <a:xfrm>
            <a:off x="1051560" y="5193792"/>
            <a:ext cx="23317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[Your Name]</a:t>
            </a:r>
            <a:endParaRPr lang="en-US" sz="1400" dirty="0"/>
          </a:p>
        </p:txBody>
      </p:sp>
      <p:sp>
        <p:nvSpPr>
          <p:cNvPr id="12" name="Text 10"/>
          <p:cNvSpPr/>
          <p:nvPr/>
        </p:nvSpPr>
        <p:spPr>
          <a:xfrm>
            <a:off x="3566160" y="4892040"/>
            <a:ext cx="2286000" cy="292608"/>
          </a:xfrm>
          <a:prstGeom prst="rect">
            <a:avLst/>
          </a:prstGeom>
          <a:noFill/>
          <a:ln/>
        </p:spPr>
        <p:txBody>
          <a:bodyPr wrap="square" lIns="0" tIns="0" rIns="0" bIns="0" rtlCol="0" anchor="ctr"/>
          <a:lstStyle/>
          <a:p>
            <a:pPr indent="0" marL="0">
              <a:buNone/>
            </a:pPr>
            <a:r>
              <a:rPr lang="en-US" sz="950" b="1" spc="150" kern="0" dirty="0">
                <a:solidFill>
                  <a:srgbClr val="F4B942"/>
                </a:solidFill>
                <a:latin typeface="Calibri" pitchFamily="34" charset="0"/>
                <a:ea typeface="Calibri" pitchFamily="34" charset="-122"/>
                <a:cs typeface="Calibri" pitchFamily="34" charset="-120"/>
              </a:rPr>
              <a:t>REGISTRATION NUMBER</a:t>
            </a:r>
            <a:endParaRPr lang="en-US" sz="950" dirty="0"/>
          </a:p>
        </p:txBody>
      </p:sp>
      <p:sp>
        <p:nvSpPr>
          <p:cNvPr id="13" name="Text 11"/>
          <p:cNvSpPr/>
          <p:nvPr/>
        </p:nvSpPr>
        <p:spPr>
          <a:xfrm>
            <a:off x="3566160" y="5193792"/>
            <a:ext cx="23317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[Registration Number]</a:t>
            </a:r>
            <a:endParaRPr lang="en-US" sz="1400" dirty="0"/>
          </a:p>
        </p:txBody>
      </p:sp>
      <p:sp>
        <p:nvSpPr>
          <p:cNvPr id="14" name="Text 12"/>
          <p:cNvSpPr/>
          <p:nvPr/>
        </p:nvSpPr>
        <p:spPr>
          <a:xfrm>
            <a:off x="6080760" y="4892040"/>
            <a:ext cx="2286000" cy="292608"/>
          </a:xfrm>
          <a:prstGeom prst="rect">
            <a:avLst/>
          </a:prstGeom>
          <a:noFill/>
          <a:ln/>
        </p:spPr>
        <p:txBody>
          <a:bodyPr wrap="square" lIns="0" tIns="0" rIns="0" bIns="0" rtlCol="0" anchor="ctr"/>
          <a:lstStyle/>
          <a:p>
            <a:pPr indent="0" marL="0">
              <a:buNone/>
            </a:pPr>
            <a:r>
              <a:rPr lang="en-US" sz="950" b="1" spc="150" kern="0" dirty="0">
                <a:solidFill>
                  <a:srgbClr val="F4B942"/>
                </a:solidFill>
                <a:latin typeface="Calibri" pitchFamily="34" charset="0"/>
                <a:ea typeface="Calibri" pitchFamily="34" charset="-122"/>
                <a:cs typeface="Calibri" pitchFamily="34" charset="-120"/>
              </a:rPr>
              <a:t>BATCH</a:t>
            </a:r>
            <a:endParaRPr lang="en-US" sz="950" dirty="0"/>
          </a:p>
        </p:txBody>
      </p:sp>
      <p:sp>
        <p:nvSpPr>
          <p:cNvPr id="15" name="Text 13"/>
          <p:cNvSpPr/>
          <p:nvPr/>
        </p:nvSpPr>
        <p:spPr>
          <a:xfrm>
            <a:off x="6080760" y="5193792"/>
            <a:ext cx="23317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[Batch Name]</a:t>
            </a:r>
            <a:endParaRPr lang="en-US" sz="1400" dirty="0"/>
          </a:p>
        </p:txBody>
      </p:sp>
      <p:sp>
        <p:nvSpPr>
          <p:cNvPr id="16" name="Text 14"/>
          <p:cNvSpPr/>
          <p:nvPr/>
        </p:nvSpPr>
        <p:spPr>
          <a:xfrm>
            <a:off x="822960" y="6172200"/>
            <a:ext cx="8229600" cy="320040"/>
          </a:xfrm>
          <a:prstGeom prst="rect">
            <a:avLst/>
          </a:prstGeom>
          <a:noFill/>
          <a:ln/>
        </p:spPr>
        <p:txBody>
          <a:bodyPr wrap="square" rtlCol="0" anchor="ctr"/>
          <a:lstStyle/>
          <a:p>
            <a:pPr indent="0" marL="0">
              <a:buNone/>
            </a:pPr>
            <a:r>
              <a:rPr lang="en-US" sz="1050" dirty="0">
                <a:solidFill>
                  <a:srgbClr val="9C8B93"/>
                </a:solidFill>
                <a:latin typeface="Calibri" pitchFamily="34" charset="0"/>
                <a:ea typeface="Calibri" pitchFamily="34" charset="-122"/>
                <a:cs typeface="Calibri" pitchFamily="34" charset="-120"/>
              </a:rPr>
              <a:t>Prepared for Data Analytics &amp; Visualization  |  Capstone Project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9F5"/>
        </a:solidFill>
      </p:bgPr>
    </p:bg>
    <p:spTree>
      <p:nvGrpSpPr>
        <p:cNvPr id="1" name=""/>
        <p:cNvGrpSpPr/>
        <p:nvPr/>
      </p:nvGrpSpPr>
      <p:grpSpPr>
        <a:xfrm>
          <a:off x="0" y="0"/>
          <a:ext cx="0" cy="0"/>
          <a:chOff x="0" y="0"/>
          <a:chExt cx="0" cy="0"/>
        </a:xfrm>
      </p:grpSpPr>
      <p:sp>
        <p:nvSpPr>
          <p:cNvPr id="2" name="Shape 0"/>
          <p:cNvSpPr/>
          <p:nvPr/>
        </p:nvSpPr>
        <p:spPr>
          <a:xfrm>
            <a:off x="10607040" y="-1188720"/>
            <a:ext cx="3108960" cy="3108960"/>
          </a:xfrm>
          <a:prstGeom prst="ellipse">
            <a:avLst/>
          </a:prstGeom>
          <a:solidFill>
            <a:srgbClr val="F4B942">
              <a:alpha val="18000"/>
            </a:srgbClr>
          </a:solidFill>
          <a:ln/>
        </p:spPr>
      </p:sp>
      <p:sp>
        <p:nvSpPr>
          <p:cNvPr id="3" name="Text 1"/>
          <p:cNvSpPr/>
          <p:nvPr/>
        </p:nvSpPr>
        <p:spPr>
          <a:xfrm>
            <a:off x="777240" y="502920"/>
            <a:ext cx="5486400" cy="365760"/>
          </a:xfrm>
          <a:prstGeom prst="rect">
            <a:avLst/>
          </a:prstGeom>
          <a:noFill/>
          <a:ln/>
        </p:spPr>
        <p:txBody>
          <a:bodyPr wrap="square" rtlCol="0" anchor="ctr"/>
          <a:lstStyle/>
          <a:p>
            <a:pPr indent="0" marL="0">
              <a:buNone/>
            </a:pPr>
            <a:r>
              <a:rPr lang="en-US" sz="1300" b="1" spc="300" kern="0" dirty="0">
                <a:solidFill>
                  <a:srgbClr val="7B2D5E"/>
                </a:solidFill>
                <a:latin typeface="Calibri" pitchFamily="34" charset="0"/>
                <a:ea typeface="Calibri" pitchFamily="34" charset="-122"/>
                <a:cs typeface="Calibri" pitchFamily="34" charset="-120"/>
              </a:rPr>
              <a:t>ABSTRACT</a:t>
            </a:r>
            <a:endParaRPr lang="en-US" sz="1300" dirty="0"/>
          </a:p>
        </p:txBody>
      </p:sp>
      <p:sp>
        <p:nvSpPr>
          <p:cNvPr id="4" name="Text 2"/>
          <p:cNvSpPr/>
          <p:nvPr/>
        </p:nvSpPr>
        <p:spPr>
          <a:xfrm>
            <a:off x="777240" y="822960"/>
            <a:ext cx="9144000" cy="822960"/>
          </a:xfrm>
          <a:prstGeom prst="rect">
            <a:avLst/>
          </a:prstGeom>
          <a:noFill/>
          <a:ln/>
        </p:spPr>
        <p:txBody>
          <a:bodyPr wrap="square" rtlCol="0" anchor="ctr"/>
          <a:lstStyle/>
          <a:p>
            <a:pPr indent="0" marL="0">
              <a:buNone/>
            </a:pPr>
            <a:r>
              <a:rPr lang="en-US" sz="3600" b="1" dirty="0">
                <a:solidFill>
                  <a:srgbClr val="2B1B24"/>
                </a:solidFill>
                <a:latin typeface="Bookman Old Style" pitchFamily="34" charset="0"/>
                <a:ea typeface="Bookman Old Style" pitchFamily="34" charset="-122"/>
                <a:cs typeface="Bookman Old Style" pitchFamily="34" charset="-120"/>
              </a:rPr>
              <a:t>Project Summary</a:t>
            </a:r>
            <a:endParaRPr lang="en-US" sz="3600" dirty="0"/>
          </a:p>
        </p:txBody>
      </p:sp>
      <p:sp>
        <p:nvSpPr>
          <p:cNvPr id="5" name="Shape 3"/>
          <p:cNvSpPr/>
          <p:nvPr/>
        </p:nvSpPr>
        <p:spPr>
          <a:xfrm>
            <a:off x="777240" y="1828800"/>
            <a:ext cx="6492240" cy="3520440"/>
          </a:xfrm>
          <a:prstGeom prst="roundRect">
            <a:avLst>
              <a:gd name="adj" fmla="val 3117"/>
            </a:avLst>
          </a:prstGeom>
          <a:solidFill>
            <a:srgbClr val="FFFFFF"/>
          </a:solidFill>
          <a:ln/>
          <a:effectLst>
            <a:outerShdw sx="100000" sy="100000" kx="0" ky="0" algn="bl" rotWithShape="0" blurRad="152400" dist="50800" dir="5400000">
              <a:srgbClr val="3D1730">
                <a:alpha val="12000"/>
              </a:srgbClr>
            </a:outerShdw>
          </a:effectLst>
        </p:spPr>
      </p:sp>
      <p:sp>
        <p:nvSpPr>
          <p:cNvPr id="6" name="Text 4"/>
          <p:cNvSpPr/>
          <p:nvPr/>
        </p:nvSpPr>
        <p:spPr>
          <a:xfrm>
            <a:off x="1097280" y="2084832"/>
            <a:ext cx="5852160" cy="3063240"/>
          </a:xfrm>
          <a:prstGeom prst="rect">
            <a:avLst/>
          </a:prstGeom>
          <a:noFill/>
          <a:ln/>
        </p:spPr>
        <p:txBody>
          <a:bodyPr wrap="square" rtlCol="0" anchor="t"/>
          <a:lstStyle/>
          <a:p>
            <a:pPr indent="0" marL="0">
              <a:lnSpc>
                <a:spcPct val="122000"/>
              </a:lnSpc>
              <a:spcAft>
                <a:spcPts val="900"/>
              </a:spcAft>
              <a:buNone/>
            </a:pPr>
            <a:r>
              <a:rPr lang="en-US" sz="1550" b="1" dirty="0">
                <a:solidFill>
                  <a:srgbClr val="7B2D5E"/>
                </a:solidFill>
                <a:latin typeface="Calibri" pitchFamily="34" charset="0"/>
                <a:ea typeface="Calibri" pitchFamily="34" charset="-122"/>
                <a:cs typeface="Calibri" pitchFamily="34" charset="-120"/>
              </a:rPr>
              <a:t>Bengaluru PG Market Intelligence &amp; Analysis</a:t>
            </a:r>
            <a:endParaRPr lang="en-US" sz="1550" dirty="0"/>
          </a:p>
          <a:p>
            <a:pPr indent="0" marL="0">
              <a:lnSpc>
                <a:spcPct val="122000"/>
              </a:lnSpc>
              <a:buNone/>
            </a:pPr>
            <a:r>
              <a:rPr lang="en-US" sz="1250" dirty="0">
                <a:solidFill>
                  <a:srgbClr val="6B5B63"/>
                </a:solidFill>
                <a:latin typeface="Calibri" pitchFamily="34" charset="0"/>
                <a:ea typeface="Calibri" pitchFamily="34" charset="-122"/>
                <a:cs typeface="Calibri" pitchFamily="34" charset="-120"/>
              </a:rPr>
              <a:t>is a data-analytics capstone built on a synthetic dataset of </a:t>
            </a:r>
            <a:pPr indent="0" marL="0">
              <a:lnSpc>
                <a:spcPct val="122000"/>
              </a:lnSpc>
              <a:buNone/>
            </a:pPr>
            <a:r>
              <a:rPr lang="en-US" sz="1250" b="1" dirty="0">
                <a:solidFill>
                  <a:srgbClr val="E85D4E"/>
                </a:solidFill>
                <a:latin typeface="Calibri" pitchFamily="34" charset="0"/>
                <a:ea typeface="Calibri" pitchFamily="34" charset="-122"/>
                <a:cs typeface="Calibri" pitchFamily="34" charset="-120"/>
              </a:rPr>
              <a:t>30,600 PG records </a:t>
            </a:r>
            <a:pPr indent="0" marL="0">
              <a:lnSpc>
                <a:spcPct val="122000"/>
              </a:lnSpc>
              <a:spcAft>
                <a:spcPts val="1000"/>
              </a:spcAft>
              <a:buNone/>
            </a:pPr>
            <a:r>
              <a:rPr lang="en-US" sz="1250" dirty="0">
                <a:solidFill>
                  <a:srgbClr val="6B5B63"/>
                </a:solidFill>
                <a:latin typeface="Calibri" pitchFamily="34" charset="0"/>
                <a:ea typeface="Calibri" pitchFamily="34" charset="-122"/>
                <a:cs typeface="Calibri" pitchFamily="34" charset="-120"/>
              </a:rPr>
              <a:t>spanning Bengaluru city.</a:t>
            </a:r>
            <a:endParaRPr lang="en-US" sz="1550" dirty="0"/>
          </a:p>
          <a:p>
            <a:pPr indent="0" marL="0">
              <a:lnSpc>
                <a:spcPct val="122000"/>
              </a:lnSpc>
              <a:buNone/>
            </a:pPr>
            <a:r>
              <a:rPr lang="en-US" sz="1250" dirty="0">
                <a:solidFill>
                  <a:srgbClr val="2B1B24"/>
                </a:solidFill>
                <a:latin typeface="Calibri" pitchFamily="34" charset="0"/>
                <a:ea typeface="Calibri" pitchFamily="34" charset="-122"/>
                <a:cs typeface="Calibri" pitchFamily="34" charset="-120"/>
              </a:rPr>
              <a:t>The project analyzes rent, amenities, occupancy, ratings and location trends — combining rigorous data cleaning, preprocessing and exploratory data analysis (EDA) in Python to surface actionable market intelligence for tenants, PG owners and investors.</a:t>
            </a:r>
            <a:endParaRPr lang="en-US" sz="1550" dirty="0"/>
          </a:p>
        </p:txBody>
      </p:sp>
      <p:sp>
        <p:nvSpPr>
          <p:cNvPr id="7" name="Shape 5"/>
          <p:cNvSpPr/>
          <p:nvPr/>
        </p:nvSpPr>
        <p:spPr>
          <a:xfrm>
            <a:off x="7543800" y="1828800"/>
            <a:ext cx="3886200" cy="1033272"/>
          </a:xfrm>
          <a:prstGeom prst="roundRect">
            <a:avLst>
              <a:gd name="adj" fmla="val 8850"/>
            </a:avLst>
          </a:prstGeom>
          <a:solidFill>
            <a:srgbClr val="3D1730"/>
          </a:solidFill>
          <a:ln/>
        </p:spPr>
      </p:sp>
      <p:sp>
        <p:nvSpPr>
          <p:cNvPr id="8" name="Shape 6"/>
          <p:cNvSpPr/>
          <p:nvPr/>
        </p:nvSpPr>
        <p:spPr>
          <a:xfrm>
            <a:off x="7744968" y="1993392"/>
            <a:ext cx="685800" cy="685800"/>
          </a:xfrm>
          <a:prstGeom prst="ellipse">
            <a:avLst/>
          </a:prstGeom>
          <a:solidFill>
            <a:srgbClr val="E85D4E"/>
          </a:solidFill>
          <a:ln/>
        </p:spPr>
      </p:sp>
      <p:pic>
        <p:nvPicPr>
          <p:cNvPr id="9" name="Image 0" descr="/home/claude/icons/database.png">    </p:cNvPr>
          <p:cNvPicPr>
            <a:picLocks noChangeAspect="1"/>
          </p:cNvPicPr>
          <p:nvPr/>
        </p:nvPicPr>
        <p:blipFill>
          <a:blip r:embed="rId1"/>
          <a:stretch>
            <a:fillRect/>
          </a:stretch>
        </p:blipFill>
        <p:spPr>
          <a:xfrm>
            <a:off x="7930134" y="2178558"/>
            <a:ext cx="315468" cy="315468"/>
          </a:xfrm>
          <a:prstGeom prst="rect">
            <a:avLst/>
          </a:prstGeom>
        </p:spPr>
      </p:pic>
      <p:sp>
        <p:nvSpPr>
          <p:cNvPr id="10" name="Text 7"/>
          <p:cNvSpPr/>
          <p:nvPr/>
        </p:nvSpPr>
        <p:spPr>
          <a:xfrm>
            <a:off x="8613648" y="1956816"/>
            <a:ext cx="2697480" cy="365760"/>
          </a:xfrm>
          <a:prstGeom prst="rect">
            <a:avLst/>
          </a:prstGeom>
          <a:noFill/>
          <a:ln/>
        </p:spPr>
        <p:txBody>
          <a:bodyPr wrap="square" lIns="0" tIns="0" rIns="0" bIns="0" rtlCol="0" anchor="ctr"/>
          <a:lstStyle/>
          <a:p>
            <a:pPr indent="0" marL="0">
              <a:buNone/>
            </a:pPr>
            <a:r>
              <a:rPr lang="en-US" sz="1200" b="1" dirty="0">
                <a:solidFill>
                  <a:srgbClr val="F4B942"/>
                </a:solidFill>
                <a:latin typeface="Calibri" pitchFamily="34" charset="0"/>
                <a:ea typeface="Calibri" pitchFamily="34" charset="-122"/>
                <a:cs typeface="Calibri" pitchFamily="34" charset="-120"/>
              </a:rPr>
              <a:t>Dataset Size</a:t>
            </a:r>
            <a:endParaRPr lang="en-US" sz="1200" dirty="0"/>
          </a:p>
        </p:txBody>
      </p:sp>
      <p:sp>
        <p:nvSpPr>
          <p:cNvPr id="11" name="Text 8"/>
          <p:cNvSpPr/>
          <p:nvPr/>
        </p:nvSpPr>
        <p:spPr>
          <a:xfrm>
            <a:off x="8613648" y="2286000"/>
            <a:ext cx="2743200" cy="502920"/>
          </a:xfrm>
          <a:prstGeom prst="rect">
            <a:avLst/>
          </a:prstGeom>
          <a:noFill/>
          <a:ln/>
        </p:spPr>
        <p:txBody>
          <a:bodyPr wrap="square" lIns="0" tIns="0" rIns="0" bIns="0" rtlCol="0" anchor="ctr"/>
          <a:lstStyle/>
          <a:p>
            <a:pPr indent="0" marL="0">
              <a:buNone/>
            </a:pPr>
            <a:r>
              <a:rPr lang="en-US" sz="1030" dirty="0">
                <a:solidFill>
                  <a:srgbClr val="E8D9DF"/>
                </a:solidFill>
                <a:latin typeface="Calibri" pitchFamily="34" charset="0"/>
                <a:ea typeface="Calibri" pitchFamily="34" charset="-122"/>
                <a:cs typeface="Calibri" pitchFamily="34" charset="-120"/>
              </a:rPr>
              <a:t>30,600 rows × 44 columns</a:t>
            </a:r>
            <a:endParaRPr lang="en-US" sz="1030" dirty="0"/>
          </a:p>
        </p:txBody>
      </p:sp>
      <p:sp>
        <p:nvSpPr>
          <p:cNvPr id="12" name="Shape 9"/>
          <p:cNvSpPr/>
          <p:nvPr/>
        </p:nvSpPr>
        <p:spPr>
          <a:xfrm>
            <a:off x="7543800" y="2999232"/>
            <a:ext cx="3886200" cy="1033272"/>
          </a:xfrm>
          <a:prstGeom prst="roundRect">
            <a:avLst>
              <a:gd name="adj" fmla="val 8850"/>
            </a:avLst>
          </a:prstGeom>
          <a:solidFill>
            <a:srgbClr val="3D1730"/>
          </a:solidFill>
          <a:ln/>
        </p:spPr>
      </p:sp>
      <p:sp>
        <p:nvSpPr>
          <p:cNvPr id="13" name="Shape 10"/>
          <p:cNvSpPr/>
          <p:nvPr/>
        </p:nvSpPr>
        <p:spPr>
          <a:xfrm>
            <a:off x="7744968" y="3163824"/>
            <a:ext cx="685800" cy="685800"/>
          </a:xfrm>
          <a:prstGeom prst="ellipse">
            <a:avLst/>
          </a:prstGeom>
          <a:solidFill>
            <a:srgbClr val="E85D4E"/>
          </a:solidFill>
          <a:ln/>
        </p:spPr>
      </p:sp>
      <p:pic>
        <p:nvPicPr>
          <p:cNvPr id="14" name="Image 1" descr="/home/claude/icons/barchart.png">    </p:cNvPr>
          <p:cNvPicPr>
            <a:picLocks noChangeAspect="1"/>
          </p:cNvPicPr>
          <p:nvPr/>
        </p:nvPicPr>
        <p:blipFill>
          <a:blip r:embed="rId2"/>
          <a:stretch>
            <a:fillRect/>
          </a:stretch>
        </p:blipFill>
        <p:spPr>
          <a:xfrm>
            <a:off x="7930134" y="3348990"/>
            <a:ext cx="315468" cy="315468"/>
          </a:xfrm>
          <a:prstGeom prst="rect">
            <a:avLst/>
          </a:prstGeom>
        </p:spPr>
      </p:pic>
      <p:sp>
        <p:nvSpPr>
          <p:cNvPr id="15" name="Text 11"/>
          <p:cNvSpPr/>
          <p:nvPr/>
        </p:nvSpPr>
        <p:spPr>
          <a:xfrm>
            <a:off x="8613648" y="3127248"/>
            <a:ext cx="2697480" cy="365760"/>
          </a:xfrm>
          <a:prstGeom prst="rect">
            <a:avLst/>
          </a:prstGeom>
          <a:noFill/>
          <a:ln/>
        </p:spPr>
        <p:txBody>
          <a:bodyPr wrap="square" lIns="0" tIns="0" rIns="0" bIns="0" rtlCol="0" anchor="ctr"/>
          <a:lstStyle/>
          <a:p>
            <a:pPr indent="0" marL="0">
              <a:buNone/>
            </a:pPr>
            <a:r>
              <a:rPr lang="en-US" sz="1200" b="1" dirty="0">
                <a:solidFill>
                  <a:srgbClr val="F4B942"/>
                </a:solidFill>
                <a:latin typeface="Calibri" pitchFamily="34" charset="0"/>
                <a:ea typeface="Calibri" pitchFamily="34" charset="-122"/>
                <a:cs typeface="Calibri" pitchFamily="34" charset="-120"/>
              </a:rPr>
              <a:t>Analysis Scope</a:t>
            </a:r>
            <a:endParaRPr lang="en-US" sz="1200" dirty="0"/>
          </a:p>
        </p:txBody>
      </p:sp>
      <p:sp>
        <p:nvSpPr>
          <p:cNvPr id="16" name="Text 12"/>
          <p:cNvSpPr/>
          <p:nvPr/>
        </p:nvSpPr>
        <p:spPr>
          <a:xfrm>
            <a:off x="8613648" y="3456432"/>
            <a:ext cx="2743200" cy="502920"/>
          </a:xfrm>
          <a:prstGeom prst="rect">
            <a:avLst/>
          </a:prstGeom>
          <a:noFill/>
          <a:ln/>
        </p:spPr>
        <p:txBody>
          <a:bodyPr wrap="square" lIns="0" tIns="0" rIns="0" bIns="0" rtlCol="0" anchor="ctr"/>
          <a:lstStyle/>
          <a:p>
            <a:pPr indent="0" marL="0">
              <a:buNone/>
            </a:pPr>
            <a:r>
              <a:rPr lang="en-US" sz="1030" dirty="0">
                <a:solidFill>
                  <a:srgbClr val="E8D9DF"/>
                </a:solidFill>
                <a:latin typeface="Calibri" pitchFamily="34" charset="0"/>
                <a:ea typeface="Calibri" pitchFamily="34" charset="-122"/>
                <a:cs typeface="Calibri" pitchFamily="34" charset="-120"/>
              </a:rPr>
              <a:t>15 research questions</a:t>
            </a:r>
            <a:endParaRPr lang="en-US" sz="1030" dirty="0"/>
          </a:p>
        </p:txBody>
      </p:sp>
      <p:sp>
        <p:nvSpPr>
          <p:cNvPr id="17" name="Shape 13"/>
          <p:cNvSpPr/>
          <p:nvPr/>
        </p:nvSpPr>
        <p:spPr>
          <a:xfrm>
            <a:off x="7543800" y="4169664"/>
            <a:ext cx="3886200" cy="1033272"/>
          </a:xfrm>
          <a:prstGeom prst="roundRect">
            <a:avLst>
              <a:gd name="adj" fmla="val 8850"/>
            </a:avLst>
          </a:prstGeom>
          <a:solidFill>
            <a:srgbClr val="3D1730"/>
          </a:solidFill>
          <a:ln/>
        </p:spPr>
      </p:sp>
      <p:sp>
        <p:nvSpPr>
          <p:cNvPr id="18" name="Shape 14"/>
          <p:cNvSpPr/>
          <p:nvPr/>
        </p:nvSpPr>
        <p:spPr>
          <a:xfrm>
            <a:off x="7744968" y="4334256"/>
            <a:ext cx="685800" cy="685800"/>
          </a:xfrm>
          <a:prstGeom prst="ellipse">
            <a:avLst/>
          </a:prstGeom>
          <a:solidFill>
            <a:srgbClr val="E85D4E"/>
          </a:solidFill>
          <a:ln/>
        </p:spPr>
      </p:sp>
      <p:pic>
        <p:nvPicPr>
          <p:cNvPr id="19" name="Image 2" descr="/home/claude/icons/chart.png">    </p:cNvPr>
          <p:cNvPicPr>
            <a:picLocks noChangeAspect="1"/>
          </p:cNvPicPr>
          <p:nvPr/>
        </p:nvPicPr>
        <p:blipFill>
          <a:blip r:embed="rId3"/>
          <a:stretch>
            <a:fillRect/>
          </a:stretch>
        </p:blipFill>
        <p:spPr>
          <a:xfrm>
            <a:off x="7930134" y="4519422"/>
            <a:ext cx="315468" cy="315468"/>
          </a:xfrm>
          <a:prstGeom prst="rect">
            <a:avLst/>
          </a:prstGeom>
        </p:spPr>
      </p:pic>
      <p:sp>
        <p:nvSpPr>
          <p:cNvPr id="20" name="Text 15"/>
          <p:cNvSpPr/>
          <p:nvPr/>
        </p:nvSpPr>
        <p:spPr>
          <a:xfrm>
            <a:off x="8613648" y="4297680"/>
            <a:ext cx="2697480" cy="365760"/>
          </a:xfrm>
          <a:prstGeom prst="rect">
            <a:avLst/>
          </a:prstGeom>
          <a:noFill/>
          <a:ln/>
        </p:spPr>
        <p:txBody>
          <a:bodyPr wrap="square" lIns="0" tIns="0" rIns="0" bIns="0" rtlCol="0" anchor="ctr"/>
          <a:lstStyle/>
          <a:p>
            <a:pPr indent="0" marL="0">
              <a:buNone/>
            </a:pPr>
            <a:r>
              <a:rPr lang="en-US" sz="1200" b="1" dirty="0">
                <a:solidFill>
                  <a:srgbClr val="F4B942"/>
                </a:solidFill>
                <a:latin typeface="Calibri" pitchFamily="34" charset="0"/>
                <a:ea typeface="Calibri" pitchFamily="34" charset="-122"/>
                <a:cs typeface="Calibri" pitchFamily="34" charset="-120"/>
              </a:rPr>
              <a:t>Toolkit</a:t>
            </a:r>
            <a:endParaRPr lang="en-US" sz="1200" dirty="0"/>
          </a:p>
        </p:txBody>
      </p:sp>
      <p:sp>
        <p:nvSpPr>
          <p:cNvPr id="21" name="Text 16"/>
          <p:cNvSpPr/>
          <p:nvPr/>
        </p:nvSpPr>
        <p:spPr>
          <a:xfrm>
            <a:off x="8613648" y="4626864"/>
            <a:ext cx="2743200" cy="502920"/>
          </a:xfrm>
          <a:prstGeom prst="rect">
            <a:avLst/>
          </a:prstGeom>
          <a:noFill/>
          <a:ln/>
        </p:spPr>
        <p:txBody>
          <a:bodyPr wrap="square" lIns="0" tIns="0" rIns="0" bIns="0" rtlCol="0" anchor="ctr"/>
          <a:lstStyle/>
          <a:p>
            <a:pPr indent="0" marL="0">
              <a:buNone/>
            </a:pPr>
            <a:r>
              <a:rPr lang="en-US" sz="1030" dirty="0">
                <a:solidFill>
                  <a:srgbClr val="E8D9DF"/>
                </a:solidFill>
                <a:latin typeface="Calibri" pitchFamily="34" charset="0"/>
                <a:ea typeface="Calibri" pitchFamily="34" charset="-122"/>
                <a:cs typeface="Calibri" pitchFamily="34" charset="-120"/>
              </a:rPr>
              <a:t>Python, Pandas, Seaborn</a:t>
            </a:r>
            <a:endParaRPr lang="en-US" sz="1030" dirty="0"/>
          </a:p>
        </p:txBody>
      </p:sp>
      <p:sp>
        <p:nvSpPr>
          <p:cNvPr id="22" name="Shape 17"/>
          <p:cNvSpPr/>
          <p:nvPr/>
        </p:nvSpPr>
        <p:spPr>
          <a:xfrm>
            <a:off x="777240" y="5532120"/>
            <a:ext cx="3447288" cy="868680"/>
          </a:xfrm>
          <a:prstGeom prst="roundRect">
            <a:avLst>
              <a:gd name="adj" fmla="val 10526"/>
            </a:avLst>
          </a:prstGeom>
          <a:solidFill>
            <a:srgbClr val="3D1730"/>
          </a:solidFill>
          <a:ln/>
        </p:spPr>
      </p:sp>
      <p:sp>
        <p:nvSpPr>
          <p:cNvPr id="23" name="Text 18"/>
          <p:cNvSpPr/>
          <p:nvPr/>
        </p:nvSpPr>
        <p:spPr>
          <a:xfrm>
            <a:off x="1005840" y="5532120"/>
            <a:ext cx="1463040" cy="868680"/>
          </a:xfrm>
          <a:prstGeom prst="rect">
            <a:avLst/>
          </a:prstGeom>
          <a:noFill/>
          <a:ln/>
        </p:spPr>
        <p:txBody>
          <a:bodyPr wrap="square" lIns="0" tIns="0" rIns="0" bIns="0" rtlCol="0" anchor="ctr"/>
          <a:lstStyle/>
          <a:p>
            <a:pPr indent="0" marL="0">
              <a:buNone/>
            </a:pPr>
            <a:r>
              <a:rPr lang="en-US" sz="2200" b="1" dirty="0">
                <a:solidFill>
                  <a:srgbClr val="F4B942"/>
                </a:solidFill>
                <a:latin typeface="Bookman Old Style" pitchFamily="34" charset="0"/>
                <a:ea typeface="Bookman Old Style" pitchFamily="34" charset="-122"/>
                <a:cs typeface="Bookman Old Style" pitchFamily="34" charset="-120"/>
              </a:rPr>
              <a:t>30,156</a:t>
            </a:r>
            <a:endParaRPr lang="en-US" sz="2200" dirty="0"/>
          </a:p>
        </p:txBody>
      </p:sp>
      <p:sp>
        <p:nvSpPr>
          <p:cNvPr id="24" name="Text 19"/>
          <p:cNvSpPr/>
          <p:nvPr/>
        </p:nvSpPr>
        <p:spPr>
          <a:xfrm>
            <a:off x="2377440" y="5532120"/>
            <a:ext cx="1691640" cy="868680"/>
          </a:xfrm>
          <a:prstGeom prst="rect">
            <a:avLst/>
          </a:prstGeom>
          <a:noFill/>
          <a:ln/>
        </p:spPr>
        <p:txBody>
          <a:bodyPr wrap="square" lIns="0" tIns="0" rIns="0" bIns="0" rtlCol="0" anchor="ctr"/>
          <a:lstStyle/>
          <a:p>
            <a:pPr indent="0" marL="0">
              <a:buNone/>
            </a:pPr>
            <a:r>
              <a:rPr lang="en-US" sz="1100" dirty="0">
                <a:solidFill>
                  <a:srgbClr val="E8D9DF"/>
                </a:solidFill>
                <a:latin typeface="Calibri" pitchFamily="34" charset="0"/>
                <a:ea typeface="Calibri" pitchFamily="34" charset="-122"/>
                <a:cs typeface="Calibri" pitchFamily="34" charset="-120"/>
              </a:rPr>
              <a:t>PG Records</a:t>
            </a:r>
            <a:endParaRPr lang="en-US" sz="1100" dirty="0"/>
          </a:p>
        </p:txBody>
      </p:sp>
      <p:sp>
        <p:nvSpPr>
          <p:cNvPr id="25" name="Shape 20"/>
          <p:cNvSpPr/>
          <p:nvPr/>
        </p:nvSpPr>
        <p:spPr>
          <a:xfrm>
            <a:off x="4379976" y="5532120"/>
            <a:ext cx="3447288" cy="868680"/>
          </a:xfrm>
          <a:prstGeom prst="roundRect">
            <a:avLst>
              <a:gd name="adj" fmla="val 10526"/>
            </a:avLst>
          </a:prstGeom>
          <a:solidFill>
            <a:srgbClr val="3D1730"/>
          </a:solidFill>
          <a:ln/>
        </p:spPr>
      </p:sp>
      <p:sp>
        <p:nvSpPr>
          <p:cNvPr id="26" name="Text 21"/>
          <p:cNvSpPr/>
          <p:nvPr/>
        </p:nvSpPr>
        <p:spPr>
          <a:xfrm>
            <a:off x="4608576" y="5532120"/>
            <a:ext cx="1463040" cy="868680"/>
          </a:xfrm>
          <a:prstGeom prst="rect">
            <a:avLst/>
          </a:prstGeom>
          <a:noFill/>
          <a:ln/>
        </p:spPr>
        <p:txBody>
          <a:bodyPr wrap="square" lIns="0" tIns="0" rIns="0" bIns="0" rtlCol="0" anchor="ctr"/>
          <a:lstStyle/>
          <a:p>
            <a:pPr indent="0" marL="0">
              <a:buNone/>
            </a:pPr>
            <a:r>
              <a:rPr lang="en-US" sz="2200" b="1" dirty="0">
                <a:solidFill>
                  <a:srgbClr val="F4B942"/>
                </a:solidFill>
                <a:latin typeface="Bookman Old Style" pitchFamily="34" charset="0"/>
                <a:ea typeface="Bookman Old Style" pitchFamily="34" charset="-122"/>
                <a:cs typeface="Bookman Old Style" pitchFamily="34" charset="-120"/>
              </a:rPr>
              <a:t>116</a:t>
            </a:r>
            <a:endParaRPr lang="en-US" sz="2200" dirty="0"/>
          </a:p>
        </p:txBody>
      </p:sp>
      <p:sp>
        <p:nvSpPr>
          <p:cNvPr id="27" name="Text 22"/>
          <p:cNvSpPr/>
          <p:nvPr/>
        </p:nvSpPr>
        <p:spPr>
          <a:xfrm>
            <a:off x="5980176" y="5532120"/>
            <a:ext cx="1691640" cy="868680"/>
          </a:xfrm>
          <a:prstGeom prst="rect">
            <a:avLst/>
          </a:prstGeom>
          <a:noFill/>
          <a:ln/>
        </p:spPr>
        <p:txBody>
          <a:bodyPr wrap="square" lIns="0" tIns="0" rIns="0" bIns="0" rtlCol="0" anchor="ctr"/>
          <a:lstStyle/>
          <a:p>
            <a:pPr indent="0" marL="0">
              <a:buNone/>
            </a:pPr>
            <a:r>
              <a:rPr lang="en-US" sz="1100" dirty="0">
                <a:solidFill>
                  <a:srgbClr val="E8D9DF"/>
                </a:solidFill>
                <a:latin typeface="Calibri" pitchFamily="34" charset="0"/>
                <a:ea typeface="Calibri" pitchFamily="34" charset="-122"/>
                <a:cs typeface="Calibri" pitchFamily="34" charset="-120"/>
              </a:rPr>
              <a:t>Localities</a:t>
            </a:r>
            <a:endParaRPr lang="en-US" sz="1100" dirty="0"/>
          </a:p>
        </p:txBody>
      </p:sp>
      <p:sp>
        <p:nvSpPr>
          <p:cNvPr id="28" name="Shape 23"/>
          <p:cNvSpPr/>
          <p:nvPr/>
        </p:nvSpPr>
        <p:spPr>
          <a:xfrm>
            <a:off x="7982712" y="5532120"/>
            <a:ext cx="3447288" cy="868680"/>
          </a:xfrm>
          <a:prstGeom prst="roundRect">
            <a:avLst>
              <a:gd name="adj" fmla="val 10526"/>
            </a:avLst>
          </a:prstGeom>
          <a:solidFill>
            <a:srgbClr val="3D1730"/>
          </a:solidFill>
          <a:ln/>
        </p:spPr>
      </p:sp>
      <p:sp>
        <p:nvSpPr>
          <p:cNvPr id="29" name="Text 24"/>
          <p:cNvSpPr/>
          <p:nvPr/>
        </p:nvSpPr>
        <p:spPr>
          <a:xfrm>
            <a:off x="8211312" y="5532120"/>
            <a:ext cx="1463040" cy="868680"/>
          </a:xfrm>
          <a:prstGeom prst="rect">
            <a:avLst/>
          </a:prstGeom>
          <a:noFill/>
          <a:ln/>
        </p:spPr>
        <p:txBody>
          <a:bodyPr wrap="square" lIns="0" tIns="0" rIns="0" bIns="0" rtlCol="0" anchor="ctr"/>
          <a:lstStyle/>
          <a:p>
            <a:pPr indent="0" marL="0">
              <a:buNone/>
            </a:pPr>
            <a:r>
              <a:rPr lang="en-US" sz="2200" b="1" dirty="0">
                <a:solidFill>
                  <a:srgbClr val="F4B942"/>
                </a:solidFill>
                <a:latin typeface="Bookman Old Style" pitchFamily="34" charset="0"/>
                <a:ea typeface="Bookman Old Style" pitchFamily="34" charset="-122"/>
                <a:cs typeface="Bookman Old Style" pitchFamily="34" charset="-120"/>
              </a:rPr>
              <a:t>40</a:t>
            </a:r>
            <a:endParaRPr lang="en-US" sz="2200" dirty="0"/>
          </a:p>
        </p:txBody>
      </p:sp>
      <p:sp>
        <p:nvSpPr>
          <p:cNvPr id="30" name="Text 25"/>
          <p:cNvSpPr/>
          <p:nvPr/>
        </p:nvSpPr>
        <p:spPr>
          <a:xfrm>
            <a:off x="9582912" y="5532120"/>
            <a:ext cx="1691640" cy="868680"/>
          </a:xfrm>
          <a:prstGeom prst="rect">
            <a:avLst/>
          </a:prstGeom>
          <a:noFill/>
          <a:ln/>
        </p:spPr>
        <p:txBody>
          <a:bodyPr wrap="square" lIns="0" tIns="0" rIns="0" bIns="0" rtlCol="0" anchor="ctr"/>
          <a:lstStyle/>
          <a:p>
            <a:pPr indent="0" marL="0">
              <a:buNone/>
            </a:pPr>
            <a:r>
              <a:rPr lang="en-US" sz="1100" dirty="0">
                <a:solidFill>
                  <a:srgbClr val="E8D9DF"/>
                </a:solidFill>
                <a:latin typeface="Calibri" pitchFamily="34" charset="0"/>
                <a:ea typeface="Calibri" pitchFamily="34" charset="-122"/>
                <a:cs typeface="Calibri" pitchFamily="34" charset="-120"/>
              </a:rPr>
              <a:t>Data Fields</a:t>
            </a:r>
            <a:endParaRPr lang="en-US" sz="1100" dirty="0"/>
          </a:p>
        </p:txBody>
      </p:sp>
      <p:sp>
        <p:nvSpPr>
          <p:cNvPr id="31" name="Text 26"/>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5486400" cy="365760"/>
          </a:xfrm>
          <a:prstGeom prst="rect">
            <a:avLst/>
          </a:prstGeom>
          <a:noFill/>
          <a:ln/>
        </p:spPr>
        <p:txBody>
          <a:bodyPr wrap="square" rtlCol="0" anchor="ctr"/>
          <a:lstStyle/>
          <a:p>
            <a:pPr indent="0" marL="0">
              <a:buNone/>
            </a:pPr>
            <a:r>
              <a:rPr lang="en-US" sz="1300" b="1" spc="300" kern="0" dirty="0">
                <a:solidFill>
                  <a:srgbClr val="7B2D5E"/>
                </a:solidFill>
                <a:latin typeface="Calibri" pitchFamily="34" charset="0"/>
                <a:ea typeface="Calibri" pitchFamily="34" charset="-122"/>
                <a:cs typeface="Calibri" pitchFamily="34" charset="-120"/>
              </a:rPr>
              <a:t>PROBLEM STATEMENT</a:t>
            </a:r>
            <a:endParaRPr lang="en-US" sz="1300" dirty="0"/>
          </a:p>
        </p:txBody>
      </p:sp>
      <p:sp>
        <p:nvSpPr>
          <p:cNvPr id="3" name="Text 1"/>
          <p:cNvSpPr/>
          <p:nvPr/>
        </p:nvSpPr>
        <p:spPr>
          <a:xfrm>
            <a:off x="777240" y="822960"/>
            <a:ext cx="9601200" cy="822960"/>
          </a:xfrm>
          <a:prstGeom prst="rect">
            <a:avLst/>
          </a:prstGeom>
          <a:noFill/>
          <a:ln/>
        </p:spPr>
        <p:txBody>
          <a:bodyPr wrap="square" rtlCol="0" anchor="ctr"/>
          <a:lstStyle/>
          <a:p>
            <a:pPr indent="0" marL="0">
              <a:buNone/>
            </a:pPr>
            <a:r>
              <a:rPr lang="en-US" sz="3400" b="1" dirty="0">
                <a:solidFill>
                  <a:srgbClr val="2B1B24"/>
                </a:solidFill>
                <a:latin typeface="Bookman Old Style" pitchFamily="34" charset="0"/>
                <a:ea typeface="Bookman Old Style" pitchFamily="34" charset="-122"/>
                <a:cs typeface="Bookman Old Style" pitchFamily="34" charset="-120"/>
              </a:rPr>
              <a:t>What Are We Solving?</a:t>
            </a:r>
            <a:endParaRPr lang="en-US" sz="3400" dirty="0"/>
          </a:p>
        </p:txBody>
      </p:sp>
      <p:sp>
        <p:nvSpPr>
          <p:cNvPr id="4" name="Text 2"/>
          <p:cNvSpPr/>
          <p:nvPr/>
        </p:nvSpPr>
        <p:spPr>
          <a:xfrm>
            <a:off x="777240" y="1536192"/>
            <a:ext cx="10607040" cy="502920"/>
          </a:xfrm>
          <a:prstGeom prst="rect">
            <a:avLst/>
          </a:prstGeom>
          <a:noFill/>
          <a:ln/>
        </p:spPr>
        <p:txBody>
          <a:bodyPr wrap="square" rtlCol="0" anchor="ctr"/>
          <a:lstStyle/>
          <a:p>
            <a:pPr indent="0" marL="0">
              <a:buNone/>
            </a:pPr>
            <a:r>
              <a:rPr lang="en-US" sz="1300" dirty="0">
                <a:solidFill>
                  <a:srgbClr val="6B5B63"/>
                </a:solidFill>
                <a:latin typeface="Calibri" pitchFamily="34" charset="0"/>
                <a:ea typeface="Calibri" pitchFamily="34" charset="-122"/>
                <a:cs typeface="Calibri" pitchFamily="34" charset="-120"/>
              </a:rPr>
              <a:t>Bengaluru's booming PG market lacks transparent, data-driven insight — tenants overpay, owners under-price, and investors guess. This project answers 15 targeted research questions grouped into four themes:</a:t>
            </a:r>
            <a:endParaRPr lang="en-US" sz="1300" dirty="0"/>
          </a:p>
        </p:txBody>
      </p:sp>
      <p:sp>
        <p:nvSpPr>
          <p:cNvPr id="5" name="Shape 3"/>
          <p:cNvSpPr/>
          <p:nvPr/>
        </p:nvSpPr>
        <p:spPr>
          <a:xfrm>
            <a:off x="777240" y="2286000"/>
            <a:ext cx="2542032" cy="3566160"/>
          </a:xfrm>
          <a:prstGeom prst="roundRect">
            <a:avLst>
              <a:gd name="adj" fmla="val 4317"/>
            </a:avLst>
          </a:prstGeom>
          <a:solidFill>
            <a:srgbClr val="FFF9F5"/>
          </a:solidFill>
          <a:ln w="17780">
            <a:solidFill>
              <a:srgbClr val="E85D4E"/>
            </a:solidFill>
            <a:prstDash val="solid"/>
          </a:ln>
        </p:spPr>
      </p:sp>
      <p:sp>
        <p:nvSpPr>
          <p:cNvPr id="6" name="Shape 4"/>
          <p:cNvSpPr/>
          <p:nvPr/>
        </p:nvSpPr>
        <p:spPr>
          <a:xfrm>
            <a:off x="996696" y="2542032"/>
            <a:ext cx="822960" cy="822960"/>
          </a:xfrm>
          <a:prstGeom prst="ellipse">
            <a:avLst/>
          </a:prstGeom>
          <a:solidFill>
            <a:srgbClr val="E85D4E"/>
          </a:solidFill>
          <a:ln/>
        </p:spPr>
      </p:sp>
      <p:pic>
        <p:nvPicPr>
          <p:cNvPr id="7" name="Image 0" descr="/home/claude/icons/dollar.png">    </p:cNvPr>
          <p:cNvPicPr>
            <a:picLocks noChangeAspect="1"/>
          </p:cNvPicPr>
          <p:nvPr/>
        </p:nvPicPr>
        <p:blipFill>
          <a:blip r:embed="rId1"/>
          <a:stretch>
            <a:fillRect/>
          </a:stretch>
        </p:blipFill>
        <p:spPr>
          <a:xfrm>
            <a:off x="1218895" y="2764231"/>
            <a:ext cx="378562" cy="378562"/>
          </a:xfrm>
          <a:prstGeom prst="rect">
            <a:avLst/>
          </a:prstGeom>
        </p:spPr>
      </p:pic>
      <p:sp>
        <p:nvSpPr>
          <p:cNvPr id="8" name="Text 5"/>
          <p:cNvSpPr/>
          <p:nvPr/>
        </p:nvSpPr>
        <p:spPr>
          <a:xfrm>
            <a:off x="996696" y="3520440"/>
            <a:ext cx="2148840" cy="365760"/>
          </a:xfrm>
          <a:prstGeom prst="rect">
            <a:avLst/>
          </a:prstGeom>
          <a:noFill/>
          <a:ln/>
        </p:spPr>
        <p:txBody>
          <a:bodyPr wrap="square" lIns="0" tIns="0" rIns="0" bIns="0" rtlCol="0" anchor="ctr"/>
          <a:lstStyle/>
          <a:p>
            <a:pPr indent="0" marL="0">
              <a:buNone/>
            </a:pPr>
            <a:r>
              <a:rPr lang="en-US" sz="1600" b="1" dirty="0">
                <a:solidFill>
                  <a:srgbClr val="2B1B24"/>
                </a:solidFill>
                <a:latin typeface="Bookman Old Style" pitchFamily="34" charset="0"/>
                <a:ea typeface="Bookman Old Style" pitchFamily="34" charset="-122"/>
                <a:cs typeface="Bookman Old Style" pitchFamily="34" charset="-120"/>
              </a:rPr>
              <a:t>Pricing</a:t>
            </a:r>
            <a:endParaRPr lang="en-US" sz="1600" dirty="0"/>
          </a:p>
        </p:txBody>
      </p:sp>
      <p:sp>
        <p:nvSpPr>
          <p:cNvPr id="9" name="Text 6"/>
          <p:cNvSpPr/>
          <p:nvPr/>
        </p:nvSpPr>
        <p:spPr>
          <a:xfrm>
            <a:off x="996696" y="3931920"/>
            <a:ext cx="2148840" cy="1737360"/>
          </a:xfrm>
          <a:prstGeom prst="rect">
            <a:avLst/>
          </a:prstGeom>
          <a:noFill/>
          <a:ln/>
        </p:spPr>
        <p:txBody>
          <a:bodyPr wrap="square" lIns="0" tIns="0" rIns="0" bIns="0" rtlCol="0" anchor="ctr"/>
          <a:lstStyle/>
          <a:p>
            <a:pPr indent="0" marL="0">
              <a:lnSpc>
                <a:spcPct val="120000"/>
              </a:lnSpc>
              <a:buNone/>
            </a:pPr>
            <a:r>
              <a:rPr lang="en-US" sz="1100" dirty="0">
                <a:solidFill>
                  <a:srgbClr val="6B5B63"/>
                </a:solidFill>
                <a:latin typeface="Calibri" pitchFamily="34" charset="0"/>
                <a:ea typeface="Calibri" pitchFamily="34" charset="-122"/>
                <a:cs typeface="Calibri" pitchFamily="34" charset="-120"/>
              </a:rPr>
              <a:t>Which localities &amp; room types command the highest / fairest rent?</a:t>
            </a:r>
            <a:endParaRPr lang="en-US" sz="1100" dirty="0"/>
          </a:p>
        </p:txBody>
      </p:sp>
      <p:sp>
        <p:nvSpPr>
          <p:cNvPr id="10" name="Shape 7"/>
          <p:cNvSpPr/>
          <p:nvPr/>
        </p:nvSpPr>
        <p:spPr>
          <a:xfrm>
            <a:off x="3502152" y="2286000"/>
            <a:ext cx="2542032" cy="3566160"/>
          </a:xfrm>
          <a:prstGeom prst="roundRect">
            <a:avLst>
              <a:gd name="adj" fmla="val 4317"/>
            </a:avLst>
          </a:prstGeom>
          <a:solidFill>
            <a:srgbClr val="FFF9F5"/>
          </a:solidFill>
          <a:ln w="17780">
            <a:solidFill>
              <a:srgbClr val="F4B942"/>
            </a:solidFill>
            <a:prstDash val="solid"/>
          </a:ln>
        </p:spPr>
      </p:sp>
      <p:sp>
        <p:nvSpPr>
          <p:cNvPr id="11" name="Shape 8"/>
          <p:cNvSpPr/>
          <p:nvPr/>
        </p:nvSpPr>
        <p:spPr>
          <a:xfrm>
            <a:off x="3721608" y="2542032"/>
            <a:ext cx="822960" cy="822960"/>
          </a:xfrm>
          <a:prstGeom prst="ellipse">
            <a:avLst/>
          </a:prstGeom>
          <a:solidFill>
            <a:srgbClr val="F4B942"/>
          </a:solidFill>
          <a:ln/>
        </p:spPr>
      </p:sp>
      <p:pic>
        <p:nvPicPr>
          <p:cNvPr id="12" name="Image 1" descr="/home/claude/icons/star.png">    </p:cNvPr>
          <p:cNvPicPr>
            <a:picLocks noChangeAspect="1"/>
          </p:cNvPicPr>
          <p:nvPr/>
        </p:nvPicPr>
        <p:blipFill>
          <a:blip r:embed="rId2"/>
          <a:stretch>
            <a:fillRect/>
          </a:stretch>
        </p:blipFill>
        <p:spPr>
          <a:xfrm>
            <a:off x="3943807" y="2764231"/>
            <a:ext cx="378562" cy="378562"/>
          </a:xfrm>
          <a:prstGeom prst="rect">
            <a:avLst/>
          </a:prstGeom>
        </p:spPr>
      </p:pic>
      <p:sp>
        <p:nvSpPr>
          <p:cNvPr id="13" name="Text 9"/>
          <p:cNvSpPr/>
          <p:nvPr/>
        </p:nvSpPr>
        <p:spPr>
          <a:xfrm>
            <a:off x="3721608" y="3520440"/>
            <a:ext cx="2148840" cy="365760"/>
          </a:xfrm>
          <a:prstGeom prst="rect">
            <a:avLst/>
          </a:prstGeom>
          <a:noFill/>
          <a:ln/>
        </p:spPr>
        <p:txBody>
          <a:bodyPr wrap="square" lIns="0" tIns="0" rIns="0" bIns="0" rtlCol="0" anchor="ctr"/>
          <a:lstStyle/>
          <a:p>
            <a:pPr indent="0" marL="0">
              <a:buNone/>
            </a:pPr>
            <a:r>
              <a:rPr lang="en-US" sz="1600" b="1" dirty="0">
                <a:solidFill>
                  <a:srgbClr val="2B1B24"/>
                </a:solidFill>
                <a:latin typeface="Bookman Old Style" pitchFamily="34" charset="0"/>
                <a:ea typeface="Bookman Old Style" pitchFamily="34" charset="-122"/>
                <a:cs typeface="Bookman Old Style" pitchFamily="34" charset="-120"/>
              </a:rPr>
              <a:t>Experience</a:t>
            </a:r>
            <a:endParaRPr lang="en-US" sz="1600" dirty="0"/>
          </a:p>
        </p:txBody>
      </p:sp>
      <p:sp>
        <p:nvSpPr>
          <p:cNvPr id="14" name="Text 10"/>
          <p:cNvSpPr/>
          <p:nvPr/>
        </p:nvSpPr>
        <p:spPr>
          <a:xfrm>
            <a:off x="3721608" y="3931920"/>
            <a:ext cx="2148840" cy="1737360"/>
          </a:xfrm>
          <a:prstGeom prst="rect">
            <a:avLst/>
          </a:prstGeom>
          <a:noFill/>
          <a:ln/>
        </p:spPr>
        <p:txBody>
          <a:bodyPr wrap="square" lIns="0" tIns="0" rIns="0" bIns="0" rtlCol="0" anchor="ctr"/>
          <a:lstStyle/>
          <a:p>
            <a:pPr indent="0" marL="0">
              <a:lnSpc>
                <a:spcPct val="120000"/>
              </a:lnSpc>
              <a:buNone/>
            </a:pPr>
            <a:r>
              <a:rPr lang="en-US" sz="1100" dirty="0">
                <a:solidFill>
                  <a:srgbClr val="6B5B63"/>
                </a:solidFill>
                <a:latin typeface="Calibri" pitchFamily="34" charset="0"/>
                <a:ea typeface="Calibri" pitchFamily="34" charset="-122"/>
                <a:cs typeface="Calibri" pitchFamily="34" charset="-120"/>
              </a:rPr>
              <a:t>Do ratings, safety &amp; value scores track with price paid?</a:t>
            </a:r>
            <a:endParaRPr lang="en-US" sz="1100" dirty="0"/>
          </a:p>
        </p:txBody>
      </p:sp>
      <p:sp>
        <p:nvSpPr>
          <p:cNvPr id="15" name="Shape 11"/>
          <p:cNvSpPr/>
          <p:nvPr/>
        </p:nvSpPr>
        <p:spPr>
          <a:xfrm>
            <a:off x="6227064" y="2286000"/>
            <a:ext cx="2542032" cy="3566160"/>
          </a:xfrm>
          <a:prstGeom prst="roundRect">
            <a:avLst>
              <a:gd name="adj" fmla="val 4317"/>
            </a:avLst>
          </a:prstGeom>
          <a:solidFill>
            <a:srgbClr val="FFF9F5"/>
          </a:solidFill>
          <a:ln w="17780">
            <a:solidFill>
              <a:srgbClr val="7B2D5E"/>
            </a:solidFill>
            <a:prstDash val="solid"/>
          </a:ln>
        </p:spPr>
      </p:sp>
      <p:sp>
        <p:nvSpPr>
          <p:cNvPr id="16" name="Shape 12"/>
          <p:cNvSpPr/>
          <p:nvPr/>
        </p:nvSpPr>
        <p:spPr>
          <a:xfrm>
            <a:off x="6446520" y="2542032"/>
            <a:ext cx="822960" cy="822960"/>
          </a:xfrm>
          <a:prstGeom prst="ellipse">
            <a:avLst/>
          </a:prstGeom>
          <a:solidFill>
            <a:srgbClr val="7B2D5E"/>
          </a:solidFill>
          <a:ln/>
        </p:spPr>
      </p:sp>
      <p:pic>
        <p:nvPicPr>
          <p:cNvPr id="17" name="Image 2" descr="/home/claude/icons/map.png">    </p:cNvPr>
          <p:cNvPicPr>
            <a:picLocks noChangeAspect="1"/>
          </p:cNvPicPr>
          <p:nvPr/>
        </p:nvPicPr>
        <p:blipFill>
          <a:blip r:embed="rId3"/>
          <a:stretch>
            <a:fillRect/>
          </a:stretch>
        </p:blipFill>
        <p:spPr>
          <a:xfrm>
            <a:off x="6668719" y="2764231"/>
            <a:ext cx="378562" cy="378562"/>
          </a:xfrm>
          <a:prstGeom prst="rect">
            <a:avLst/>
          </a:prstGeom>
        </p:spPr>
      </p:pic>
      <p:sp>
        <p:nvSpPr>
          <p:cNvPr id="18" name="Text 13"/>
          <p:cNvSpPr/>
          <p:nvPr/>
        </p:nvSpPr>
        <p:spPr>
          <a:xfrm>
            <a:off x="6446520" y="3520440"/>
            <a:ext cx="2148840" cy="365760"/>
          </a:xfrm>
          <a:prstGeom prst="rect">
            <a:avLst/>
          </a:prstGeom>
          <a:noFill/>
          <a:ln/>
        </p:spPr>
        <p:txBody>
          <a:bodyPr wrap="square" lIns="0" tIns="0" rIns="0" bIns="0" rtlCol="0" anchor="ctr"/>
          <a:lstStyle/>
          <a:p>
            <a:pPr indent="0" marL="0">
              <a:buNone/>
            </a:pPr>
            <a:r>
              <a:rPr lang="en-US" sz="1600" b="1" dirty="0">
                <a:solidFill>
                  <a:srgbClr val="2B1B24"/>
                </a:solidFill>
                <a:latin typeface="Bookman Old Style" pitchFamily="34" charset="0"/>
                <a:ea typeface="Bookman Old Style" pitchFamily="34" charset="-122"/>
                <a:cs typeface="Bookman Old Style" pitchFamily="34" charset="-120"/>
              </a:rPr>
              <a:t>Location</a:t>
            </a:r>
            <a:endParaRPr lang="en-US" sz="1600" dirty="0"/>
          </a:p>
        </p:txBody>
      </p:sp>
      <p:sp>
        <p:nvSpPr>
          <p:cNvPr id="19" name="Text 14"/>
          <p:cNvSpPr/>
          <p:nvPr/>
        </p:nvSpPr>
        <p:spPr>
          <a:xfrm>
            <a:off x="6446520" y="3931920"/>
            <a:ext cx="2148840" cy="1737360"/>
          </a:xfrm>
          <a:prstGeom prst="rect">
            <a:avLst/>
          </a:prstGeom>
          <a:noFill/>
          <a:ln/>
        </p:spPr>
        <p:txBody>
          <a:bodyPr wrap="square" lIns="0" tIns="0" rIns="0" bIns="0" rtlCol="0" anchor="ctr"/>
          <a:lstStyle/>
          <a:p>
            <a:pPr indent="0" marL="0">
              <a:lnSpc>
                <a:spcPct val="120000"/>
              </a:lnSpc>
              <a:buNone/>
            </a:pPr>
            <a:r>
              <a:rPr lang="en-US" sz="1100" dirty="0">
                <a:solidFill>
                  <a:srgbClr val="6B5B63"/>
                </a:solidFill>
                <a:latin typeface="Calibri" pitchFamily="34" charset="0"/>
                <a:ea typeface="Calibri" pitchFamily="34" charset="-122"/>
                <a:cs typeface="Calibri" pitchFamily="34" charset="-120"/>
              </a:rPr>
              <a:t>How do metro &amp; IT-park proximity shape rent and demand?</a:t>
            </a:r>
            <a:endParaRPr lang="en-US" sz="1100" dirty="0"/>
          </a:p>
        </p:txBody>
      </p:sp>
      <p:sp>
        <p:nvSpPr>
          <p:cNvPr id="20" name="Shape 15"/>
          <p:cNvSpPr/>
          <p:nvPr/>
        </p:nvSpPr>
        <p:spPr>
          <a:xfrm>
            <a:off x="8951976" y="2286000"/>
            <a:ext cx="2542032" cy="3566160"/>
          </a:xfrm>
          <a:prstGeom prst="roundRect">
            <a:avLst>
              <a:gd name="adj" fmla="val 4317"/>
            </a:avLst>
          </a:prstGeom>
          <a:solidFill>
            <a:srgbClr val="FFF9F5"/>
          </a:solidFill>
          <a:ln w="17780">
            <a:solidFill>
              <a:srgbClr val="8FA998"/>
            </a:solidFill>
            <a:prstDash val="solid"/>
          </a:ln>
        </p:spPr>
      </p:sp>
      <p:sp>
        <p:nvSpPr>
          <p:cNvPr id="21" name="Shape 16"/>
          <p:cNvSpPr/>
          <p:nvPr/>
        </p:nvSpPr>
        <p:spPr>
          <a:xfrm>
            <a:off x="9171432" y="2542032"/>
            <a:ext cx="822960" cy="822960"/>
          </a:xfrm>
          <a:prstGeom prst="ellipse">
            <a:avLst/>
          </a:prstGeom>
          <a:solidFill>
            <a:srgbClr val="8FA998"/>
          </a:solidFill>
          <a:ln/>
        </p:spPr>
      </p:sp>
      <p:pic>
        <p:nvPicPr>
          <p:cNvPr id="22" name="Image 3" descr="/home/claude/icons/wifi.png">    </p:cNvPr>
          <p:cNvPicPr>
            <a:picLocks noChangeAspect="1"/>
          </p:cNvPicPr>
          <p:nvPr/>
        </p:nvPicPr>
        <p:blipFill>
          <a:blip r:embed="rId4"/>
          <a:stretch>
            <a:fillRect/>
          </a:stretch>
        </p:blipFill>
        <p:spPr>
          <a:xfrm>
            <a:off x="9393631" y="2764231"/>
            <a:ext cx="378562" cy="378562"/>
          </a:xfrm>
          <a:prstGeom prst="rect">
            <a:avLst/>
          </a:prstGeom>
        </p:spPr>
      </p:pic>
      <p:sp>
        <p:nvSpPr>
          <p:cNvPr id="23" name="Text 17"/>
          <p:cNvSpPr/>
          <p:nvPr/>
        </p:nvSpPr>
        <p:spPr>
          <a:xfrm>
            <a:off x="9171432" y="3520440"/>
            <a:ext cx="2148840" cy="365760"/>
          </a:xfrm>
          <a:prstGeom prst="rect">
            <a:avLst/>
          </a:prstGeom>
          <a:noFill/>
          <a:ln/>
        </p:spPr>
        <p:txBody>
          <a:bodyPr wrap="square" lIns="0" tIns="0" rIns="0" bIns="0" rtlCol="0" anchor="ctr"/>
          <a:lstStyle/>
          <a:p>
            <a:pPr indent="0" marL="0">
              <a:buNone/>
            </a:pPr>
            <a:r>
              <a:rPr lang="en-US" sz="1600" b="1" dirty="0">
                <a:solidFill>
                  <a:srgbClr val="2B1B24"/>
                </a:solidFill>
                <a:latin typeface="Bookman Old Style" pitchFamily="34" charset="0"/>
                <a:ea typeface="Bookman Old Style" pitchFamily="34" charset="-122"/>
                <a:cs typeface="Bookman Old Style" pitchFamily="34" charset="-120"/>
              </a:rPr>
              <a:t>Amenities</a:t>
            </a:r>
            <a:endParaRPr lang="en-US" sz="1600" dirty="0"/>
          </a:p>
        </p:txBody>
      </p:sp>
      <p:sp>
        <p:nvSpPr>
          <p:cNvPr id="24" name="Text 18"/>
          <p:cNvSpPr/>
          <p:nvPr/>
        </p:nvSpPr>
        <p:spPr>
          <a:xfrm>
            <a:off x="9171432" y="3931920"/>
            <a:ext cx="2148840" cy="1737360"/>
          </a:xfrm>
          <a:prstGeom prst="rect">
            <a:avLst/>
          </a:prstGeom>
          <a:noFill/>
          <a:ln/>
        </p:spPr>
        <p:txBody>
          <a:bodyPr wrap="square" lIns="0" tIns="0" rIns="0" bIns="0" rtlCol="0" anchor="ctr"/>
          <a:lstStyle/>
          <a:p>
            <a:pPr indent="0" marL="0">
              <a:lnSpc>
                <a:spcPct val="120000"/>
              </a:lnSpc>
              <a:buNone/>
            </a:pPr>
            <a:r>
              <a:rPr lang="en-US" sz="1100" dirty="0">
                <a:solidFill>
                  <a:srgbClr val="6B5B63"/>
                </a:solidFill>
                <a:latin typeface="Calibri" pitchFamily="34" charset="0"/>
                <a:ea typeface="Calibri" pitchFamily="34" charset="-122"/>
                <a:cs typeface="Calibri" pitchFamily="34" charset="-120"/>
              </a:rPr>
              <a:t>Which facilities are standard, and which set PGs apart?</a:t>
            </a:r>
            <a:endParaRPr lang="en-US" sz="1100" dirty="0"/>
          </a:p>
        </p:txBody>
      </p:sp>
      <p:sp>
        <p:nvSpPr>
          <p:cNvPr id="25" name="Text 19"/>
          <p:cNvSpPr/>
          <p:nvPr/>
        </p:nvSpPr>
        <p:spPr>
          <a:xfrm>
            <a:off x="777240" y="6080760"/>
            <a:ext cx="10607040" cy="365760"/>
          </a:xfrm>
          <a:prstGeom prst="rect">
            <a:avLst/>
          </a:prstGeom>
          <a:noFill/>
          <a:ln/>
        </p:spPr>
        <p:txBody>
          <a:bodyPr wrap="square" rtlCol="0" anchor="ctr"/>
          <a:lstStyle/>
          <a:p>
            <a:pPr indent="0" marL="0">
              <a:buNone/>
            </a:pPr>
            <a:r>
              <a:rPr lang="en-US" sz="1150" b="1" i="1" dirty="0">
                <a:solidFill>
                  <a:srgbClr val="7B2D5E"/>
                </a:solidFill>
                <a:latin typeface="Calibri" pitchFamily="34" charset="0"/>
                <a:ea typeface="Calibri" pitchFamily="34" charset="-122"/>
                <a:cs typeface="Calibri" pitchFamily="34" charset="-120"/>
              </a:rPr>
              <a:t>15 research questions  →  data-backed answers across pricing, ratings, location &amp; amenities</a:t>
            </a:r>
            <a:endParaRPr lang="en-US" sz="1150" dirty="0"/>
          </a:p>
        </p:txBody>
      </p:sp>
      <p:sp>
        <p:nvSpPr>
          <p:cNvPr id="26" name="Text 20"/>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D1730"/>
        </a:solidFill>
      </p:bgPr>
    </p:bg>
    <p:spTree>
      <p:nvGrpSpPr>
        <p:cNvPr id="1" name=""/>
        <p:cNvGrpSpPr/>
        <p:nvPr/>
      </p:nvGrpSpPr>
      <p:grpSpPr>
        <a:xfrm>
          <a:off x="0" y="0"/>
          <a:ext cx="0" cy="0"/>
          <a:chOff x="0" y="0"/>
          <a:chExt cx="0" cy="0"/>
        </a:xfrm>
      </p:grpSpPr>
      <p:sp>
        <p:nvSpPr>
          <p:cNvPr id="2" name="Shape 0"/>
          <p:cNvSpPr/>
          <p:nvPr/>
        </p:nvSpPr>
        <p:spPr>
          <a:xfrm>
            <a:off x="-1828800" y="4389120"/>
            <a:ext cx="5486400" cy="5486400"/>
          </a:xfrm>
          <a:prstGeom prst="ellipse">
            <a:avLst/>
          </a:prstGeom>
          <a:solidFill>
            <a:srgbClr val="7B2D5E">
              <a:alpha val="40000"/>
            </a:srgbClr>
          </a:solidFill>
          <a:ln/>
        </p:spPr>
      </p:sp>
      <p:sp>
        <p:nvSpPr>
          <p:cNvPr id="3" name="Text 1"/>
          <p:cNvSpPr/>
          <p:nvPr/>
        </p:nvSpPr>
        <p:spPr>
          <a:xfrm>
            <a:off x="777240" y="502920"/>
            <a:ext cx="5486400" cy="365760"/>
          </a:xfrm>
          <a:prstGeom prst="rect">
            <a:avLst/>
          </a:prstGeom>
          <a:noFill/>
          <a:ln/>
        </p:spPr>
        <p:txBody>
          <a:bodyPr wrap="square" rtlCol="0" anchor="ctr"/>
          <a:lstStyle/>
          <a:p>
            <a:pPr indent="0" marL="0">
              <a:buNone/>
            </a:pPr>
            <a:r>
              <a:rPr lang="en-US" sz="1300" b="1" spc="300" kern="0" dirty="0">
                <a:solidFill>
                  <a:srgbClr val="F4B942"/>
                </a:solidFill>
                <a:latin typeface="Calibri" pitchFamily="34" charset="0"/>
                <a:ea typeface="Calibri" pitchFamily="34" charset="-122"/>
                <a:cs typeface="Calibri" pitchFamily="34" charset="-120"/>
              </a:rPr>
              <a:t>OBJECTIVES</a:t>
            </a:r>
            <a:endParaRPr lang="en-US" sz="1300" dirty="0"/>
          </a:p>
        </p:txBody>
      </p:sp>
      <p:sp>
        <p:nvSpPr>
          <p:cNvPr id="4" name="Text 2"/>
          <p:cNvSpPr/>
          <p:nvPr/>
        </p:nvSpPr>
        <p:spPr>
          <a:xfrm>
            <a:off x="777240" y="822960"/>
            <a:ext cx="10515600" cy="822960"/>
          </a:xfrm>
          <a:prstGeom prst="rect">
            <a:avLst/>
          </a:prstGeom>
          <a:noFill/>
          <a:ln/>
        </p:spPr>
        <p:txBody>
          <a:bodyPr wrap="square" rtlCol="0" anchor="ctr"/>
          <a:lstStyle/>
          <a:p>
            <a:pPr indent="0" marL="0">
              <a:buNone/>
            </a:pPr>
            <a:r>
              <a:rPr lang="en-US" sz="3200" b="1" dirty="0">
                <a:solidFill>
                  <a:srgbClr val="FFFFFF"/>
                </a:solidFill>
                <a:latin typeface="Bookman Old Style" pitchFamily="34" charset="0"/>
                <a:ea typeface="Bookman Old Style" pitchFamily="34" charset="-122"/>
                <a:cs typeface="Bookman Old Style" pitchFamily="34" charset="-120"/>
              </a:rPr>
              <a:t>What This Project Aims to Achieve</a:t>
            </a:r>
            <a:endParaRPr lang="en-US" sz="3200" dirty="0"/>
          </a:p>
        </p:txBody>
      </p:sp>
      <p:sp>
        <p:nvSpPr>
          <p:cNvPr id="5" name="Shape 3"/>
          <p:cNvSpPr/>
          <p:nvPr/>
        </p:nvSpPr>
        <p:spPr>
          <a:xfrm>
            <a:off x="777240" y="1874520"/>
            <a:ext cx="3429000" cy="1874520"/>
          </a:xfrm>
          <a:prstGeom prst="roundRect">
            <a:avLst>
              <a:gd name="adj" fmla="val 4878"/>
            </a:avLst>
          </a:prstGeom>
          <a:solidFill>
            <a:srgbClr val="FFFFFF">
              <a:alpha val="6000"/>
            </a:srgbClr>
          </a:solidFill>
          <a:ln w="12700">
            <a:solidFill>
              <a:srgbClr val="5A2148"/>
            </a:solidFill>
            <a:prstDash val="solid"/>
          </a:ln>
        </p:spPr>
      </p:sp>
      <p:sp>
        <p:nvSpPr>
          <p:cNvPr id="6" name="Shape 4"/>
          <p:cNvSpPr/>
          <p:nvPr/>
        </p:nvSpPr>
        <p:spPr>
          <a:xfrm>
            <a:off x="978408" y="2075688"/>
            <a:ext cx="566928" cy="566928"/>
          </a:xfrm>
          <a:prstGeom prst="ellipse">
            <a:avLst/>
          </a:prstGeom>
          <a:solidFill>
            <a:srgbClr val="E85D4E"/>
          </a:solidFill>
          <a:ln/>
        </p:spPr>
      </p:sp>
      <p:pic>
        <p:nvPicPr>
          <p:cNvPr id="7" name="Image 0" descr="/home/claude/icons/database.png">    </p:cNvPr>
          <p:cNvPicPr>
            <a:picLocks noChangeAspect="1"/>
          </p:cNvPicPr>
          <p:nvPr/>
        </p:nvPicPr>
        <p:blipFill>
          <a:blip r:embed="rId1"/>
          <a:stretch>
            <a:fillRect/>
          </a:stretch>
        </p:blipFill>
        <p:spPr>
          <a:xfrm>
            <a:off x="1131479" y="2228759"/>
            <a:ext cx="260787" cy="260787"/>
          </a:xfrm>
          <a:prstGeom prst="rect">
            <a:avLst/>
          </a:prstGeom>
        </p:spPr>
      </p:pic>
      <p:sp>
        <p:nvSpPr>
          <p:cNvPr id="8" name="Text 5"/>
          <p:cNvSpPr/>
          <p:nvPr/>
        </p:nvSpPr>
        <p:spPr>
          <a:xfrm>
            <a:off x="1673352" y="2057400"/>
            <a:ext cx="2377440" cy="594360"/>
          </a:xfrm>
          <a:prstGeom prst="rect">
            <a:avLst/>
          </a:prstGeom>
          <a:noFill/>
          <a:ln/>
        </p:spPr>
        <p:txBody>
          <a:bodyPr wrap="square" lIns="0" tIns="0" rIns="0" bIns="0" rtlCol="0" anchor="t"/>
          <a:lstStyle/>
          <a:p>
            <a:pPr indent="0" marL="0">
              <a:buNone/>
            </a:pPr>
            <a:r>
              <a:rPr lang="en-US" sz="1400" b="1" dirty="0">
                <a:solidFill>
                  <a:srgbClr val="F4B942"/>
                </a:solidFill>
                <a:latin typeface="Bookman Old Style" pitchFamily="34" charset="0"/>
                <a:ea typeface="Bookman Old Style" pitchFamily="34" charset="-122"/>
                <a:cs typeface="Bookman Old Style" pitchFamily="34" charset="-120"/>
              </a:rPr>
              <a:t>Clean &amp; standardize</a:t>
            </a:r>
            <a:endParaRPr lang="en-US" sz="1400" dirty="0"/>
          </a:p>
        </p:txBody>
      </p:sp>
      <p:sp>
        <p:nvSpPr>
          <p:cNvPr id="9" name="Text 6"/>
          <p:cNvSpPr/>
          <p:nvPr/>
        </p:nvSpPr>
        <p:spPr>
          <a:xfrm>
            <a:off x="978408" y="2743200"/>
            <a:ext cx="3063240" cy="914400"/>
          </a:xfrm>
          <a:prstGeom prst="rect">
            <a:avLst/>
          </a:prstGeom>
          <a:noFill/>
          <a:ln/>
        </p:spPr>
        <p:txBody>
          <a:bodyPr wrap="square" lIns="0" tIns="0" rIns="0" bIns="0" rtlCol="0" anchor="ctr"/>
          <a:lstStyle/>
          <a:p>
            <a:pPr indent="0" marL="0">
              <a:lnSpc>
                <a:spcPct val="115000"/>
              </a:lnSpc>
              <a:buNone/>
            </a:pPr>
            <a:r>
              <a:rPr lang="en-US" sz="1050" dirty="0">
                <a:solidFill>
                  <a:srgbClr val="E8D9DF"/>
                </a:solidFill>
                <a:latin typeface="Calibri" pitchFamily="34" charset="0"/>
                <a:ea typeface="Calibri" pitchFamily="34" charset="-122"/>
                <a:cs typeface="Calibri" pitchFamily="34" charset="-120"/>
              </a:rPr>
              <a:t>Transform 30,600 raw, inconsistent records into a validated, analysis-ready dataset.</a:t>
            </a:r>
            <a:endParaRPr lang="en-US" sz="1050" dirty="0"/>
          </a:p>
        </p:txBody>
      </p:sp>
      <p:sp>
        <p:nvSpPr>
          <p:cNvPr id="10" name="Shape 7"/>
          <p:cNvSpPr/>
          <p:nvPr/>
        </p:nvSpPr>
        <p:spPr>
          <a:xfrm>
            <a:off x="4389120" y="1874520"/>
            <a:ext cx="3429000" cy="1874520"/>
          </a:xfrm>
          <a:prstGeom prst="roundRect">
            <a:avLst>
              <a:gd name="adj" fmla="val 4878"/>
            </a:avLst>
          </a:prstGeom>
          <a:solidFill>
            <a:srgbClr val="FFFFFF">
              <a:alpha val="6000"/>
            </a:srgbClr>
          </a:solidFill>
          <a:ln w="12700">
            <a:solidFill>
              <a:srgbClr val="5A2148"/>
            </a:solidFill>
            <a:prstDash val="solid"/>
          </a:ln>
        </p:spPr>
      </p:sp>
      <p:sp>
        <p:nvSpPr>
          <p:cNvPr id="11" name="Shape 8"/>
          <p:cNvSpPr/>
          <p:nvPr/>
        </p:nvSpPr>
        <p:spPr>
          <a:xfrm>
            <a:off x="4590288" y="2075688"/>
            <a:ext cx="566928" cy="566928"/>
          </a:xfrm>
          <a:prstGeom prst="ellipse">
            <a:avLst/>
          </a:prstGeom>
          <a:solidFill>
            <a:srgbClr val="E85D4E"/>
          </a:solidFill>
          <a:ln/>
        </p:spPr>
      </p:sp>
      <p:pic>
        <p:nvPicPr>
          <p:cNvPr id="12" name="Image 1" descr="/home/claude/icons/barchart.png">    </p:cNvPr>
          <p:cNvPicPr>
            <a:picLocks noChangeAspect="1"/>
          </p:cNvPicPr>
          <p:nvPr/>
        </p:nvPicPr>
        <p:blipFill>
          <a:blip r:embed="rId2"/>
          <a:stretch>
            <a:fillRect/>
          </a:stretch>
        </p:blipFill>
        <p:spPr>
          <a:xfrm>
            <a:off x="4743359" y="2228759"/>
            <a:ext cx="260787" cy="260787"/>
          </a:xfrm>
          <a:prstGeom prst="rect">
            <a:avLst/>
          </a:prstGeom>
        </p:spPr>
      </p:pic>
      <p:sp>
        <p:nvSpPr>
          <p:cNvPr id="13" name="Text 9"/>
          <p:cNvSpPr/>
          <p:nvPr/>
        </p:nvSpPr>
        <p:spPr>
          <a:xfrm>
            <a:off x="5285232" y="2057400"/>
            <a:ext cx="2377440" cy="594360"/>
          </a:xfrm>
          <a:prstGeom prst="rect">
            <a:avLst/>
          </a:prstGeom>
          <a:noFill/>
          <a:ln/>
        </p:spPr>
        <p:txBody>
          <a:bodyPr wrap="square" lIns="0" tIns="0" rIns="0" bIns="0" rtlCol="0" anchor="t"/>
          <a:lstStyle/>
          <a:p>
            <a:pPr indent="0" marL="0">
              <a:buNone/>
            </a:pPr>
            <a:r>
              <a:rPr lang="en-US" sz="1400" b="1" dirty="0">
                <a:solidFill>
                  <a:srgbClr val="F4B942"/>
                </a:solidFill>
                <a:latin typeface="Bookman Old Style" pitchFamily="34" charset="0"/>
                <a:ea typeface="Bookman Old Style" pitchFamily="34" charset="-122"/>
                <a:cs typeface="Bookman Old Style" pitchFamily="34" charset="-120"/>
              </a:rPr>
              <a:t>Explore rent drivers</a:t>
            </a:r>
            <a:endParaRPr lang="en-US" sz="1400" dirty="0"/>
          </a:p>
        </p:txBody>
      </p:sp>
      <p:sp>
        <p:nvSpPr>
          <p:cNvPr id="14" name="Text 10"/>
          <p:cNvSpPr/>
          <p:nvPr/>
        </p:nvSpPr>
        <p:spPr>
          <a:xfrm>
            <a:off x="4590288" y="2743200"/>
            <a:ext cx="3063240" cy="914400"/>
          </a:xfrm>
          <a:prstGeom prst="rect">
            <a:avLst/>
          </a:prstGeom>
          <a:noFill/>
          <a:ln/>
        </p:spPr>
        <p:txBody>
          <a:bodyPr wrap="square" lIns="0" tIns="0" rIns="0" bIns="0" rtlCol="0" anchor="ctr"/>
          <a:lstStyle/>
          <a:p>
            <a:pPr indent="0" marL="0">
              <a:lnSpc>
                <a:spcPct val="115000"/>
              </a:lnSpc>
              <a:buNone/>
            </a:pPr>
            <a:r>
              <a:rPr lang="en-US" sz="1050" dirty="0">
                <a:solidFill>
                  <a:srgbClr val="E8D9DF"/>
                </a:solidFill>
                <a:latin typeface="Calibri" pitchFamily="34" charset="0"/>
                <a:ea typeface="Calibri" pitchFamily="34" charset="-122"/>
                <a:cs typeface="Calibri" pitchFamily="34" charset="-120"/>
              </a:rPr>
              <a:t>Identify how locality, room type &amp; distance shape monthly PG rent.</a:t>
            </a:r>
            <a:endParaRPr lang="en-US" sz="1050" dirty="0"/>
          </a:p>
        </p:txBody>
      </p:sp>
      <p:sp>
        <p:nvSpPr>
          <p:cNvPr id="15" name="Shape 11"/>
          <p:cNvSpPr/>
          <p:nvPr/>
        </p:nvSpPr>
        <p:spPr>
          <a:xfrm>
            <a:off x="8001000" y="1874520"/>
            <a:ext cx="3429000" cy="1874520"/>
          </a:xfrm>
          <a:prstGeom prst="roundRect">
            <a:avLst>
              <a:gd name="adj" fmla="val 4878"/>
            </a:avLst>
          </a:prstGeom>
          <a:solidFill>
            <a:srgbClr val="FFFFFF">
              <a:alpha val="6000"/>
            </a:srgbClr>
          </a:solidFill>
          <a:ln w="12700">
            <a:solidFill>
              <a:srgbClr val="5A2148"/>
            </a:solidFill>
            <a:prstDash val="solid"/>
          </a:ln>
        </p:spPr>
      </p:sp>
      <p:sp>
        <p:nvSpPr>
          <p:cNvPr id="16" name="Shape 12"/>
          <p:cNvSpPr/>
          <p:nvPr/>
        </p:nvSpPr>
        <p:spPr>
          <a:xfrm>
            <a:off x="8202168" y="2075688"/>
            <a:ext cx="566928" cy="566928"/>
          </a:xfrm>
          <a:prstGeom prst="ellipse">
            <a:avLst/>
          </a:prstGeom>
          <a:solidFill>
            <a:srgbClr val="E85D4E"/>
          </a:solidFill>
          <a:ln/>
        </p:spPr>
      </p:sp>
      <p:pic>
        <p:nvPicPr>
          <p:cNvPr id="17" name="Image 2" descr="/home/claude/icons/star.png">    </p:cNvPr>
          <p:cNvPicPr>
            <a:picLocks noChangeAspect="1"/>
          </p:cNvPicPr>
          <p:nvPr/>
        </p:nvPicPr>
        <p:blipFill>
          <a:blip r:embed="rId3"/>
          <a:stretch>
            <a:fillRect/>
          </a:stretch>
        </p:blipFill>
        <p:spPr>
          <a:xfrm>
            <a:off x="8355239" y="2228759"/>
            <a:ext cx="260787" cy="260787"/>
          </a:xfrm>
          <a:prstGeom prst="rect">
            <a:avLst/>
          </a:prstGeom>
        </p:spPr>
      </p:pic>
      <p:sp>
        <p:nvSpPr>
          <p:cNvPr id="18" name="Text 13"/>
          <p:cNvSpPr/>
          <p:nvPr/>
        </p:nvSpPr>
        <p:spPr>
          <a:xfrm>
            <a:off x="8897112" y="2057400"/>
            <a:ext cx="2377440" cy="594360"/>
          </a:xfrm>
          <a:prstGeom prst="rect">
            <a:avLst/>
          </a:prstGeom>
          <a:noFill/>
          <a:ln/>
        </p:spPr>
        <p:txBody>
          <a:bodyPr wrap="square" lIns="0" tIns="0" rIns="0" bIns="0" rtlCol="0" anchor="t"/>
          <a:lstStyle/>
          <a:p>
            <a:pPr indent="0" marL="0">
              <a:buNone/>
            </a:pPr>
            <a:r>
              <a:rPr lang="en-US" sz="1400" b="1" dirty="0">
                <a:solidFill>
                  <a:srgbClr val="F4B942"/>
                </a:solidFill>
                <a:latin typeface="Bookman Old Style" pitchFamily="34" charset="0"/>
                <a:ea typeface="Bookman Old Style" pitchFamily="34" charset="-122"/>
                <a:cs typeface="Bookman Old Style" pitchFamily="34" charset="-120"/>
              </a:rPr>
              <a:t>Assess service quality</a:t>
            </a:r>
            <a:endParaRPr lang="en-US" sz="1400" dirty="0"/>
          </a:p>
        </p:txBody>
      </p:sp>
      <p:sp>
        <p:nvSpPr>
          <p:cNvPr id="19" name="Text 14"/>
          <p:cNvSpPr/>
          <p:nvPr/>
        </p:nvSpPr>
        <p:spPr>
          <a:xfrm>
            <a:off x="8202168" y="2743200"/>
            <a:ext cx="3063240" cy="914400"/>
          </a:xfrm>
          <a:prstGeom prst="rect">
            <a:avLst/>
          </a:prstGeom>
          <a:noFill/>
          <a:ln/>
        </p:spPr>
        <p:txBody>
          <a:bodyPr wrap="square" lIns="0" tIns="0" rIns="0" bIns="0" rtlCol="0" anchor="ctr"/>
          <a:lstStyle/>
          <a:p>
            <a:pPr indent="0" marL="0">
              <a:lnSpc>
                <a:spcPct val="115000"/>
              </a:lnSpc>
              <a:buNone/>
            </a:pPr>
            <a:r>
              <a:rPr lang="en-US" sz="1050" dirty="0">
                <a:solidFill>
                  <a:srgbClr val="E8D9DF"/>
                </a:solidFill>
                <a:latin typeface="Calibri" pitchFamily="34" charset="0"/>
                <a:ea typeface="Calibri" pitchFamily="34" charset="-122"/>
                <a:cs typeface="Calibri" pitchFamily="34" charset="-120"/>
              </a:rPr>
              <a:t>Examine how ratings, amenities &amp; scores relate to tenant experience.</a:t>
            </a:r>
            <a:endParaRPr lang="en-US" sz="1050" dirty="0"/>
          </a:p>
        </p:txBody>
      </p:sp>
      <p:sp>
        <p:nvSpPr>
          <p:cNvPr id="20" name="Shape 15"/>
          <p:cNvSpPr/>
          <p:nvPr/>
        </p:nvSpPr>
        <p:spPr>
          <a:xfrm>
            <a:off x="777240" y="3977640"/>
            <a:ext cx="3429000" cy="1874520"/>
          </a:xfrm>
          <a:prstGeom prst="roundRect">
            <a:avLst>
              <a:gd name="adj" fmla="val 4878"/>
            </a:avLst>
          </a:prstGeom>
          <a:solidFill>
            <a:srgbClr val="FFFFFF">
              <a:alpha val="6000"/>
            </a:srgbClr>
          </a:solidFill>
          <a:ln w="12700">
            <a:solidFill>
              <a:srgbClr val="5A2148"/>
            </a:solidFill>
            <a:prstDash val="solid"/>
          </a:ln>
        </p:spPr>
      </p:sp>
      <p:sp>
        <p:nvSpPr>
          <p:cNvPr id="21" name="Shape 16"/>
          <p:cNvSpPr/>
          <p:nvPr/>
        </p:nvSpPr>
        <p:spPr>
          <a:xfrm>
            <a:off x="978408" y="4178808"/>
            <a:ext cx="566928" cy="566928"/>
          </a:xfrm>
          <a:prstGeom prst="ellipse">
            <a:avLst/>
          </a:prstGeom>
          <a:solidFill>
            <a:srgbClr val="E85D4E"/>
          </a:solidFill>
          <a:ln/>
        </p:spPr>
      </p:sp>
      <p:pic>
        <p:nvPicPr>
          <p:cNvPr id="22" name="Image 3" descr="/home/claude/icons/compass.png">    </p:cNvPr>
          <p:cNvPicPr>
            <a:picLocks noChangeAspect="1"/>
          </p:cNvPicPr>
          <p:nvPr/>
        </p:nvPicPr>
        <p:blipFill>
          <a:blip r:embed="rId4"/>
          <a:stretch>
            <a:fillRect/>
          </a:stretch>
        </p:blipFill>
        <p:spPr>
          <a:xfrm>
            <a:off x="1131479" y="4331879"/>
            <a:ext cx="260787" cy="260787"/>
          </a:xfrm>
          <a:prstGeom prst="rect">
            <a:avLst/>
          </a:prstGeom>
        </p:spPr>
      </p:pic>
      <p:sp>
        <p:nvSpPr>
          <p:cNvPr id="23" name="Text 17"/>
          <p:cNvSpPr/>
          <p:nvPr/>
        </p:nvSpPr>
        <p:spPr>
          <a:xfrm>
            <a:off x="1673352" y="4160520"/>
            <a:ext cx="2377440" cy="594360"/>
          </a:xfrm>
          <a:prstGeom prst="rect">
            <a:avLst/>
          </a:prstGeom>
          <a:noFill/>
          <a:ln/>
        </p:spPr>
        <p:txBody>
          <a:bodyPr wrap="square" lIns="0" tIns="0" rIns="0" bIns="0" rtlCol="0" anchor="t"/>
          <a:lstStyle/>
          <a:p>
            <a:pPr indent="0" marL="0">
              <a:buNone/>
            </a:pPr>
            <a:r>
              <a:rPr lang="en-US" sz="1400" b="1" dirty="0">
                <a:solidFill>
                  <a:srgbClr val="F4B942"/>
                </a:solidFill>
                <a:latin typeface="Bookman Old Style" pitchFamily="34" charset="0"/>
                <a:ea typeface="Bookman Old Style" pitchFamily="34" charset="-122"/>
                <a:cs typeface="Bookman Old Style" pitchFamily="34" charset="-120"/>
              </a:rPr>
              <a:t>Map location impact</a:t>
            </a:r>
            <a:endParaRPr lang="en-US" sz="1400" dirty="0"/>
          </a:p>
        </p:txBody>
      </p:sp>
      <p:sp>
        <p:nvSpPr>
          <p:cNvPr id="24" name="Text 18"/>
          <p:cNvSpPr/>
          <p:nvPr/>
        </p:nvSpPr>
        <p:spPr>
          <a:xfrm>
            <a:off x="978408" y="4846320"/>
            <a:ext cx="3063240" cy="914400"/>
          </a:xfrm>
          <a:prstGeom prst="rect">
            <a:avLst/>
          </a:prstGeom>
          <a:noFill/>
          <a:ln/>
        </p:spPr>
        <p:txBody>
          <a:bodyPr wrap="square" lIns="0" tIns="0" rIns="0" bIns="0" rtlCol="0" anchor="ctr"/>
          <a:lstStyle/>
          <a:p>
            <a:pPr indent="0" marL="0">
              <a:lnSpc>
                <a:spcPct val="115000"/>
              </a:lnSpc>
              <a:buNone/>
            </a:pPr>
            <a:r>
              <a:rPr lang="en-US" sz="1050" dirty="0">
                <a:solidFill>
                  <a:srgbClr val="E8D9DF"/>
                </a:solidFill>
                <a:latin typeface="Calibri" pitchFamily="34" charset="0"/>
                <a:ea typeface="Calibri" pitchFamily="34" charset="-122"/>
                <a:cs typeface="Calibri" pitchFamily="34" charset="-120"/>
              </a:rPr>
              <a:t>Quantify how metro &amp; IT-park proximity influence pricing and demand.</a:t>
            </a:r>
            <a:endParaRPr lang="en-US" sz="1050" dirty="0"/>
          </a:p>
        </p:txBody>
      </p:sp>
      <p:sp>
        <p:nvSpPr>
          <p:cNvPr id="25" name="Shape 19"/>
          <p:cNvSpPr/>
          <p:nvPr/>
        </p:nvSpPr>
        <p:spPr>
          <a:xfrm>
            <a:off x="4389120" y="3977640"/>
            <a:ext cx="3429000" cy="1874520"/>
          </a:xfrm>
          <a:prstGeom prst="roundRect">
            <a:avLst>
              <a:gd name="adj" fmla="val 4878"/>
            </a:avLst>
          </a:prstGeom>
          <a:solidFill>
            <a:srgbClr val="FFFFFF">
              <a:alpha val="6000"/>
            </a:srgbClr>
          </a:solidFill>
          <a:ln w="12700">
            <a:solidFill>
              <a:srgbClr val="5A2148"/>
            </a:solidFill>
            <a:prstDash val="solid"/>
          </a:ln>
        </p:spPr>
      </p:sp>
      <p:sp>
        <p:nvSpPr>
          <p:cNvPr id="26" name="Shape 20"/>
          <p:cNvSpPr/>
          <p:nvPr/>
        </p:nvSpPr>
        <p:spPr>
          <a:xfrm>
            <a:off x="4590288" y="4178808"/>
            <a:ext cx="566928" cy="566928"/>
          </a:xfrm>
          <a:prstGeom prst="ellipse">
            <a:avLst/>
          </a:prstGeom>
          <a:solidFill>
            <a:srgbClr val="E85D4E"/>
          </a:solidFill>
          <a:ln/>
        </p:spPr>
      </p:sp>
      <p:pic>
        <p:nvPicPr>
          <p:cNvPr id="27" name="Image 4" descr="/home/claude/icons/target.png">    </p:cNvPr>
          <p:cNvPicPr>
            <a:picLocks noChangeAspect="1"/>
          </p:cNvPicPr>
          <p:nvPr/>
        </p:nvPicPr>
        <p:blipFill>
          <a:blip r:embed="rId5"/>
          <a:stretch>
            <a:fillRect/>
          </a:stretch>
        </p:blipFill>
        <p:spPr>
          <a:xfrm>
            <a:off x="4743359" y="4331879"/>
            <a:ext cx="260787" cy="260787"/>
          </a:xfrm>
          <a:prstGeom prst="rect">
            <a:avLst/>
          </a:prstGeom>
        </p:spPr>
      </p:pic>
      <p:sp>
        <p:nvSpPr>
          <p:cNvPr id="28" name="Text 21"/>
          <p:cNvSpPr/>
          <p:nvPr/>
        </p:nvSpPr>
        <p:spPr>
          <a:xfrm>
            <a:off x="5285232" y="4160520"/>
            <a:ext cx="2377440" cy="594360"/>
          </a:xfrm>
          <a:prstGeom prst="rect">
            <a:avLst/>
          </a:prstGeom>
          <a:noFill/>
          <a:ln/>
        </p:spPr>
        <p:txBody>
          <a:bodyPr wrap="square" lIns="0" tIns="0" rIns="0" bIns="0" rtlCol="0" anchor="t"/>
          <a:lstStyle/>
          <a:p>
            <a:pPr indent="0" marL="0">
              <a:buNone/>
            </a:pPr>
            <a:r>
              <a:rPr lang="en-US" sz="1400" b="1" dirty="0">
                <a:solidFill>
                  <a:srgbClr val="F4B942"/>
                </a:solidFill>
                <a:latin typeface="Bookman Old Style" pitchFamily="34" charset="0"/>
                <a:ea typeface="Bookman Old Style" pitchFamily="34" charset="-122"/>
                <a:cs typeface="Bookman Old Style" pitchFamily="34" charset="-120"/>
              </a:rPr>
              <a:t>Segment the market</a:t>
            </a:r>
            <a:endParaRPr lang="en-US" sz="1400" dirty="0"/>
          </a:p>
        </p:txBody>
      </p:sp>
      <p:sp>
        <p:nvSpPr>
          <p:cNvPr id="29" name="Text 22"/>
          <p:cNvSpPr/>
          <p:nvPr/>
        </p:nvSpPr>
        <p:spPr>
          <a:xfrm>
            <a:off x="4590288" y="4846320"/>
            <a:ext cx="3063240" cy="914400"/>
          </a:xfrm>
          <a:prstGeom prst="rect">
            <a:avLst/>
          </a:prstGeom>
          <a:noFill/>
          <a:ln/>
        </p:spPr>
        <p:txBody>
          <a:bodyPr wrap="square" lIns="0" tIns="0" rIns="0" bIns="0" rtlCol="0" anchor="ctr"/>
          <a:lstStyle/>
          <a:p>
            <a:pPr indent="0" marL="0">
              <a:lnSpc>
                <a:spcPct val="115000"/>
              </a:lnSpc>
              <a:buNone/>
            </a:pPr>
            <a:r>
              <a:rPr lang="en-US" sz="1050" dirty="0">
                <a:solidFill>
                  <a:srgbClr val="E8D9DF"/>
                </a:solidFill>
                <a:latin typeface="Calibri" pitchFamily="34" charset="0"/>
                <a:ea typeface="Calibri" pitchFamily="34" charset="-122"/>
                <a:cs typeface="Calibri" pitchFamily="34" charset="-120"/>
              </a:rPr>
              <a:t>Profile occupancy patterns across rent bands and room categories.</a:t>
            </a:r>
            <a:endParaRPr lang="en-US" sz="1050" dirty="0"/>
          </a:p>
        </p:txBody>
      </p:sp>
      <p:sp>
        <p:nvSpPr>
          <p:cNvPr id="30" name="Shape 23"/>
          <p:cNvSpPr/>
          <p:nvPr/>
        </p:nvSpPr>
        <p:spPr>
          <a:xfrm>
            <a:off x="8001000" y="3977640"/>
            <a:ext cx="3429000" cy="1874520"/>
          </a:xfrm>
          <a:prstGeom prst="roundRect">
            <a:avLst>
              <a:gd name="adj" fmla="val 4878"/>
            </a:avLst>
          </a:prstGeom>
          <a:solidFill>
            <a:srgbClr val="FFFFFF">
              <a:alpha val="6000"/>
            </a:srgbClr>
          </a:solidFill>
          <a:ln w="12700">
            <a:solidFill>
              <a:srgbClr val="5A2148"/>
            </a:solidFill>
            <a:prstDash val="solid"/>
          </a:ln>
        </p:spPr>
      </p:sp>
      <p:sp>
        <p:nvSpPr>
          <p:cNvPr id="31" name="Shape 24"/>
          <p:cNvSpPr/>
          <p:nvPr/>
        </p:nvSpPr>
        <p:spPr>
          <a:xfrm>
            <a:off x="8202168" y="4178808"/>
            <a:ext cx="566928" cy="566928"/>
          </a:xfrm>
          <a:prstGeom prst="ellipse">
            <a:avLst/>
          </a:prstGeom>
          <a:solidFill>
            <a:srgbClr val="E85D4E"/>
          </a:solidFill>
          <a:ln/>
        </p:spPr>
      </p:sp>
      <p:pic>
        <p:nvPicPr>
          <p:cNvPr id="32" name="Image 5" descr="/home/claude/icons/briefcase.png">    </p:cNvPr>
          <p:cNvPicPr>
            <a:picLocks noChangeAspect="1"/>
          </p:cNvPicPr>
          <p:nvPr/>
        </p:nvPicPr>
        <p:blipFill>
          <a:blip r:embed="rId6"/>
          <a:stretch>
            <a:fillRect/>
          </a:stretch>
        </p:blipFill>
        <p:spPr>
          <a:xfrm>
            <a:off x="8355239" y="4331879"/>
            <a:ext cx="260787" cy="260787"/>
          </a:xfrm>
          <a:prstGeom prst="rect">
            <a:avLst/>
          </a:prstGeom>
        </p:spPr>
      </p:pic>
      <p:sp>
        <p:nvSpPr>
          <p:cNvPr id="33" name="Text 25"/>
          <p:cNvSpPr/>
          <p:nvPr/>
        </p:nvSpPr>
        <p:spPr>
          <a:xfrm>
            <a:off x="8897112" y="4160520"/>
            <a:ext cx="2377440" cy="594360"/>
          </a:xfrm>
          <a:prstGeom prst="rect">
            <a:avLst/>
          </a:prstGeom>
          <a:noFill/>
          <a:ln/>
        </p:spPr>
        <p:txBody>
          <a:bodyPr wrap="square" lIns="0" tIns="0" rIns="0" bIns="0" rtlCol="0" anchor="t"/>
          <a:lstStyle/>
          <a:p>
            <a:pPr indent="0" marL="0">
              <a:buNone/>
            </a:pPr>
            <a:r>
              <a:rPr lang="en-US" sz="1400" b="1" dirty="0">
                <a:solidFill>
                  <a:srgbClr val="F4B942"/>
                </a:solidFill>
                <a:latin typeface="Bookman Old Style" pitchFamily="34" charset="0"/>
                <a:ea typeface="Bookman Old Style" pitchFamily="34" charset="-122"/>
                <a:cs typeface="Bookman Old Style" pitchFamily="34" charset="-120"/>
              </a:rPr>
              <a:t>Enable decisions</a:t>
            </a:r>
            <a:endParaRPr lang="en-US" sz="1400" dirty="0"/>
          </a:p>
        </p:txBody>
      </p:sp>
      <p:sp>
        <p:nvSpPr>
          <p:cNvPr id="34" name="Text 26"/>
          <p:cNvSpPr/>
          <p:nvPr/>
        </p:nvSpPr>
        <p:spPr>
          <a:xfrm>
            <a:off x="8202168" y="4846320"/>
            <a:ext cx="3063240" cy="914400"/>
          </a:xfrm>
          <a:prstGeom prst="rect">
            <a:avLst/>
          </a:prstGeom>
          <a:noFill/>
          <a:ln/>
        </p:spPr>
        <p:txBody>
          <a:bodyPr wrap="square" lIns="0" tIns="0" rIns="0" bIns="0" rtlCol="0" anchor="ctr"/>
          <a:lstStyle/>
          <a:p>
            <a:pPr indent="0" marL="0">
              <a:lnSpc>
                <a:spcPct val="115000"/>
              </a:lnSpc>
              <a:buNone/>
            </a:pPr>
            <a:r>
              <a:rPr lang="en-US" sz="1050" dirty="0">
                <a:solidFill>
                  <a:srgbClr val="E8D9DF"/>
                </a:solidFill>
                <a:latin typeface="Calibri" pitchFamily="34" charset="0"/>
                <a:ea typeface="Calibri" pitchFamily="34" charset="-122"/>
                <a:cs typeface="Calibri" pitchFamily="34" charset="-120"/>
              </a:rPr>
              <a:t>Deliver clear, actionable recommendations for tenants, owners &amp; investors.</a:t>
            </a:r>
            <a:endParaRPr lang="en-US" sz="1050" dirty="0"/>
          </a:p>
        </p:txBody>
      </p:sp>
      <p:sp>
        <p:nvSpPr>
          <p:cNvPr id="35" name="Text 27"/>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9F5"/>
        </a:solidFill>
      </p:bgPr>
    </p:bg>
    <p:spTree>
      <p:nvGrpSpPr>
        <p:cNvPr id="1" name=""/>
        <p:cNvGrpSpPr/>
        <p:nvPr/>
      </p:nvGrpSpPr>
      <p:grpSpPr>
        <a:xfrm>
          <a:off x="0" y="0"/>
          <a:ext cx="0" cy="0"/>
          <a:chOff x="0" y="0"/>
          <a:chExt cx="0" cy="0"/>
        </a:xfrm>
      </p:grpSpPr>
      <p:sp>
        <p:nvSpPr>
          <p:cNvPr id="2" name="Text 0"/>
          <p:cNvSpPr/>
          <p:nvPr/>
        </p:nvSpPr>
        <p:spPr>
          <a:xfrm>
            <a:off x="777240" y="502920"/>
            <a:ext cx="5486400" cy="365760"/>
          </a:xfrm>
          <a:prstGeom prst="rect">
            <a:avLst/>
          </a:prstGeom>
          <a:noFill/>
          <a:ln/>
        </p:spPr>
        <p:txBody>
          <a:bodyPr wrap="square" rtlCol="0" anchor="ctr"/>
          <a:lstStyle/>
          <a:p>
            <a:pPr indent="0" marL="0">
              <a:buNone/>
            </a:pPr>
            <a:r>
              <a:rPr lang="en-US" sz="1300" b="1" spc="300" kern="0" dirty="0">
                <a:solidFill>
                  <a:srgbClr val="7B2D5E"/>
                </a:solidFill>
                <a:latin typeface="Calibri" pitchFamily="34" charset="0"/>
                <a:ea typeface="Calibri" pitchFamily="34" charset="-122"/>
                <a:cs typeface="Calibri" pitchFamily="34" charset="-120"/>
              </a:rPr>
              <a:t>DATASET OVERVIEW</a:t>
            </a:r>
            <a:endParaRPr lang="en-US" sz="1300" dirty="0"/>
          </a:p>
        </p:txBody>
      </p:sp>
      <p:sp>
        <p:nvSpPr>
          <p:cNvPr id="3" name="Text 1"/>
          <p:cNvSpPr/>
          <p:nvPr/>
        </p:nvSpPr>
        <p:spPr>
          <a:xfrm>
            <a:off x="777240" y="822960"/>
            <a:ext cx="9144000" cy="822960"/>
          </a:xfrm>
          <a:prstGeom prst="rect">
            <a:avLst/>
          </a:prstGeom>
          <a:noFill/>
          <a:ln/>
        </p:spPr>
        <p:txBody>
          <a:bodyPr wrap="square" rtlCol="0" anchor="ctr"/>
          <a:lstStyle/>
          <a:p>
            <a:pPr indent="0" marL="0">
              <a:buNone/>
            </a:pPr>
            <a:r>
              <a:rPr lang="en-US" sz="3400" b="1" dirty="0">
                <a:solidFill>
                  <a:srgbClr val="2B1B24"/>
                </a:solidFill>
                <a:latin typeface="Bookman Old Style" pitchFamily="34" charset="0"/>
                <a:ea typeface="Bookman Old Style" pitchFamily="34" charset="-122"/>
                <a:cs typeface="Bookman Old Style" pitchFamily="34" charset="-120"/>
              </a:rPr>
              <a:t>Inside the Data</a:t>
            </a:r>
            <a:endParaRPr lang="en-US" sz="3400" dirty="0"/>
          </a:p>
        </p:txBody>
      </p:sp>
      <p:sp>
        <p:nvSpPr>
          <p:cNvPr id="4" name="Shape 2"/>
          <p:cNvSpPr/>
          <p:nvPr/>
        </p:nvSpPr>
        <p:spPr>
          <a:xfrm>
            <a:off x="777240" y="1783080"/>
            <a:ext cx="2542032" cy="1280160"/>
          </a:xfrm>
          <a:prstGeom prst="roundRect">
            <a:avLst>
              <a:gd name="adj" fmla="val 7143"/>
            </a:avLst>
          </a:prstGeom>
          <a:solidFill>
            <a:srgbClr val="FFFFFF"/>
          </a:solidFill>
          <a:ln/>
          <a:effectLst>
            <a:outerShdw sx="100000" sy="100000" kx="0" ky="0" algn="bl" rotWithShape="0" blurRad="101600" dist="38100" dir="5400000">
              <a:srgbClr val="3D1730">
                <a:alpha val="10000"/>
              </a:srgbClr>
            </a:outerShdw>
          </a:effectLst>
        </p:spPr>
      </p:sp>
      <p:sp>
        <p:nvSpPr>
          <p:cNvPr id="5" name="Shape 3"/>
          <p:cNvSpPr/>
          <p:nvPr/>
        </p:nvSpPr>
        <p:spPr>
          <a:xfrm>
            <a:off x="777240" y="1783080"/>
            <a:ext cx="73152" cy="1280160"/>
          </a:xfrm>
          <a:prstGeom prst="rect">
            <a:avLst/>
          </a:prstGeom>
          <a:solidFill>
            <a:srgbClr val="E85D4E"/>
          </a:solidFill>
          <a:ln/>
        </p:spPr>
      </p:sp>
      <p:sp>
        <p:nvSpPr>
          <p:cNvPr id="6" name="Text 4"/>
          <p:cNvSpPr/>
          <p:nvPr/>
        </p:nvSpPr>
        <p:spPr>
          <a:xfrm>
            <a:off x="960120" y="1874520"/>
            <a:ext cx="2194560" cy="594360"/>
          </a:xfrm>
          <a:prstGeom prst="rect">
            <a:avLst/>
          </a:prstGeom>
          <a:noFill/>
          <a:ln/>
        </p:spPr>
        <p:txBody>
          <a:bodyPr wrap="square" lIns="0" tIns="0" rIns="0" bIns="0" rtlCol="0" anchor="ctr"/>
          <a:lstStyle/>
          <a:p>
            <a:pPr indent="0" marL="0">
              <a:buNone/>
            </a:pPr>
            <a:r>
              <a:rPr lang="en-US" sz="2600" b="1" dirty="0">
                <a:solidFill>
                  <a:srgbClr val="E85D4E"/>
                </a:solidFill>
                <a:latin typeface="Bookman Old Style" pitchFamily="34" charset="0"/>
                <a:ea typeface="Bookman Old Style" pitchFamily="34" charset="-122"/>
                <a:cs typeface="Bookman Old Style" pitchFamily="34" charset="-120"/>
              </a:rPr>
              <a:t>30,600</a:t>
            </a:r>
            <a:endParaRPr lang="en-US" sz="2600" dirty="0"/>
          </a:p>
        </p:txBody>
      </p:sp>
      <p:sp>
        <p:nvSpPr>
          <p:cNvPr id="7" name="Text 5"/>
          <p:cNvSpPr/>
          <p:nvPr/>
        </p:nvSpPr>
        <p:spPr>
          <a:xfrm>
            <a:off x="960120" y="2450592"/>
            <a:ext cx="2286000" cy="457200"/>
          </a:xfrm>
          <a:prstGeom prst="rect">
            <a:avLst/>
          </a:prstGeom>
          <a:noFill/>
          <a:ln/>
        </p:spPr>
        <p:txBody>
          <a:bodyPr wrap="square" lIns="0" tIns="0" rIns="0" bIns="0" rtlCol="0" anchor="ctr"/>
          <a:lstStyle/>
          <a:p>
            <a:pPr indent="0" marL="0">
              <a:buNone/>
            </a:pPr>
            <a:r>
              <a:rPr lang="en-US" sz="1100" dirty="0">
                <a:solidFill>
                  <a:srgbClr val="6B5B63"/>
                </a:solidFill>
                <a:latin typeface="Calibri" pitchFamily="34" charset="0"/>
                <a:ea typeface="Calibri" pitchFamily="34" charset="-122"/>
                <a:cs typeface="Calibri" pitchFamily="34" charset="-120"/>
              </a:rPr>
              <a:t>Raw Records</a:t>
            </a:r>
            <a:endParaRPr lang="en-US" sz="1100" dirty="0"/>
          </a:p>
        </p:txBody>
      </p:sp>
      <p:sp>
        <p:nvSpPr>
          <p:cNvPr id="8" name="Shape 6"/>
          <p:cNvSpPr/>
          <p:nvPr/>
        </p:nvSpPr>
        <p:spPr>
          <a:xfrm>
            <a:off x="3502152" y="1783080"/>
            <a:ext cx="2542032" cy="1280160"/>
          </a:xfrm>
          <a:prstGeom prst="roundRect">
            <a:avLst>
              <a:gd name="adj" fmla="val 7143"/>
            </a:avLst>
          </a:prstGeom>
          <a:solidFill>
            <a:srgbClr val="FFFFFF"/>
          </a:solidFill>
          <a:ln/>
          <a:effectLst>
            <a:outerShdw sx="100000" sy="100000" kx="0" ky="0" algn="bl" rotWithShape="0" blurRad="101600" dist="38100" dir="5400000">
              <a:srgbClr val="3D1730">
                <a:alpha val="10000"/>
              </a:srgbClr>
            </a:outerShdw>
          </a:effectLst>
        </p:spPr>
      </p:sp>
      <p:sp>
        <p:nvSpPr>
          <p:cNvPr id="9" name="Shape 7"/>
          <p:cNvSpPr/>
          <p:nvPr/>
        </p:nvSpPr>
        <p:spPr>
          <a:xfrm>
            <a:off x="3502152" y="1783080"/>
            <a:ext cx="73152" cy="1280160"/>
          </a:xfrm>
          <a:prstGeom prst="rect">
            <a:avLst/>
          </a:prstGeom>
          <a:solidFill>
            <a:srgbClr val="F4B942"/>
          </a:solidFill>
          <a:ln/>
        </p:spPr>
      </p:sp>
      <p:sp>
        <p:nvSpPr>
          <p:cNvPr id="10" name="Text 8"/>
          <p:cNvSpPr/>
          <p:nvPr/>
        </p:nvSpPr>
        <p:spPr>
          <a:xfrm>
            <a:off x="3685032" y="1874520"/>
            <a:ext cx="2194560" cy="594360"/>
          </a:xfrm>
          <a:prstGeom prst="rect">
            <a:avLst/>
          </a:prstGeom>
          <a:noFill/>
          <a:ln/>
        </p:spPr>
        <p:txBody>
          <a:bodyPr wrap="square" lIns="0" tIns="0" rIns="0" bIns="0" rtlCol="0" anchor="ctr"/>
          <a:lstStyle/>
          <a:p>
            <a:pPr indent="0" marL="0">
              <a:buNone/>
            </a:pPr>
            <a:r>
              <a:rPr lang="en-US" sz="2600" b="1" dirty="0">
                <a:solidFill>
                  <a:srgbClr val="F4B942"/>
                </a:solidFill>
                <a:latin typeface="Bookman Old Style" pitchFamily="34" charset="0"/>
                <a:ea typeface="Bookman Old Style" pitchFamily="34" charset="-122"/>
                <a:cs typeface="Bookman Old Style" pitchFamily="34" charset="-120"/>
              </a:rPr>
              <a:t>44</a:t>
            </a:r>
            <a:endParaRPr lang="en-US" sz="2600" dirty="0"/>
          </a:p>
        </p:txBody>
      </p:sp>
      <p:sp>
        <p:nvSpPr>
          <p:cNvPr id="11" name="Text 9"/>
          <p:cNvSpPr/>
          <p:nvPr/>
        </p:nvSpPr>
        <p:spPr>
          <a:xfrm>
            <a:off x="3685032" y="2450592"/>
            <a:ext cx="2286000" cy="457200"/>
          </a:xfrm>
          <a:prstGeom prst="rect">
            <a:avLst/>
          </a:prstGeom>
          <a:noFill/>
          <a:ln/>
        </p:spPr>
        <p:txBody>
          <a:bodyPr wrap="square" lIns="0" tIns="0" rIns="0" bIns="0" rtlCol="0" anchor="ctr"/>
          <a:lstStyle/>
          <a:p>
            <a:pPr indent="0" marL="0">
              <a:buNone/>
            </a:pPr>
            <a:r>
              <a:rPr lang="en-US" sz="1100" dirty="0">
                <a:solidFill>
                  <a:srgbClr val="6B5B63"/>
                </a:solidFill>
                <a:latin typeface="Calibri" pitchFamily="34" charset="0"/>
                <a:ea typeface="Calibri" pitchFamily="34" charset="-122"/>
                <a:cs typeface="Calibri" pitchFamily="34" charset="-120"/>
              </a:rPr>
              <a:t>Raw Columns</a:t>
            </a:r>
            <a:endParaRPr lang="en-US" sz="1100" dirty="0"/>
          </a:p>
        </p:txBody>
      </p:sp>
      <p:sp>
        <p:nvSpPr>
          <p:cNvPr id="12" name="Shape 10"/>
          <p:cNvSpPr/>
          <p:nvPr/>
        </p:nvSpPr>
        <p:spPr>
          <a:xfrm>
            <a:off x="6227064" y="1783080"/>
            <a:ext cx="2542032" cy="1280160"/>
          </a:xfrm>
          <a:prstGeom prst="roundRect">
            <a:avLst>
              <a:gd name="adj" fmla="val 7143"/>
            </a:avLst>
          </a:prstGeom>
          <a:solidFill>
            <a:srgbClr val="FFFFFF"/>
          </a:solidFill>
          <a:ln/>
          <a:effectLst>
            <a:outerShdw sx="100000" sy="100000" kx="0" ky="0" algn="bl" rotWithShape="0" blurRad="101600" dist="38100" dir="5400000">
              <a:srgbClr val="3D1730">
                <a:alpha val="10000"/>
              </a:srgbClr>
            </a:outerShdw>
          </a:effectLst>
        </p:spPr>
      </p:sp>
      <p:sp>
        <p:nvSpPr>
          <p:cNvPr id="13" name="Shape 11"/>
          <p:cNvSpPr/>
          <p:nvPr/>
        </p:nvSpPr>
        <p:spPr>
          <a:xfrm>
            <a:off x="6227064" y="1783080"/>
            <a:ext cx="73152" cy="1280160"/>
          </a:xfrm>
          <a:prstGeom prst="rect">
            <a:avLst/>
          </a:prstGeom>
          <a:solidFill>
            <a:srgbClr val="7B2D5E"/>
          </a:solidFill>
          <a:ln/>
        </p:spPr>
      </p:sp>
      <p:sp>
        <p:nvSpPr>
          <p:cNvPr id="14" name="Text 12"/>
          <p:cNvSpPr/>
          <p:nvPr/>
        </p:nvSpPr>
        <p:spPr>
          <a:xfrm>
            <a:off x="6409944" y="1874520"/>
            <a:ext cx="2194560" cy="594360"/>
          </a:xfrm>
          <a:prstGeom prst="rect">
            <a:avLst/>
          </a:prstGeom>
          <a:noFill/>
          <a:ln/>
        </p:spPr>
        <p:txBody>
          <a:bodyPr wrap="square" lIns="0" tIns="0" rIns="0" bIns="0" rtlCol="0" anchor="ctr"/>
          <a:lstStyle/>
          <a:p>
            <a:pPr indent="0" marL="0">
              <a:buNone/>
            </a:pPr>
            <a:r>
              <a:rPr lang="en-US" sz="2600" b="1" dirty="0">
                <a:solidFill>
                  <a:srgbClr val="7B2D5E"/>
                </a:solidFill>
                <a:latin typeface="Bookman Old Style" pitchFamily="34" charset="0"/>
                <a:ea typeface="Bookman Old Style" pitchFamily="34" charset="-122"/>
                <a:cs typeface="Bookman Old Style" pitchFamily="34" charset="-120"/>
              </a:rPr>
              <a:t>116</a:t>
            </a:r>
            <a:endParaRPr lang="en-US" sz="2600" dirty="0"/>
          </a:p>
        </p:txBody>
      </p:sp>
      <p:sp>
        <p:nvSpPr>
          <p:cNvPr id="15" name="Text 13"/>
          <p:cNvSpPr/>
          <p:nvPr/>
        </p:nvSpPr>
        <p:spPr>
          <a:xfrm>
            <a:off x="6409944" y="2450592"/>
            <a:ext cx="2286000" cy="457200"/>
          </a:xfrm>
          <a:prstGeom prst="rect">
            <a:avLst/>
          </a:prstGeom>
          <a:noFill/>
          <a:ln/>
        </p:spPr>
        <p:txBody>
          <a:bodyPr wrap="square" lIns="0" tIns="0" rIns="0" bIns="0" rtlCol="0" anchor="ctr"/>
          <a:lstStyle/>
          <a:p>
            <a:pPr indent="0" marL="0">
              <a:buNone/>
            </a:pPr>
            <a:r>
              <a:rPr lang="en-US" sz="1100" dirty="0">
                <a:solidFill>
                  <a:srgbClr val="6B5B63"/>
                </a:solidFill>
                <a:latin typeface="Calibri" pitchFamily="34" charset="0"/>
                <a:ea typeface="Calibri" pitchFamily="34" charset="-122"/>
                <a:cs typeface="Calibri" pitchFamily="34" charset="-120"/>
              </a:rPr>
              <a:t>Unique Localities</a:t>
            </a:r>
            <a:endParaRPr lang="en-US" sz="1100" dirty="0"/>
          </a:p>
        </p:txBody>
      </p:sp>
      <p:sp>
        <p:nvSpPr>
          <p:cNvPr id="16" name="Shape 14"/>
          <p:cNvSpPr/>
          <p:nvPr/>
        </p:nvSpPr>
        <p:spPr>
          <a:xfrm>
            <a:off x="8951976" y="1783080"/>
            <a:ext cx="2542032" cy="1280160"/>
          </a:xfrm>
          <a:prstGeom prst="roundRect">
            <a:avLst>
              <a:gd name="adj" fmla="val 7143"/>
            </a:avLst>
          </a:prstGeom>
          <a:solidFill>
            <a:srgbClr val="FFFFFF"/>
          </a:solidFill>
          <a:ln/>
          <a:effectLst>
            <a:outerShdw sx="100000" sy="100000" kx="0" ky="0" algn="bl" rotWithShape="0" blurRad="101600" dist="38100" dir="5400000">
              <a:srgbClr val="3D1730">
                <a:alpha val="10000"/>
              </a:srgbClr>
            </a:outerShdw>
          </a:effectLst>
        </p:spPr>
      </p:sp>
      <p:sp>
        <p:nvSpPr>
          <p:cNvPr id="17" name="Shape 15"/>
          <p:cNvSpPr/>
          <p:nvPr/>
        </p:nvSpPr>
        <p:spPr>
          <a:xfrm>
            <a:off x="8951976" y="1783080"/>
            <a:ext cx="73152" cy="1280160"/>
          </a:xfrm>
          <a:prstGeom prst="rect">
            <a:avLst/>
          </a:prstGeom>
          <a:solidFill>
            <a:srgbClr val="8FA998"/>
          </a:solidFill>
          <a:ln/>
        </p:spPr>
      </p:sp>
      <p:sp>
        <p:nvSpPr>
          <p:cNvPr id="18" name="Text 16"/>
          <p:cNvSpPr/>
          <p:nvPr/>
        </p:nvSpPr>
        <p:spPr>
          <a:xfrm>
            <a:off x="9134856" y="1874520"/>
            <a:ext cx="2194560" cy="594360"/>
          </a:xfrm>
          <a:prstGeom prst="rect">
            <a:avLst/>
          </a:prstGeom>
          <a:noFill/>
          <a:ln/>
        </p:spPr>
        <p:txBody>
          <a:bodyPr wrap="square" lIns="0" tIns="0" rIns="0" bIns="0" rtlCol="0" anchor="ctr"/>
          <a:lstStyle/>
          <a:p>
            <a:pPr indent="0" marL="0">
              <a:buNone/>
            </a:pPr>
            <a:r>
              <a:rPr lang="en-US" sz="2600" b="1" dirty="0">
                <a:solidFill>
                  <a:srgbClr val="8FA998"/>
                </a:solidFill>
                <a:latin typeface="Bookman Old Style" pitchFamily="34" charset="0"/>
                <a:ea typeface="Bookman Old Style" pitchFamily="34" charset="-122"/>
                <a:cs typeface="Bookman Old Style" pitchFamily="34" charset="-120"/>
              </a:rPr>
              <a:t>30,156</a:t>
            </a:r>
            <a:endParaRPr lang="en-US" sz="2600" dirty="0"/>
          </a:p>
        </p:txBody>
      </p:sp>
      <p:sp>
        <p:nvSpPr>
          <p:cNvPr id="19" name="Text 17"/>
          <p:cNvSpPr/>
          <p:nvPr/>
        </p:nvSpPr>
        <p:spPr>
          <a:xfrm>
            <a:off x="9134856" y="2450592"/>
            <a:ext cx="2286000" cy="457200"/>
          </a:xfrm>
          <a:prstGeom prst="rect">
            <a:avLst/>
          </a:prstGeom>
          <a:noFill/>
          <a:ln/>
        </p:spPr>
        <p:txBody>
          <a:bodyPr wrap="square" lIns="0" tIns="0" rIns="0" bIns="0" rtlCol="0" anchor="ctr"/>
          <a:lstStyle/>
          <a:p>
            <a:pPr indent="0" marL="0">
              <a:buNone/>
            </a:pPr>
            <a:r>
              <a:rPr lang="en-US" sz="1100" dirty="0">
                <a:solidFill>
                  <a:srgbClr val="6B5B63"/>
                </a:solidFill>
                <a:latin typeface="Calibri" pitchFamily="34" charset="0"/>
                <a:ea typeface="Calibri" pitchFamily="34" charset="-122"/>
                <a:cs typeface="Calibri" pitchFamily="34" charset="-120"/>
              </a:rPr>
              <a:t>Post-Cleaning Rows</a:t>
            </a:r>
            <a:endParaRPr lang="en-US" sz="1100" dirty="0"/>
          </a:p>
        </p:txBody>
      </p:sp>
      <p:sp>
        <p:nvSpPr>
          <p:cNvPr id="20" name="Text 18"/>
          <p:cNvSpPr/>
          <p:nvPr/>
        </p:nvSpPr>
        <p:spPr>
          <a:xfrm>
            <a:off x="777240" y="3291840"/>
            <a:ext cx="5486400" cy="365760"/>
          </a:xfrm>
          <a:prstGeom prst="rect">
            <a:avLst/>
          </a:prstGeom>
          <a:noFill/>
          <a:ln/>
        </p:spPr>
        <p:txBody>
          <a:bodyPr wrap="square" rtlCol="0" anchor="ctr"/>
          <a:lstStyle/>
          <a:p>
            <a:pPr indent="0" marL="0">
              <a:buNone/>
            </a:pPr>
            <a:r>
              <a:rPr lang="en-US" sz="1600" b="1" dirty="0">
                <a:solidFill>
                  <a:srgbClr val="2B1B24"/>
                </a:solidFill>
                <a:latin typeface="Bookman Old Style" pitchFamily="34" charset="0"/>
                <a:ea typeface="Bookman Old Style" pitchFamily="34" charset="-122"/>
                <a:cs typeface="Bookman Old Style" pitchFamily="34" charset="-120"/>
              </a:rPr>
              <a:t>Key Field Categories</a:t>
            </a:r>
            <a:endParaRPr lang="en-US" sz="1600" dirty="0"/>
          </a:p>
        </p:txBody>
      </p:sp>
      <p:sp>
        <p:nvSpPr>
          <p:cNvPr id="21" name="Text 19"/>
          <p:cNvSpPr/>
          <p:nvPr/>
        </p:nvSpPr>
        <p:spPr>
          <a:xfrm>
            <a:off x="777240" y="3749040"/>
            <a:ext cx="5852160" cy="384048"/>
          </a:xfrm>
          <a:prstGeom prst="rect">
            <a:avLst/>
          </a:prstGeom>
          <a:noFill/>
          <a:ln/>
        </p:spPr>
        <p:txBody>
          <a:bodyPr wrap="square" lIns="0" tIns="0" rIns="0" bIns="0" rtlCol="0" anchor="ctr"/>
          <a:lstStyle/>
          <a:p>
            <a:pPr indent="0" marL="0">
              <a:buNone/>
            </a:pPr>
            <a:r>
              <a:rPr lang="en-US" sz="1080" b="1" dirty="0">
                <a:solidFill>
                  <a:srgbClr val="7B2D5E"/>
                </a:solidFill>
                <a:latin typeface="Calibri" pitchFamily="34" charset="0"/>
                <a:ea typeface="Calibri" pitchFamily="34" charset="-122"/>
                <a:cs typeface="Calibri" pitchFamily="34" charset="-120"/>
              </a:rPr>
              <a:t>Identity &amp; Location  </a:t>
            </a:r>
            <a:pPr indent="0" marL="0">
              <a:buNone/>
            </a:pPr>
            <a:r>
              <a:rPr lang="en-US" sz="1080" dirty="0">
                <a:solidFill>
                  <a:srgbClr val="6B5B63"/>
                </a:solidFill>
                <a:latin typeface="Calibri" pitchFamily="34" charset="0"/>
                <a:ea typeface="Calibri" pitchFamily="34" charset="-122"/>
                <a:cs typeface="Calibri" pitchFamily="34" charset="-120"/>
              </a:rPr>
              <a:t>PG_Name, Area, Zone, Latitude/Longitude, Pincode</a:t>
            </a:r>
            <a:endParaRPr lang="en-US" sz="1080" dirty="0"/>
          </a:p>
        </p:txBody>
      </p:sp>
      <p:sp>
        <p:nvSpPr>
          <p:cNvPr id="22" name="Text 20"/>
          <p:cNvSpPr/>
          <p:nvPr/>
        </p:nvSpPr>
        <p:spPr>
          <a:xfrm>
            <a:off x="777240" y="4169664"/>
            <a:ext cx="5852160" cy="384048"/>
          </a:xfrm>
          <a:prstGeom prst="rect">
            <a:avLst/>
          </a:prstGeom>
          <a:noFill/>
          <a:ln/>
        </p:spPr>
        <p:txBody>
          <a:bodyPr wrap="square" lIns="0" tIns="0" rIns="0" bIns="0" rtlCol="0" anchor="ctr"/>
          <a:lstStyle/>
          <a:p>
            <a:pPr indent="0" marL="0">
              <a:buNone/>
            </a:pPr>
            <a:r>
              <a:rPr lang="en-US" sz="1080" b="1" dirty="0">
                <a:solidFill>
                  <a:srgbClr val="7B2D5E"/>
                </a:solidFill>
                <a:latin typeface="Calibri" pitchFamily="34" charset="0"/>
                <a:ea typeface="Calibri" pitchFamily="34" charset="-122"/>
                <a:cs typeface="Calibri" pitchFamily="34" charset="-120"/>
              </a:rPr>
              <a:t>Pricing  </a:t>
            </a:r>
            <a:pPr indent="0" marL="0">
              <a:buNone/>
            </a:pPr>
            <a:r>
              <a:rPr lang="en-US" sz="1080" dirty="0">
                <a:solidFill>
                  <a:srgbClr val="6B5B63"/>
                </a:solidFill>
                <a:latin typeface="Calibri" pitchFamily="34" charset="0"/>
                <a:ea typeface="Calibri" pitchFamily="34" charset="-122"/>
                <a:cs typeface="Calibri" pitchFamily="34" charset="-120"/>
              </a:rPr>
              <a:t>Monthly_Rent, Security_Deposit, Electricity/Water Charges, Maintenance_Fee</a:t>
            </a:r>
            <a:endParaRPr lang="en-US" sz="1080" dirty="0"/>
          </a:p>
        </p:txBody>
      </p:sp>
      <p:sp>
        <p:nvSpPr>
          <p:cNvPr id="23" name="Text 21"/>
          <p:cNvSpPr/>
          <p:nvPr/>
        </p:nvSpPr>
        <p:spPr>
          <a:xfrm>
            <a:off x="777240" y="4590288"/>
            <a:ext cx="5852160" cy="384048"/>
          </a:xfrm>
          <a:prstGeom prst="rect">
            <a:avLst/>
          </a:prstGeom>
          <a:noFill/>
          <a:ln/>
        </p:spPr>
        <p:txBody>
          <a:bodyPr wrap="square" lIns="0" tIns="0" rIns="0" bIns="0" rtlCol="0" anchor="ctr"/>
          <a:lstStyle/>
          <a:p>
            <a:pPr indent="0" marL="0">
              <a:buNone/>
            </a:pPr>
            <a:r>
              <a:rPr lang="en-US" sz="1080" b="1" dirty="0">
                <a:solidFill>
                  <a:srgbClr val="7B2D5E"/>
                </a:solidFill>
                <a:latin typeface="Calibri" pitchFamily="34" charset="0"/>
                <a:ea typeface="Calibri" pitchFamily="34" charset="-122"/>
                <a:cs typeface="Calibri" pitchFamily="34" charset="-120"/>
              </a:rPr>
              <a:t>Experience  </a:t>
            </a:r>
            <a:pPr indent="0" marL="0">
              <a:buNone/>
            </a:pPr>
            <a:r>
              <a:rPr lang="en-US" sz="1080" dirty="0">
                <a:solidFill>
                  <a:srgbClr val="6B5B63"/>
                </a:solidFill>
                <a:latin typeface="Calibri" pitchFamily="34" charset="0"/>
                <a:ea typeface="Calibri" pitchFamily="34" charset="-122"/>
                <a:cs typeface="Calibri" pitchFamily="34" charset="-120"/>
              </a:rPr>
              <a:t>Google_Rating, Review_Count, Safety/Commute/Value Scores</a:t>
            </a:r>
            <a:endParaRPr lang="en-US" sz="1080" dirty="0"/>
          </a:p>
        </p:txBody>
      </p:sp>
      <p:sp>
        <p:nvSpPr>
          <p:cNvPr id="24" name="Text 22"/>
          <p:cNvSpPr/>
          <p:nvPr/>
        </p:nvSpPr>
        <p:spPr>
          <a:xfrm>
            <a:off x="777240" y="5010912"/>
            <a:ext cx="5852160" cy="384048"/>
          </a:xfrm>
          <a:prstGeom prst="rect">
            <a:avLst/>
          </a:prstGeom>
          <a:noFill/>
          <a:ln/>
        </p:spPr>
        <p:txBody>
          <a:bodyPr wrap="square" lIns="0" tIns="0" rIns="0" bIns="0" rtlCol="0" anchor="ctr"/>
          <a:lstStyle/>
          <a:p>
            <a:pPr indent="0" marL="0">
              <a:buNone/>
            </a:pPr>
            <a:r>
              <a:rPr lang="en-US" sz="1080" b="1" dirty="0">
                <a:solidFill>
                  <a:srgbClr val="7B2D5E"/>
                </a:solidFill>
                <a:latin typeface="Calibri" pitchFamily="34" charset="0"/>
                <a:ea typeface="Calibri" pitchFamily="34" charset="-122"/>
                <a:cs typeface="Calibri" pitchFamily="34" charset="-120"/>
              </a:rPr>
              <a:t>Proximity  </a:t>
            </a:r>
            <a:pPr indent="0" marL="0">
              <a:buNone/>
            </a:pPr>
            <a:r>
              <a:rPr lang="en-US" sz="1080" dirty="0">
                <a:solidFill>
                  <a:srgbClr val="6B5B63"/>
                </a:solidFill>
                <a:latin typeface="Calibri" pitchFamily="34" charset="0"/>
                <a:ea typeface="Calibri" pitchFamily="34" charset="-122"/>
                <a:cs typeface="Calibri" pitchFamily="34" charset="-120"/>
              </a:rPr>
              <a:t>Nearest_Metro, Distance_to_Metro_km, Nearest_IT_Park</a:t>
            </a:r>
            <a:endParaRPr lang="en-US" sz="1080" dirty="0"/>
          </a:p>
        </p:txBody>
      </p:sp>
      <p:sp>
        <p:nvSpPr>
          <p:cNvPr id="25" name="Text 23"/>
          <p:cNvSpPr/>
          <p:nvPr/>
        </p:nvSpPr>
        <p:spPr>
          <a:xfrm>
            <a:off x="777240" y="5431536"/>
            <a:ext cx="5852160" cy="384048"/>
          </a:xfrm>
          <a:prstGeom prst="rect">
            <a:avLst/>
          </a:prstGeom>
          <a:noFill/>
          <a:ln/>
        </p:spPr>
        <p:txBody>
          <a:bodyPr wrap="square" lIns="0" tIns="0" rIns="0" bIns="0" rtlCol="0" anchor="ctr"/>
          <a:lstStyle/>
          <a:p>
            <a:pPr indent="0" marL="0">
              <a:buNone/>
            </a:pPr>
            <a:r>
              <a:rPr lang="en-US" sz="1080" b="1" dirty="0">
                <a:solidFill>
                  <a:srgbClr val="7B2D5E"/>
                </a:solidFill>
                <a:latin typeface="Calibri" pitchFamily="34" charset="0"/>
                <a:ea typeface="Calibri" pitchFamily="34" charset="-122"/>
                <a:cs typeface="Calibri" pitchFamily="34" charset="-120"/>
              </a:rPr>
              <a:t>Amenities (14 flags)  </a:t>
            </a:r>
            <a:pPr indent="0" marL="0">
              <a:buNone/>
            </a:pPr>
            <a:r>
              <a:rPr lang="en-US" sz="1080" dirty="0">
                <a:solidFill>
                  <a:srgbClr val="6B5B63"/>
                </a:solidFill>
                <a:latin typeface="Calibri" pitchFamily="34" charset="0"/>
                <a:ea typeface="Calibri" pitchFamily="34" charset="-122"/>
                <a:cs typeface="Calibri" pitchFamily="34" charset="-120"/>
              </a:rPr>
              <a:t>WiFi, AC, Gym, Lift, CCTV, Laundry, Housekeeping &amp; more</a:t>
            </a:r>
            <a:endParaRPr lang="en-US" sz="1080" dirty="0"/>
          </a:p>
        </p:txBody>
      </p:sp>
      <p:sp>
        <p:nvSpPr>
          <p:cNvPr id="26" name="Shape 24"/>
          <p:cNvSpPr/>
          <p:nvPr/>
        </p:nvSpPr>
        <p:spPr>
          <a:xfrm>
            <a:off x="7086600" y="1783080"/>
            <a:ext cx="4343400" cy="4297680"/>
          </a:xfrm>
          <a:prstGeom prst="roundRect">
            <a:avLst>
              <a:gd name="adj" fmla="val 2553"/>
            </a:avLst>
          </a:prstGeom>
          <a:solidFill>
            <a:srgbClr val="3D1730"/>
          </a:solidFill>
          <a:ln/>
        </p:spPr>
      </p:sp>
      <p:sp>
        <p:nvSpPr>
          <p:cNvPr id="27" name="Text 25"/>
          <p:cNvSpPr/>
          <p:nvPr/>
        </p:nvSpPr>
        <p:spPr>
          <a:xfrm>
            <a:off x="7406640" y="1965960"/>
            <a:ext cx="3657600" cy="320040"/>
          </a:xfrm>
          <a:prstGeom prst="rect">
            <a:avLst/>
          </a:prstGeom>
          <a:noFill/>
          <a:ln/>
        </p:spPr>
        <p:txBody>
          <a:bodyPr wrap="square" rtlCol="0" anchor="ctr"/>
          <a:lstStyle/>
          <a:p>
            <a:pPr indent="0" marL="0">
              <a:buNone/>
            </a:pPr>
            <a:r>
              <a:rPr lang="en-US" sz="1100" b="1" spc="200" kern="0" dirty="0">
                <a:solidFill>
                  <a:srgbClr val="F4B942"/>
                </a:solidFill>
                <a:latin typeface="Calibri" pitchFamily="34" charset="0"/>
                <a:ea typeface="Calibri" pitchFamily="34" charset="-122"/>
                <a:cs typeface="Calibri" pitchFamily="34" charset="-120"/>
              </a:rPr>
              <a:t>SAMPLE RECORD</a:t>
            </a:r>
            <a:endParaRPr lang="en-US" sz="1100" dirty="0"/>
          </a:p>
        </p:txBody>
      </p:sp>
      <p:sp>
        <p:nvSpPr>
          <p:cNvPr id="28" name="Text 26"/>
          <p:cNvSpPr/>
          <p:nvPr/>
        </p:nvSpPr>
        <p:spPr>
          <a:xfrm>
            <a:off x="7406640" y="2423160"/>
            <a:ext cx="1828800" cy="347472"/>
          </a:xfrm>
          <a:prstGeom prst="rect">
            <a:avLst/>
          </a:prstGeom>
          <a:noFill/>
          <a:ln/>
        </p:spPr>
        <p:txBody>
          <a:bodyPr wrap="square" lIns="0" tIns="0" rIns="0" bIns="0" rtlCol="0" anchor="ctr"/>
          <a:lstStyle/>
          <a:p>
            <a:pPr indent="0" marL="0">
              <a:buNone/>
            </a:pPr>
            <a:r>
              <a:rPr lang="en-US" sz="1050" dirty="0">
                <a:solidFill>
                  <a:srgbClr val="C7A9BC"/>
                </a:solidFill>
                <a:latin typeface="Calibri" pitchFamily="34" charset="0"/>
                <a:ea typeface="Calibri" pitchFamily="34" charset="-122"/>
                <a:cs typeface="Calibri" pitchFamily="34" charset="-120"/>
              </a:rPr>
              <a:t>Area</a:t>
            </a:r>
            <a:endParaRPr lang="en-US" sz="1050" dirty="0"/>
          </a:p>
        </p:txBody>
      </p:sp>
      <p:sp>
        <p:nvSpPr>
          <p:cNvPr id="29" name="Text 27"/>
          <p:cNvSpPr/>
          <p:nvPr/>
        </p:nvSpPr>
        <p:spPr>
          <a:xfrm>
            <a:off x="9189720" y="2423160"/>
            <a:ext cx="2103120" cy="347472"/>
          </a:xfrm>
          <a:prstGeom prst="rect">
            <a:avLst/>
          </a:prstGeom>
          <a:noFill/>
          <a:ln/>
        </p:spPr>
        <p:txBody>
          <a:bodyPr wrap="square" lIns="0" tIns="0" rIns="0" bIns="0" rtlCol="0" anchor="ctr"/>
          <a:lstStyle/>
          <a:p>
            <a:pPr algn="r" indent="0" marL="0">
              <a:buNone/>
            </a:pPr>
            <a:r>
              <a:rPr lang="en-US" sz="1050" b="1" dirty="0">
                <a:solidFill>
                  <a:srgbClr val="FFFFFF"/>
                </a:solidFill>
                <a:latin typeface="Calibri" pitchFamily="34" charset="0"/>
                <a:ea typeface="Calibri" pitchFamily="34" charset="-122"/>
                <a:cs typeface="Calibri" pitchFamily="34" charset="-120"/>
              </a:rPr>
              <a:t>HSR Layout</a:t>
            </a:r>
            <a:endParaRPr lang="en-US" sz="1050" dirty="0"/>
          </a:p>
        </p:txBody>
      </p:sp>
      <p:sp>
        <p:nvSpPr>
          <p:cNvPr id="30" name="Shape 28"/>
          <p:cNvSpPr/>
          <p:nvPr/>
        </p:nvSpPr>
        <p:spPr>
          <a:xfrm>
            <a:off x="7406640" y="2752344"/>
            <a:ext cx="3886200" cy="0"/>
          </a:xfrm>
          <a:prstGeom prst="line">
            <a:avLst/>
          </a:prstGeom>
          <a:noFill/>
          <a:ln w="9525">
            <a:solidFill>
              <a:srgbClr val="5A2148"/>
            </a:solidFill>
            <a:prstDash val="solid"/>
          </a:ln>
        </p:spPr>
      </p:sp>
      <p:sp>
        <p:nvSpPr>
          <p:cNvPr id="31" name="Text 29"/>
          <p:cNvSpPr/>
          <p:nvPr/>
        </p:nvSpPr>
        <p:spPr>
          <a:xfrm>
            <a:off x="7406640" y="2825496"/>
            <a:ext cx="1828800" cy="347472"/>
          </a:xfrm>
          <a:prstGeom prst="rect">
            <a:avLst/>
          </a:prstGeom>
          <a:noFill/>
          <a:ln/>
        </p:spPr>
        <p:txBody>
          <a:bodyPr wrap="square" lIns="0" tIns="0" rIns="0" bIns="0" rtlCol="0" anchor="ctr"/>
          <a:lstStyle/>
          <a:p>
            <a:pPr indent="0" marL="0">
              <a:buNone/>
            </a:pPr>
            <a:r>
              <a:rPr lang="en-US" sz="1050" dirty="0">
                <a:solidFill>
                  <a:srgbClr val="C7A9BC"/>
                </a:solidFill>
                <a:latin typeface="Calibri" pitchFamily="34" charset="0"/>
                <a:ea typeface="Calibri" pitchFamily="34" charset="-122"/>
                <a:cs typeface="Calibri" pitchFamily="34" charset="-120"/>
              </a:rPr>
              <a:t>Room Type</a:t>
            </a:r>
            <a:endParaRPr lang="en-US" sz="1050" dirty="0"/>
          </a:p>
        </p:txBody>
      </p:sp>
      <p:sp>
        <p:nvSpPr>
          <p:cNvPr id="32" name="Text 30"/>
          <p:cNvSpPr/>
          <p:nvPr/>
        </p:nvSpPr>
        <p:spPr>
          <a:xfrm>
            <a:off x="9189720" y="2825496"/>
            <a:ext cx="2103120" cy="347472"/>
          </a:xfrm>
          <a:prstGeom prst="rect">
            <a:avLst/>
          </a:prstGeom>
          <a:noFill/>
          <a:ln/>
        </p:spPr>
        <p:txBody>
          <a:bodyPr wrap="square" lIns="0" tIns="0" rIns="0" bIns="0" rtlCol="0" anchor="ctr"/>
          <a:lstStyle/>
          <a:p>
            <a:pPr algn="r" indent="0" marL="0">
              <a:buNone/>
            </a:pPr>
            <a:r>
              <a:rPr lang="en-US" sz="1050" b="1" dirty="0">
                <a:solidFill>
                  <a:srgbClr val="FFFFFF"/>
                </a:solidFill>
                <a:latin typeface="Calibri" pitchFamily="34" charset="0"/>
                <a:ea typeface="Calibri" pitchFamily="34" charset="-122"/>
                <a:cs typeface="Calibri" pitchFamily="34" charset="-120"/>
              </a:rPr>
              <a:t>Double Sharing</a:t>
            </a:r>
            <a:endParaRPr lang="en-US" sz="1050" dirty="0"/>
          </a:p>
        </p:txBody>
      </p:sp>
      <p:sp>
        <p:nvSpPr>
          <p:cNvPr id="33" name="Shape 31"/>
          <p:cNvSpPr/>
          <p:nvPr/>
        </p:nvSpPr>
        <p:spPr>
          <a:xfrm>
            <a:off x="7406640" y="3154680"/>
            <a:ext cx="3886200" cy="0"/>
          </a:xfrm>
          <a:prstGeom prst="line">
            <a:avLst/>
          </a:prstGeom>
          <a:noFill/>
          <a:ln w="9525">
            <a:solidFill>
              <a:srgbClr val="5A2148"/>
            </a:solidFill>
            <a:prstDash val="solid"/>
          </a:ln>
        </p:spPr>
      </p:sp>
      <p:sp>
        <p:nvSpPr>
          <p:cNvPr id="34" name="Text 32"/>
          <p:cNvSpPr/>
          <p:nvPr/>
        </p:nvSpPr>
        <p:spPr>
          <a:xfrm>
            <a:off x="7406640" y="3227832"/>
            <a:ext cx="1828800" cy="347472"/>
          </a:xfrm>
          <a:prstGeom prst="rect">
            <a:avLst/>
          </a:prstGeom>
          <a:noFill/>
          <a:ln/>
        </p:spPr>
        <p:txBody>
          <a:bodyPr wrap="square" lIns="0" tIns="0" rIns="0" bIns="0" rtlCol="0" anchor="ctr"/>
          <a:lstStyle/>
          <a:p>
            <a:pPr indent="0" marL="0">
              <a:buNone/>
            </a:pPr>
            <a:r>
              <a:rPr lang="en-US" sz="1050" dirty="0">
                <a:solidFill>
                  <a:srgbClr val="C7A9BC"/>
                </a:solidFill>
                <a:latin typeface="Calibri" pitchFamily="34" charset="0"/>
                <a:ea typeface="Calibri" pitchFamily="34" charset="-122"/>
                <a:cs typeface="Calibri" pitchFamily="34" charset="-120"/>
              </a:rPr>
              <a:t>Monthly Rent</a:t>
            </a:r>
            <a:endParaRPr lang="en-US" sz="1050" dirty="0"/>
          </a:p>
        </p:txBody>
      </p:sp>
      <p:sp>
        <p:nvSpPr>
          <p:cNvPr id="35" name="Text 33"/>
          <p:cNvSpPr/>
          <p:nvPr/>
        </p:nvSpPr>
        <p:spPr>
          <a:xfrm>
            <a:off x="9189720" y="3227832"/>
            <a:ext cx="2103120" cy="347472"/>
          </a:xfrm>
          <a:prstGeom prst="rect">
            <a:avLst/>
          </a:prstGeom>
          <a:noFill/>
          <a:ln/>
        </p:spPr>
        <p:txBody>
          <a:bodyPr wrap="square" lIns="0" tIns="0" rIns="0" bIns="0" rtlCol="0" anchor="ctr"/>
          <a:lstStyle/>
          <a:p>
            <a:pPr algn="r" indent="0" marL="0">
              <a:buNone/>
            </a:pPr>
            <a:r>
              <a:rPr lang="en-US" sz="1050" b="1" dirty="0">
                <a:solidFill>
                  <a:srgbClr val="FFFFFF"/>
                </a:solidFill>
                <a:latin typeface="Calibri" pitchFamily="34" charset="0"/>
                <a:ea typeface="Calibri" pitchFamily="34" charset="-122"/>
                <a:cs typeface="Calibri" pitchFamily="34" charset="-120"/>
              </a:rPr>
              <a:t>Rs 24,500</a:t>
            </a:r>
            <a:endParaRPr lang="en-US" sz="1050" dirty="0"/>
          </a:p>
        </p:txBody>
      </p:sp>
      <p:sp>
        <p:nvSpPr>
          <p:cNvPr id="36" name="Shape 34"/>
          <p:cNvSpPr/>
          <p:nvPr/>
        </p:nvSpPr>
        <p:spPr>
          <a:xfrm>
            <a:off x="7406640" y="3557016"/>
            <a:ext cx="3886200" cy="0"/>
          </a:xfrm>
          <a:prstGeom prst="line">
            <a:avLst/>
          </a:prstGeom>
          <a:noFill/>
          <a:ln w="9525">
            <a:solidFill>
              <a:srgbClr val="5A2148"/>
            </a:solidFill>
            <a:prstDash val="solid"/>
          </a:ln>
        </p:spPr>
      </p:sp>
      <p:sp>
        <p:nvSpPr>
          <p:cNvPr id="37" name="Text 35"/>
          <p:cNvSpPr/>
          <p:nvPr/>
        </p:nvSpPr>
        <p:spPr>
          <a:xfrm>
            <a:off x="7406640" y="3630168"/>
            <a:ext cx="1828800" cy="347472"/>
          </a:xfrm>
          <a:prstGeom prst="rect">
            <a:avLst/>
          </a:prstGeom>
          <a:noFill/>
          <a:ln/>
        </p:spPr>
        <p:txBody>
          <a:bodyPr wrap="square" lIns="0" tIns="0" rIns="0" bIns="0" rtlCol="0" anchor="ctr"/>
          <a:lstStyle/>
          <a:p>
            <a:pPr indent="0" marL="0">
              <a:buNone/>
            </a:pPr>
            <a:r>
              <a:rPr lang="en-US" sz="1050" dirty="0">
                <a:solidFill>
                  <a:srgbClr val="C7A9BC"/>
                </a:solidFill>
                <a:latin typeface="Calibri" pitchFamily="34" charset="0"/>
                <a:ea typeface="Calibri" pitchFamily="34" charset="-122"/>
                <a:cs typeface="Calibri" pitchFamily="34" charset="-120"/>
              </a:rPr>
              <a:t>Google Rating</a:t>
            </a:r>
            <a:endParaRPr lang="en-US" sz="1050" dirty="0"/>
          </a:p>
        </p:txBody>
      </p:sp>
      <p:sp>
        <p:nvSpPr>
          <p:cNvPr id="38" name="Text 36"/>
          <p:cNvSpPr/>
          <p:nvPr/>
        </p:nvSpPr>
        <p:spPr>
          <a:xfrm>
            <a:off x="9189720" y="3630168"/>
            <a:ext cx="2103120" cy="347472"/>
          </a:xfrm>
          <a:prstGeom prst="rect">
            <a:avLst/>
          </a:prstGeom>
          <a:noFill/>
          <a:ln/>
        </p:spPr>
        <p:txBody>
          <a:bodyPr wrap="square" lIns="0" tIns="0" rIns="0" bIns="0" rtlCol="0" anchor="ctr"/>
          <a:lstStyle/>
          <a:p>
            <a:pPr algn="r" indent="0" marL="0">
              <a:buNone/>
            </a:pPr>
            <a:r>
              <a:rPr lang="en-US" sz="1050" b="1" dirty="0">
                <a:solidFill>
                  <a:srgbClr val="FFFFFF"/>
                </a:solidFill>
                <a:latin typeface="Calibri" pitchFamily="34" charset="0"/>
                <a:ea typeface="Calibri" pitchFamily="34" charset="-122"/>
                <a:cs typeface="Calibri" pitchFamily="34" charset="-120"/>
              </a:rPr>
              <a:t>4.2 ★  (86 reviews)</a:t>
            </a:r>
            <a:endParaRPr lang="en-US" sz="1050" dirty="0"/>
          </a:p>
        </p:txBody>
      </p:sp>
      <p:sp>
        <p:nvSpPr>
          <p:cNvPr id="39" name="Shape 37"/>
          <p:cNvSpPr/>
          <p:nvPr/>
        </p:nvSpPr>
        <p:spPr>
          <a:xfrm>
            <a:off x="7406640" y="3959352"/>
            <a:ext cx="3886200" cy="0"/>
          </a:xfrm>
          <a:prstGeom prst="line">
            <a:avLst/>
          </a:prstGeom>
          <a:noFill/>
          <a:ln w="9525">
            <a:solidFill>
              <a:srgbClr val="5A2148"/>
            </a:solidFill>
            <a:prstDash val="solid"/>
          </a:ln>
        </p:spPr>
      </p:sp>
      <p:sp>
        <p:nvSpPr>
          <p:cNvPr id="40" name="Text 38"/>
          <p:cNvSpPr/>
          <p:nvPr/>
        </p:nvSpPr>
        <p:spPr>
          <a:xfrm>
            <a:off x="7406640" y="4032504"/>
            <a:ext cx="1828800" cy="347472"/>
          </a:xfrm>
          <a:prstGeom prst="rect">
            <a:avLst/>
          </a:prstGeom>
          <a:noFill/>
          <a:ln/>
        </p:spPr>
        <p:txBody>
          <a:bodyPr wrap="square" lIns="0" tIns="0" rIns="0" bIns="0" rtlCol="0" anchor="ctr"/>
          <a:lstStyle/>
          <a:p>
            <a:pPr indent="0" marL="0">
              <a:buNone/>
            </a:pPr>
            <a:r>
              <a:rPr lang="en-US" sz="1050" dirty="0">
                <a:solidFill>
                  <a:srgbClr val="C7A9BC"/>
                </a:solidFill>
                <a:latin typeface="Calibri" pitchFamily="34" charset="0"/>
                <a:ea typeface="Calibri" pitchFamily="34" charset="-122"/>
                <a:cs typeface="Calibri" pitchFamily="34" charset="-120"/>
              </a:rPr>
              <a:t>Nearest Metro</a:t>
            </a:r>
            <a:endParaRPr lang="en-US" sz="1050" dirty="0"/>
          </a:p>
        </p:txBody>
      </p:sp>
      <p:sp>
        <p:nvSpPr>
          <p:cNvPr id="41" name="Text 39"/>
          <p:cNvSpPr/>
          <p:nvPr/>
        </p:nvSpPr>
        <p:spPr>
          <a:xfrm>
            <a:off x="9189720" y="4032504"/>
            <a:ext cx="2103120" cy="347472"/>
          </a:xfrm>
          <a:prstGeom prst="rect">
            <a:avLst/>
          </a:prstGeom>
          <a:noFill/>
          <a:ln/>
        </p:spPr>
        <p:txBody>
          <a:bodyPr wrap="square" lIns="0" tIns="0" rIns="0" bIns="0" rtlCol="0" anchor="ctr"/>
          <a:lstStyle/>
          <a:p>
            <a:pPr algn="r" indent="0" marL="0">
              <a:buNone/>
            </a:pPr>
            <a:r>
              <a:rPr lang="en-US" sz="1050" b="1" dirty="0">
                <a:solidFill>
                  <a:srgbClr val="FFFFFF"/>
                </a:solidFill>
                <a:latin typeface="Calibri" pitchFamily="34" charset="0"/>
                <a:ea typeface="Calibri" pitchFamily="34" charset="-122"/>
                <a:cs typeface="Calibri" pitchFamily="34" charset="-120"/>
              </a:rPr>
              <a:t>1.8 km</a:t>
            </a:r>
            <a:endParaRPr lang="en-US" sz="1050" dirty="0"/>
          </a:p>
        </p:txBody>
      </p:sp>
      <p:sp>
        <p:nvSpPr>
          <p:cNvPr id="42" name="Shape 40"/>
          <p:cNvSpPr/>
          <p:nvPr/>
        </p:nvSpPr>
        <p:spPr>
          <a:xfrm>
            <a:off x="7406640" y="4361688"/>
            <a:ext cx="3886200" cy="0"/>
          </a:xfrm>
          <a:prstGeom prst="line">
            <a:avLst/>
          </a:prstGeom>
          <a:noFill/>
          <a:ln w="9525">
            <a:solidFill>
              <a:srgbClr val="5A2148"/>
            </a:solidFill>
            <a:prstDash val="solid"/>
          </a:ln>
        </p:spPr>
      </p:sp>
      <p:sp>
        <p:nvSpPr>
          <p:cNvPr id="43" name="Text 41"/>
          <p:cNvSpPr/>
          <p:nvPr/>
        </p:nvSpPr>
        <p:spPr>
          <a:xfrm>
            <a:off x="7406640" y="4434840"/>
            <a:ext cx="1828800" cy="347472"/>
          </a:xfrm>
          <a:prstGeom prst="rect">
            <a:avLst/>
          </a:prstGeom>
          <a:noFill/>
          <a:ln/>
        </p:spPr>
        <p:txBody>
          <a:bodyPr wrap="square" lIns="0" tIns="0" rIns="0" bIns="0" rtlCol="0" anchor="ctr"/>
          <a:lstStyle/>
          <a:p>
            <a:pPr indent="0" marL="0">
              <a:buNone/>
            </a:pPr>
            <a:r>
              <a:rPr lang="en-US" sz="1050" dirty="0">
                <a:solidFill>
                  <a:srgbClr val="C7A9BC"/>
                </a:solidFill>
                <a:latin typeface="Calibri" pitchFamily="34" charset="0"/>
                <a:ea typeface="Calibri" pitchFamily="34" charset="-122"/>
                <a:cs typeface="Calibri" pitchFamily="34" charset="-120"/>
              </a:rPr>
              <a:t>Occupancy</a:t>
            </a:r>
            <a:endParaRPr lang="en-US" sz="1050" dirty="0"/>
          </a:p>
        </p:txBody>
      </p:sp>
      <p:sp>
        <p:nvSpPr>
          <p:cNvPr id="44" name="Text 42"/>
          <p:cNvSpPr/>
          <p:nvPr/>
        </p:nvSpPr>
        <p:spPr>
          <a:xfrm>
            <a:off x="9189720" y="4434840"/>
            <a:ext cx="2103120" cy="347472"/>
          </a:xfrm>
          <a:prstGeom prst="rect">
            <a:avLst/>
          </a:prstGeom>
          <a:noFill/>
          <a:ln/>
        </p:spPr>
        <p:txBody>
          <a:bodyPr wrap="square" lIns="0" tIns="0" rIns="0" bIns="0" rtlCol="0" anchor="ctr"/>
          <a:lstStyle/>
          <a:p>
            <a:pPr algn="r" indent="0" marL="0">
              <a:buNone/>
            </a:pPr>
            <a:r>
              <a:rPr lang="en-US" sz="1050" b="1" dirty="0">
                <a:solidFill>
                  <a:srgbClr val="FFFFFF"/>
                </a:solidFill>
                <a:latin typeface="Calibri" pitchFamily="34" charset="0"/>
                <a:ea typeface="Calibri" pitchFamily="34" charset="-122"/>
                <a:cs typeface="Calibri" pitchFamily="34" charset="-120"/>
              </a:rPr>
              <a:t>Almost Full</a:t>
            </a:r>
            <a:endParaRPr lang="en-US" sz="1050" dirty="0"/>
          </a:p>
        </p:txBody>
      </p:sp>
      <p:sp>
        <p:nvSpPr>
          <p:cNvPr id="45" name="Shape 43"/>
          <p:cNvSpPr/>
          <p:nvPr/>
        </p:nvSpPr>
        <p:spPr>
          <a:xfrm>
            <a:off x="7406640" y="4764024"/>
            <a:ext cx="3886200" cy="0"/>
          </a:xfrm>
          <a:prstGeom prst="line">
            <a:avLst/>
          </a:prstGeom>
          <a:noFill/>
          <a:ln w="9525">
            <a:solidFill>
              <a:srgbClr val="5A2148"/>
            </a:solidFill>
            <a:prstDash val="solid"/>
          </a:ln>
        </p:spPr>
      </p:sp>
      <p:sp>
        <p:nvSpPr>
          <p:cNvPr id="46" name="Text 44"/>
          <p:cNvSpPr/>
          <p:nvPr/>
        </p:nvSpPr>
        <p:spPr>
          <a:xfrm>
            <a:off x="7406640" y="4837176"/>
            <a:ext cx="1828800" cy="347472"/>
          </a:xfrm>
          <a:prstGeom prst="rect">
            <a:avLst/>
          </a:prstGeom>
          <a:noFill/>
          <a:ln/>
        </p:spPr>
        <p:txBody>
          <a:bodyPr wrap="square" lIns="0" tIns="0" rIns="0" bIns="0" rtlCol="0" anchor="ctr"/>
          <a:lstStyle/>
          <a:p>
            <a:pPr indent="0" marL="0">
              <a:buNone/>
            </a:pPr>
            <a:r>
              <a:rPr lang="en-US" sz="1050" dirty="0">
                <a:solidFill>
                  <a:srgbClr val="C7A9BC"/>
                </a:solidFill>
                <a:latin typeface="Calibri" pitchFamily="34" charset="0"/>
                <a:ea typeface="Calibri" pitchFamily="34" charset="-122"/>
                <a:cs typeface="Calibri" pitchFamily="34" charset="-120"/>
              </a:rPr>
              <a:t>WiFi / AC / Gym</a:t>
            </a:r>
            <a:endParaRPr lang="en-US" sz="1050" dirty="0"/>
          </a:p>
        </p:txBody>
      </p:sp>
      <p:sp>
        <p:nvSpPr>
          <p:cNvPr id="47" name="Text 45"/>
          <p:cNvSpPr/>
          <p:nvPr/>
        </p:nvSpPr>
        <p:spPr>
          <a:xfrm>
            <a:off x="9189720" y="4837176"/>
            <a:ext cx="2103120" cy="347472"/>
          </a:xfrm>
          <a:prstGeom prst="rect">
            <a:avLst/>
          </a:prstGeom>
          <a:noFill/>
          <a:ln/>
        </p:spPr>
        <p:txBody>
          <a:bodyPr wrap="square" lIns="0" tIns="0" rIns="0" bIns="0" rtlCol="0" anchor="ctr"/>
          <a:lstStyle/>
          <a:p>
            <a:pPr algn="r" indent="0" marL="0">
              <a:buNone/>
            </a:pPr>
            <a:r>
              <a:rPr lang="en-US" sz="1050" b="1" dirty="0">
                <a:solidFill>
                  <a:srgbClr val="FFFFFF"/>
                </a:solidFill>
                <a:latin typeface="Calibri" pitchFamily="34" charset="0"/>
                <a:ea typeface="Calibri" pitchFamily="34" charset="-122"/>
                <a:cs typeface="Calibri" pitchFamily="34" charset="-120"/>
              </a:rPr>
              <a:t>Yes / Yes / No</a:t>
            </a:r>
            <a:endParaRPr lang="en-US" sz="1050" dirty="0"/>
          </a:p>
        </p:txBody>
      </p:sp>
      <p:sp>
        <p:nvSpPr>
          <p:cNvPr id="48" name="Shape 46"/>
          <p:cNvSpPr/>
          <p:nvPr/>
        </p:nvSpPr>
        <p:spPr>
          <a:xfrm>
            <a:off x="7406640" y="5166360"/>
            <a:ext cx="3886200" cy="0"/>
          </a:xfrm>
          <a:prstGeom prst="line">
            <a:avLst/>
          </a:prstGeom>
          <a:noFill/>
          <a:ln w="9525">
            <a:solidFill>
              <a:srgbClr val="5A2148"/>
            </a:solidFill>
            <a:prstDash val="solid"/>
          </a:ln>
        </p:spPr>
      </p:sp>
      <p:sp>
        <p:nvSpPr>
          <p:cNvPr id="49" name="Text 47"/>
          <p:cNvSpPr/>
          <p:nvPr/>
        </p:nvSpPr>
        <p:spPr>
          <a:xfrm>
            <a:off x="7406640" y="5330952"/>
            <a:ext cx="3749040" cy="502920"/>
          </a:xfrm>
          <a:prstGeom prst="rect">
            <a:avLst/>
          </a:prstGeom>
          <a:noFill/>
          <a:ln/>
        </p:spPr>
        <p:txBody>
          <a:bodyPr wrap="square" lIns="0" tIns="0" rIns="0" bIns="0" rtlCol="0" anchor="ctr"/>
          <a:lstStyle/>
          <a:p>
            <a:pPr indent="0" marL="0">
              <a:buNone/>
            </a:pPr>
            <a:r>
              <a:rPr lang="en-US" sz="900" i="1" dirty="0">
                <a:solidFill>
                  <a:srgbClr val="C7A9BC"/>
                </a:solidFill>
                <a:latin typeface="Calibri" pitchFamily="34" charset="0"/>
                <a:ea typeface="Calibri" pitchFamily="34" charset="-122"/>
                <a:cs typeface="Calibri" pitchFamily="34" charset="-120"/>
              </a:rPr>
              <a:t>Illustrative row — structure mirrors the cleaned dataset used for analysis.</a:t>
            </a:r>
            <a:endParaRPr lang="en-US" sz="900" dirty="0"/>
          </a:p>
        </p:txBody>
      </p:sp>
      <p:sp>
        <p:nvSpPr>
          <p:cNvPr id="50" name="Text 48"/>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5486400" cy="365760"/>
          </a:xfrm>
          <a:prstGeom prst="rect">
            <a:avLst/>
          </a:prstGeom>
          <a:noFill/>
          <a:ln/>
        </p:spPr>
        <p:txBody>
          <a:bodyPr wrap="square" rtlCol="0" anchor="ctr"/>
          <a:lstStyle/>
          <a:p>
            <a:pPr indent="0" marL="0">
              <a:buNone/>
            </a:pPr>
            <a:r>
              <a:rPr lang="en-US" sz="1300" b="1" spc="300" kern="0" dirty="0">
                <a:solidFill>
                  <a:srgbClr val="7B2D5E"/>
                </a:solidFill>
                <a:latin typeface="Calibri" pitchFamily="34" charset="0"/>
                <a:ea typeface="Calibri" pitchFamily="34" charset="-122"/>
                <a:cs typeface="Calibri" pitchFamily="34" charset="-120"/>
              </a:rPr>
              <a:t>DATA CLEANING</a:t>
            </a:r>
            <a:endParaRPr lang="en-US" sz="1300" dirty="0"/>
          </a:p>
        </p:txBody>
      </p:sp>
      <p:sp>
        <p:nvSpPr>
          <p:cNvPr id="3" name="Text 1"/>
          <p:cNvSpPr/>
          <p:nvPr/>
        </p:nvSpPr>
        <p:spPr>
          <a:xfrm>
            <a:off x="777240" y="822960"/>
            <a:ext cx="9144000" cy="822960"/>
          </a:xfrm>
          <a:prstGeom prst="rect">
            <a:avLst/>
          </a:prstGeom>
          <a:noFill/>
          <a:ln/>
        </p:spPr>
        <p:txBody>
          <a:bodyPr wrap="square" rtlCol="0" anchor="ctr"/>
          <a:lstStyle/>
          <a:p>
            <a:pPr indent="0" marL="0">
              <a:buNone/>
            </a:pPr>
            <a:r>
              <a:rPr lang="en-US" sz="3400" b="1" dirty="0">
                <a:solidFill>
                  <a:srgbClr val="2B1B24"/>
                </a:solidFill>
                <a:latin typeface="Bookman Old Style" pitchFamily="34" charset="0"/>
                <a:ea typeface="Bookman Old Style" pitchFamily="34" charset="-122"/>
                <a:cs typeface="Bookman Old Style" pitchFamily="34" charset="-120"/>
              </a:rPr>
              <a:t>From Raw to Reliable</a:t>
            </a:r>
            <a:endParaRPr lang="en-US" sz="3400" dirty="0"/>
          </a:p>
        </p:txBody>
      </p:sp>
      <p:sp>
        <p:nvSpPr>
          <p:cNvPr id="4" name="Shape 2"/>
          <p:cNvSpPr/>
          <p:nvPr/>
        </p:nvSpPr>
        <p:spPr>
          <a:xfrm>
            <a:off x="777240" y="1828800"/>
            <a:ext cx="2542032" cy="3794760"/>
          </a:xfrm>
          <a:prstGeom prst="roundRect">
            <a:avLst>
              <a:gd name="adj" fmla="val 4317"/>
            </a:avLst>
          </a:prstGeom>
          <a:solidFill>
            <a:srgbClr val="FFF9F5"/>
          </a:solidFill>
          <a:ln/>
        </p:spPr>
      </p:sp>
      <p:sp>
        <p:nvSpPr>
          <p:cNvPr id="5" name="Text 3"/>
          <p:cNvSpPr/>
          <p:nvPr/>
        </p:nvSpPr>
        <p:spPr>
          <a:xfrm>
            <a:off x="960120" y="1965960"/>
            <a:ext cx="1097280" cy="502920"/>
          </a:xfrm>
          <a:prstGeom prst="rect">
            <a:avLst/>
          </a:prstGeom>
          <a:noFill/>
          <a:ln/>
        </p:spPr>
        <p:txBody>
          <a:bodyPr wrap="square" lIns="0" tIns="0" rIns="0" bIns="0" rtlCol="0" anchor="ctr"/>
          <a:lstStyle/>
          <a:p>
            <a:pPr indent="0" marL="0">
              <a:buNone/>
            </a:pPr>
            <a:r>
              <a:rPr lang="en-US" sz="2400" b="1" dirty="0">
                <a:solidFill>
                  <a:srgbClr val="F3927F"/>
                </a:solidFill>
                <a:latin typeface="Bookman Old Style" pitchFamily="34" charset="0"/>
                <a:ea typeface="Bookman Old Style" pitchFamily="34" charset="-122"/>
                <a:cs typeface="Bookman Old Style" pitchFamily="34" charset="-120"/>
              </a:rPr>
              <a:t>01</a:t>
            </a:r>
            <a:endParaRPr lang="en-US" sz="2400" dirty="0"/>
          </a:p>
        </p:txBody>
      </p:sp>
      <p:sp>
        <p:nvSpPr>
          <p:cNvPr id="6" name="Shape 4"/>
          <p:cNvSpPr/>
          <p:nvPr/>
        </p:nvSpPr>
        <p:spPr>
          <a:xfrm>
            <a:off x="960120" y="2487168"/>
            <a:ext cx="777240" cy="777240"/>
          </a:xfrm>
          <a:prstGeom prst="ellipse">
            <a:avLst/>
          </a:prstGeom>
          <a:solidFill>
            <a:srgbClr val="7B2D5E"/>
          </a:solidFill>
          <a:ln/>
        </p:spPr>
      </p:sp>
      <p:pic>
        <p:nvPicPr>
          <p:cNvPr id="7" name="Image 0" descr="/home/claude/icons/trash.png">    </p:cNvPr>
          <p:cNvPicPr>
            <a:picLocks noChangeAspect="1"/>
          </p:cNvPicPr>
          <p:nvPr/>
        </p:nvPicPr>
        <p:blipFill>
          <a:blip r:embed="rId1"/>
          <a:stretch>
            <a:fillRect/>
          </a:stretch>
        </p:blipFill>
        <p:spPr>
          <a:xfrm>
            <a:off x="1169975" y="2697023"/>
            <a:ext cx="357530" cy="357530"/>
          </a:xfrm>
          <a:prstGeom prst="rect">
            <a:avLst/>
          </a:prstGeom>
        </p:spPr>
      </p:pic>
      <p:sp>
        <p:nvSpPr>
          <p:cNvPr id="8" name="Text 5"/>
          <p:cNvSpPr/>
          <p:nvPr/>
        </p:nvSpPr>
        <p:spPr>
          <a:xfrm>
            <a:off x="960120" y="3401568"/>
            <a:ext cx="2194560" cy="685800"/>
          </a:xfrm>
          <a:prstGeom prst="rect">
            <a:avLst/>
          </a:prstGeom>
          <a:noFill/>
          <a:ln/>
        </p:spPr>
        <p:txBody>
          <a:bodyPr wrap="square" lIns="0" tIns="0" rIns="0" bIns="0" rtlCol="0" anchor="t"/>
          <a:lstStyle/>
          <a:p>
            <a:pPr indent="0" marL="0">
              <a:buNone/>
            </a:pPr>
            <a:r>
              <a:rPr lang="en-US" sz="1350" b="1" dirty="0">
                <a:solidFill>
                  <a:srgbClr val="2B1B24"/>
                </a:solidFill>
                <a:latin typeface="Bookman Old Style" pitchFamily="34" charset="0"/>
                <a:ea typeface="Bookman Old Style" pitchFamily="34" charset="-122"/>
                <a:cs typeface="Bookman Old Style" pitchFamily="34" charset="-120"/>
              </a:rPr>
              <a:t>Drop Irrelevant Columns</a:t>
            </a:r>
            <a:endParaRPr lang="en-US" sz="1350" dirty="0"/>
          </a:p>
        </p:txBody>
      </p:sp>
      <p:sp>
        <p:nvSpPr>
          <p:cNvPr id="9" name="Text 6"/>
          <p:cNvSpPr/>
          <p:nvPr/>
        </p:nvSpPr>
        <p:spPr>
          <a:xfrm>
            <a:off x="960120" y="4114800"/>
            <a:ext cx="2194560" cy="1417320"/>
          </a:xfrm>
          <a:prstGeom prst="rect">
            <a:avLst/>
          </a:prstGeom>
          <a:noFill/>
          <a:ln/>
        </p:spPr>
        <p:txBody>
          <a:bodyPr wrap="square" lIns="0" tIns="0" rIns="0" bIns="0" rtlCol="0" anchor="ctr"/>
          <a:lstStyle/>
          <a:p>
            <a:pPr indent="0" marL="0">
              <a:lnSpc>
                <a:spcPct val="118000"/>
              </a:lnSpc>
              <a:buNone/>
            </a:pPr>
            <a:r>
              <a:rPr lang="en-US" sz="1000" dirty="0">
                <a:solidFill>
                  <a:srgbClr val="6B5B63"/>
                </a:solidFill>
                <a:latin typeface="Calibri" pitchFamily="34" charset="0"/>
                <a:ea typeface="Calibri" pitchFamily="34" charset="-122"/>
                <a:cs typeface="Calibri" pitchFamily="34" charset="-120"/>
              </a:rPr>
              <a:t>Removed Zone, Sharing_Capacity, Amenities &amp; Check_In_Date — not needed for analysis.</a:t>
            </a:r>
            <a:endParaRPr lang="en-US" sz="1000" dirty="0"/>
          </a:p>
        </p:txBody>
      </p:sp>
      <p:sp>
        <p:nvSpPr>
          <p:cNvPr id="10" name="Shape 7"/>
          <p:cNvSpPr/>
          <p:nvPr/>
        </p:nvSpPr>
        <p:spPr>
          <a:xfrm>
            <a:off x="3364992" y="3703320"/>
            <a:ext cx="256032" cy="0"/>
          </a:xfrm>
          <a:prstGeom prst="line">
            <a:avLst/>
          </a:prstGeom>
          <a:noFill/>
          <a:ln w="31750">
            <a:solidFill>
              <a:srgbClr val="F4B942"/>
            </a:solidFill>
            <a:prstDash val="solid"/>
            <a:tailEnd type="triangle"/>
          </a:ln>
        </p:spPr>
      </p:sp>
      <p:sp>
        <p:nvSpPr>
          <p:cNvPr id="11" name="Shape 8"/>
          <p:cNvSpPr/>
          <p:nvPr/>
        </p:nvSpPr>
        <p:spPr>
          <a:xfrm>
            <a:off x="3502152" y="1828800"/>
            <a:ext cx="2542032" cy="3794760"/>
          </a:xfrm>
          <a:prstGeom prst="roundRect">
            <a:avLst>
              <a:gd name="adj" fmla="val 4317"/>
            </a:avLst>
          </a:prstGeom>
          <a:solidFill>
            <a:srgbClr val="FBEFE9"/>
          </a:solidFill>
          <a:ln/>
        </p:spPr>
      </p:sp>
      <p:sp>
        <p:nvSpPr>
          <p:cNvPr id="12" name="Text 9"/>
          <p:cNvSpPr/>
          <p:nvPr/>
        </p:nvSpPr>
        <p:spPr>
          <a:xfrm>
            <a:off x="3685032" y="1965960"/>
            <a:ext cx="1097280" cy="502920"/>
          </a:xfrm>
          <a:prstGeom prst="rect">
            <a:avLst/>
          </a:prstGeom>
          <a:noFill/>
          <a:ln/>
        </p:spPr>
        <p:txBody>
          <a:bodyPr wrap="square" lIns="0" tIns="0" rIns="0" bIns="0" rtlCol="0" anchor="ctr"/>
          <a:lstStyle/>
          <a:p>
            <a:pPr indent="0" marL="0">
              <a:buNone/>
            </a:pPr>
            <a:r>
              <a:rPr lang="en-US" sz="2400" b="1" dirty="0">
                <a:solidFill>
                  <a:srgbClr val="F3927F"/>
                </a:solidFill>
                <a:latin typeface="Bookman Old Style" pitchFamily="34" charset="0"/>
                <a:ea typeface="Bookman Old Style" pitchFamily="34" charset="-122"/>
                <a:cs typeface="Bookman Old Style" pitchFamily="34" charset="-120"/>
              </a:rPr>
              <a:t>02</a:t>
            </a:r>
            <a:endParaRPr lang="en-US" sz="2400" dirty="0"/>
          </a:p>
        </p:txBody>
      </p:sp>
      <p:sp>
        <p:nvSpPr>
          <p:cNvPr id="13" name="Shape 10"/>
          <p:cNvSpPr/>
          <p:nvPr/>
        </p:nvSpPr>
        <p:spPr>
          <a:xfrm>
            <a:off x="3685032" y="2487168"/>
            <a:ext cx="777240" cy="777240"/>
          </a:xfrm>
          <a:prstGeom prst="ellipse">
            <a:avLst/>
          </a:prstGeom>
          <a:solidFill>
            <a:srgbClr val="7B2D5E"/>
          </a:solidFill>
          <a:ln/>
        </p:spPr>
      </p:sp>
      <p:pic>
        <p:nvPicPr>
          <p:cNvPr id="14" name="Image 1" descr="/home/claude/icons/filter.png">    </p:cNvPr>
          <p:cNvPicPr>
            <a:picLocks noChangeAspect="1"/>
          </p:cNvPicPr>
          <p:nvPr/>
        </p:nvPicPr>
        <p:blipFill>
          <a:blip r:embed="rId2"/>
          <a:stretch>
            <a:fillRect/>
          </a:stretch>
        </p:blipFill>
        <p:spPr>
          <a:xfrm>
            <a:off x="3894887" y="2697023"/>
            <a:ext cx="357530" cy="357530"/>
          </a:xfrm>
          <a:prstGeom prst="rect">
            <a:avLst/>
          </a:prstGeom>
        </p:spPr>
      </p:pic>
      <p:sp>
        <p:nvSpPr>
          <p:cNvPr id="15" name="Text 11"/>
          <p:cNvSpPr/>
          <p:nvPr/>
        </p:nvSpPr>
        <p:spPr>
          <a:xfrm>
            <a:off x="3685032" y="3401568"/>
            <a:ext cx="2194560" cy="685800"/>
          </a:xfrm>
          <a:prstGeom prst="rect">
            <a:avLst/>
          </a:prstGeom>
          <a:noFill/>
          <a:ln/>
        </p:spPr>
        <p:txBody>
          <a:bodyPr wrap="square" lIns="0" tIns="0" rIns="0" bIns="0" rtlCol="0" anchor="t"/>
          <a:lstStyle/>
          <a:p>
            <a:pPr indent="0" marL="0">
              <a:buNone/>
            </a:pPr>
            <a:r>
              <a:rPr lang="en-US" sz="1350" b="1" dirty="0">
                <a:solidFill>
                  <a:srgbClr val="2B1B24"/>
                </a:solidFill>
                <a:latin typeface="Bookman Old Style" pitchFamily="34" charset="0"/>
                <a:ea typeface="Bookman Old Style" pitchFamily="34" charset="-122"/>
                <a:cs typeface="Bookman Old Style" pitchFamily="34" charset="-120"/>
              </a:rPr>
              <a:t>Handle Missing Values</a:t>
            </a:r>
            <a:endParaRPr lang="en-US" sz="1350" dirty="0"/>
          </a:p>
        </p:txBody>
      </p:sp>
      <p:sp>
        <p:nvSpPr>
          <p:cNvPr id="16" name="Text 12"/>
          <p:cNvSpPr/>
          <p:nvPr/>
        </p:nvSpPr>
        <p:spPr>
          <a:xfrm>
            <a:off x="3685032" y="4114800"/>
            <a:ext cx="2194560" cy="1417320"/>
          </a:xfrm>
          <a:prstGeom prst="rect">
            <a:avLst/>
          </a:prstGeom>
          <a:noFill/>
          <a:ln/>
        </p:spPr>
        <p:txBody>
          <a:bodyPr wrap="square" lIns="0" tIns="0" rIns="0" bIns="0" rtlCol="0" anchor="ctr"/>
          <a:lstStyle/>
          <a:p>
            <a:pPr indent="0" marL="0">
              <a:lnSpc>
                <a:spcPct val="118000"/>
              </a:lnSpc>
              <a:buNone/>
            </a:pPr>
            <a:r>
              <a:rPr lang="en-US" sz="1000" dirty="0">
                <a:solidFill>
                  <a:srgbClr val="6B5B63"/>
                </a:solidFill>
                <a:latin typeface="Calibri" pitchFamily="34" charset="0"/>
                <a:ea typeface="Calibri" pitchFamily="34" charset="-122"/>
                <a:cs typeface="Calibri" pitchFamily="34" charset="-120"/>
              </a:rPr>
              <a:t>Filled charges with 0, categorical fields with mode; ratings rounded to 1 decimal.</a:t>
            </a:r>
            <a:endParaRPr lang="en-US" sz="1000" dirty="0"/>
          </a:p>
        </p:txBody>
      </p:sp>
      <p:sp>
        <p:nvSpPr>
          <p:cNvPr id="17" name="Shape 13"/>
          <p:cNvSpPr/>
          <p:nvPr/>
        </p:nvSpPr>
        <p:spPr>
          <a:xfrm>
            <a:off x="6089904" y="3703320"/>
            <a:ext cx="256032" cy="0"/>
          </a:xfrm>
          <a:prstGeom prst="line">
            <a:avLst/>
          </a:prstGeom>
          <a:noFill/>
          <a:ln w="31750">
            <a:solidFill>
              <a:srgbClr val="F4B942"/>
            </a:solidFill>
            <a:prstDash val="solid"/>
            <a:tailEnd type="triangle"/>
          </a:ln>
        </p:spPr>
      </p:sp>
      <p:sp>
        <p:nvSpPr>
          <p:cNvPr id="18" name="Shape 14"/>
          <p:cNvSpPr/>
          <p:nvPr/>
        </p:nvSpPr>
        <p:spPr>
          <a:xfrm>
            <a:off x="6227064" y="1828800"/>
            <a:ext cx="2542032" cy="3794760"/>
          </a:xfrm>
          <a:prstGeom prst="roundRect">
            <a:avLst>
              <a:gd name="adj" fmla="val 4317"/>
            </a:avLst>
          </a:prstGeom>
          <a:solidFill>
            <a:srgbClr val="FFF9F5"/>
          </a:solidFill>
          <a:ln/>
        </p:spPr>
      </p:sp>
      <p:sp>
        <p:nvSpPr>
          <p:cNvPr id="19" name="Text 15"/>
          <p:cNvSpPr/>
          <p:nvPr/>
        </p:nvSpPr>
        <p:spPr>
          <a:xfrm>
            <a:off x="6409944" y="1965960"/>
            <a:ext cx="1097280" cy="502920"/>
          </a:xfrm>
          <a:prstGeom prst="rect">
            <a:avLst/>
          </a:prstGeom>
          <a:noFill/>
          <a:ln/>
        </p:spPr>
        <p:txBody>
          <a:bodyPr wrap="square" lIns="0" tIns="0" rIns="0" bIns="0" rtlCol="0" anchor="ctr"/>
          <a:lstStyle/>
          <a:p>
            <a:pPr indent="0" marL="0">
              <a:buNone/>
            </a:pPr>
            <a:r>
              <a:rPr lang="en-US" sz="2400" b="1" dirty="0">
                <a:solidFill>
                  <a:srgbClr val="F3927F"/>
                </a:solidFill>
                <a:latin typeface="Bookman Old Style" pitchFamily="34" charset="0"/>
                <a:ea typeface="Bookman Old Style" pitchFamily="34" charset="-122"/>
                <a:cs typeface="Bookman Old Style" pitchFamily="34" charset="-120"/>
              </a:rPr>
              <a:t>03</a:t>
            </a:r>
            <a:endParaRPr lang="en-US" sz="2400" dirty="0"/>
          </a:p>
        </p:txBody>
      </p:sp>
      <p:sp>
        <p:nvSpPr>
          <p:cNvPr id="20" name="Shape 16"/>
          <p:cNvSpPr/>
          <p:nvPr/>
        </p:nvSpPr>
        <p:spPr>
          <a:xfrm>
            <a:off x="6409944" y="2487168"/>
            <a:ext cx="777240" cy="777240"/>
          </a:xfrm>
          <a:prstGeom prst="ellipse">
            <a:avLst/>
          </a:prstGeom>
          <a:solidFill>
            <a:srgbClr val="7B2D5E"/>
          </a:solidFill>
          <a:ln/>
        </p:spPr>
      </p:sp>
      <p:pic>
        <p:nvPicPr>
          <p:cNvPr id="21" name="Image 2" descr="/home/claude/icons/refresh.png">    </p:cNvPr>
          <p:cNvPicPr>
            <a:picLocks noChangeAspect="1"/>
          </p:cNvPicPr>
          <p:nvPr/>
        </p:nvPicPr>
        <p:blipFill>
          <a:blip r:embed="rId3"/>
          <a:stretch>
            <a:fillRect/>
          </a:stretch>
        </p:blipFill>
        <p:spPr>
          <a:xfrm>
            <a:off x="6619799" y="2697023"/>
            <a:ext cx="357530" cy="357530"/>
          </a:xfrm>
          <a:prstGeom prst="rect">
            <a:avLst/>
          </a:prstGeom>
        </p:spPr>
      </p:pic>
      <p:sp>
        <p:nvSpPr>
          <p:cNvPr id="22" name="Text 17"/>
          <p:cNvSpPr/>
          <p:nvPr/>
        </p:nvSpPr>
        <p:spPr>
          <a:xfrm>
            <a:off x="6409944" y="3401568"/>
            <a:ext cx="2194560" cy="685800"/>
          </a:xfrm>
          <a:prstGeom prst="rect">
            <a:avLst/>
          </a:prstGeom>
          <a:noFill/>
          <a:ln/>
        </p:spPr>
        <p:txBody>
          <a:bodyPr wrap="square" lIns="0" tIns="0" rIns="0" bIns="0" rtlCol="0" anchor="t"/>
          <a:lstStyle/>
          <a:p>
            <a:pPr indent="0" marL="0">
              <a:buNone/>
            </a:pPr>
            <a:r>
              <a:rPr lang="en-US" sz="1350" b="1" dirty="0">
                <a:solidFill>
                  <a:srgbClr val="2B1B24"/>
                </a:solidFill>
                <a:latin typeface="Bookman Old Style" pitchFamily="34" charset="0"/>
                <a:ea typeface="Bookman Old Style" pitchFamily="34" charset="-122"/>
                <a:cs typeface="Bookman Old Style" pitchFamily="34" charset="-120"/>
              </a:rPr>
              <a:t>Standardize Formats</a:t>
            </a:r>
            <a:endParaRPr lang="en-US" sz="1350" dirty="0"/>
          </a:p>
        </p:txBody>
      </p:sp>
      <p:sp>
        <p:nvSpPr>
          <p:cNvPr id="23" name="Text 18"/>
          <p:cNvSpPr/>
          <p:nvPr/>
        </p:nvSpPr>
        <p:spPr>
          <a:xfrm>
            <a:off x="6409944" y="4114800"/>
            <a:ext cx="2194560" cy="1417320"/>
          </a:xfrm>
          <a:prstGeom prst="rect">
            <a:avLst/>
          </a:prstGeom>
          <a:noFill/>
          <a:ln/>
        </p:spPr>
        <p:txBody>
          <a:bodyPr wrap="square" lIns="0" tIns="0" rIns="0" bIns="0" rtlCol="0" anchor="ctr"/>
          <a:lstStyle/>
          <a:p>
            <a:pPr indent="0" marL="0">
              <a:lnSpc>
                <a:spcPct val="118000"/>
              </a:lnSpc>
              <a:buNone/>
            </a:pPr>
            <a:r>
              <a:rPr lang="en-US" sz="1000" dirty="0">
                <a:solidFill>
                  <a:srgbClr val="6B5B63"/>
                </a:solidFill>
                <a:latin typeface="Calibri" pitchFamily="34" charset="0"/>
                <a:ea typeface="Calibri" pitchFamily="34" charset="-122"/>
                <a:cs typeface="Calibri" pitchFamily="34" charset="-120"/>
              </a:rPr>
              <a:t>Fixed currency text (₹999999, commas), unified Yes/No amenity flags, parsed dates.</a:t>
            </a:r>
            <a:endParaRPr lang="en-US" sz="1000" dirty="0"/>
          </a:p>
        </p:txBody>
      </p:sp>
      <p:sp>
        <p:nvSpPr>
          <p:cNvPr id="24" name="Shape 19"/>
          <p:cNvSpPr/>
          <p:nvPr/>
        </p:nvSpPr>
        <p:spPr>
          <a:xfrm>
            <a:off x="8814816" y="3703320"/>
            <a:ext cx="256032" cy="0"/>
          </a:xfrm>
          <a:prstGeom prst="line">
            <a:avLst/>
          </a:prstGeom>
          <a:noFill/>
          <a:ln w="31750">
            <a:solidFill>
              <a:srgbClr val="F4B942"/>
            </a:solidFill>
            <a:prstDash val="solid"/>
            <a:tailEnd type="triangle"/>
          </a:ln>
        </p:spPr>
      </p:sp>
      <p:sp>
        <p:nvSpPr>
          <p:cNvPr id="25" name="Shape 20"/>
          <p:cNvSpPr/>
          <p:nvPr/>
        </p:nvSpPr>
        <p:spPr>
          <a:xfrm>
            <a:off x="8951976" y="1828800"/>
            <a:ext cx="2542032" cy="3794760"/>
          </a:xfrm>
          <a:prstGeom prst="roundRect">
            <a:avLst>
              <a:gd name="adj" fmla="val 4317"/>
            </a:avLst>
          </a:prstGeom>
          <a:solidFill>
            <a:srgbClr val="FBEFE9"/>
          </a:solidFill>
          <a:ln/>
        </p:spPr>
      </p:sp>
      <p:sp>
        <p:nvSpPr>
          <p:cNvPr id="26" name="Text 21"/>
          <p:cNvSpPr/>
          <p:nvPr/>
        </p:nvSpPr>
        <p:spPr>
          <a:xfrm>
            <a:off x="9134856" y="1965960"/>
            <a:ext cx="1097280" cy="502920"/>
          </a:xfrm>
          <a:prstGeom prst="rect">
            <a:avLst/>
          </a:prstGeom>
          <a:noFill/>
          <a:ln/>
        </p:spPr>
        <p:txBody>
          <a:bodyPr wrap="square" lIns="0" tIns="0" rIns="0" bIns="0" rtlCol="0" anchor="ctr"/>
          <a:lstStyle/>
          <a:p>
            <a:pPr indent="0" marL="0">
              <a:buNone/>
            </a:pPr>
            <a:r>
              <a:rPr lang="en-US" sz="2400" b="1" dirty="0">
                <a:solidFill>
                  <a:srgbClr val="F3927F"/>
                </a:solidFill>
                <a:latin typeface="Bookman Old Style" pitchFamily="34" charset="0"/>
                <a:ea typeface="Bookman Old Style" pitchFamily="34" charset="-122"/>
                <a:cs typeface="Bookman Old Style" pitchFamily="34" charset="-120"/>
              </a:rPr>
              <a:t>04</a:t>
            </a:r>
            <a:endParaRPr lang="en-US" sz="2400" dirty="0"/>
          </a:p>
        </p:txBody>
      </p:sp>
      <p:sp>
        <p:nvSpPr>
          <p:cNvPr id="27" name="Shape 22"/>
          <p:cNvSpPr/>
          <p:nvPr/>
        </p:nvSpPr>
        <p:spPr>
          <a:xfrm>
            <a:off x="9134856" y="2487168"/>
            <a:ext cx="777240" cy="777240"/>
          </a:xfrm>
          <a:prstGeom prst="ellipse">
            <a:avLst/>
          </a:prstGeom>
          <a:solidFill>
            <a:srgbClr val="7B2D5E"/>
          </a:solidFill>
          <a:ln/>
        </p:spPr>
      </p:sp>
      <p:pic>
        <p:nvPicPr>
          <p:cNvPr id="28" name="Image 3" descr="/home/claude/icons/check.png">    </p:cNvPr>
          <p:cNvPicPr>
            <a:picLocks noChangeAspect="1"/>
          </p:cNvPicPr>
          <p:nvPr/>
        </p:nvPicPr>
        <p:blipFill>
          <a:blip r:embed="rId4"/>
          <a:stretch>
            <a:fillRect/>
          </a:stretch>
        </p:blipFill>
        <p:spPr>
          <a:xfrm>
            <a:off x="9344711" y="2697023"/>
            <a:ext cx="357530" cy="357530"/>
          </a:xfrm>
          <a:prstGeom prst="rect">
            <a:avLst/>
          </a:prstGeom>
        </p:spPr>
      </p:pic>
      <p:sp>
        <p:nvSpPr>
          <p:cNvPr id="29" name="Text 23"/>
          <p:cNvSpPr/>
          <p:nvPr/>
        </p:nvSpPr>
        <p:spPr>
          <a:xfrm>
            <a:off x="9134856" y="3401568"/>
            <a:ext cx="2194560" cy="685800"/>
          </a:xfrm>
          <a:prstGeom prst="rect">
            <a:avLst/>
          </a:prstGeom>
          <a:noFill/>
          <a:ln/>
        </p:spPr>
        <p:txBody>
          <a:bodyPr wrap="square" lIns="0" tIns="0" rIns="0" bIns="0" rtlCol="0" anchor="t"/>
          <a:lstStyle/>
          <a:p>
            <a:pPr indent="0" marL="0">
              <a:buNone/>
            </a:pPr>
            <a:r>
              <a:rPr lang="en-US" sz="1350" b="1" dirty="0">
                <a:solidFill>
                  <a:srgbClr val="2B1B24"/>
                </a:solidFill>
                <a:latin typeface="Bookman Old Style" pitchFamily="34" charset="0"/>
                <a:ea typeface="Bookman Old Style" pitchFamily="34" charset="-122"/>
                <a:cs typeface="Bookman Old Style" pitchFamily="34" charset="-120"/>
              </a:rPr>
              <a:t>Validate &amp; Deduplicate</a:t>
            </a:r>
            <a:endParaRPr lang="en-US" sz="1350" dirty="0"/>
          </a:p>
        </p:txBody>
      </p:sp>
      <p:sp>
        <p:nvSpPr>
          <p:cNvPr id="30" name="Text 24"/>
          <p:cNvSpPr/>
          <p:nvPr/>
        </p:nvSpPr>
        <p:spPr>
          <a:xfrm>
            <a:off x="9134856" y="4114800"/>
            <a:ext cx="2194560" cy="1417320"/>
          </a:xfrm>
          <a:prstGeom prst="rect">
            <a:avLst/>
          </a:prstGeom>
          <a:noFill/>
          <a:ln/>
        </p:spPr>
        <p:txBody>
          <a:bodyPr wrap="square" lIns="0" tIns="0" rIns="0" bIns="0" rtlCol="0" anchor="ctr"/>
          <a:lstStyle/>
          <a:p>
            <a:pPr indent="0" marL="0">
              <a:lnSpc>
                <a:spcPct val="118000"/>
              </a:lnSpc>
              <a:buNone/>
            </a:pPr>
            <a:r>
              <a:rPr lang="en-US" sz="1000" dirty="0">
                <a:solidFill>
                  <a:srgbClr val="6B5B63"/>
                </a:solidFill>
                <a:latin typeface="Calibri" pitchFamily="34" charset="0"/>
                <a:ea typeface="Calibri" pitchFamily="34" charset="-122"/>
                <a:cs typeface="Calibri" pitchFamily="34" charset="-120"/>
              </a:rPr>
              <a:t>Removed duplicate rows, corrected out-of-range ratings, reset a clean row index.</a:t>
            </a:r>
            <a:endParaRPr lang="en-US" sz="1000" dirty="0"/>
          </a:p>
        </p:txBody>
      </p:sp>
      <p:sp>
        <p:nvSpPr>
          <p:cNvPr id="31" name="Shape 25"/>
          <p:cNvSpPr/>
          <p:nvPr/>
        </p:nvSpPr>
        <p:spPr>
          <a:xfrm>
            <a:off x="777240" y="5806440"/>
            <a:ext cx="10634472" cy="594360"/>
          </a:xfrm>
          <a:prstGeom prst="roundRect">
            <a:avLst>
              <a:gd name="adj" fmla="val 12308"/>
            </a:avLst>
          </a:prstGeom>
          <a:solidFill>
            <a:srgbClr val="3D1730"/>
          </a:solidFill>
          <a:ln/>
        </p:spPr>
      </p:sp>
      <p:sp>
        <p:nvSpPr>
          <p:cNvPr id="32" name="Text 26"/>
          <p:cNvSpPr/>
          <p:nvPr/>
        </p:nvSpPr>
        <p:spPr>
          <a:xfrm>
            <a:off x="1005840" y="5806440"/>
            <a:ext cx="10149840" cy="594360"/>
          </a:xfrm>
          <a:prstGeom prst="rect">
            <a:avLst/>
          </a:prstGeom>
          <a:noFill/>
          <a:ln/>
        </p:spPr>
        <p:txBody>
          <a:bodyPr wrap="square" lIns="0" tIns="0" rIns="0" bIns="0" rtlCol="0" anchor="ctr"/>
          <a:lstStyle/>
          <a:p>
            <a:pPr indent="0" marL="0">
              <a:buNone/>
            </a:pPr>
            <a:r>
              <a:rPr lang="en-US" sz="1100" i="1" dirty="0">
                <a:solidFill>
                  <a:srgbClr val="F4B942"/>
                </a:solidFill>
                <a:latin typeface="Calibri" pitchFamily="34" charset="0"/>
                <a:ea typeface="Calibri" pitchFamily="34" charset="-122"/>
                <a:cs typeface="Calibri" pitchFamily="34" charset="-120"/>
              </a:rPr>
              <a:t>Outliers were detected via IQR but retained — they reflect genuine premium-market variation, not data errors.</a:t>
            </a:r>
            <a:endParaRPr lang="en-US" sz="1100" dirty="0"/>
          </a:p>
        </p:txBody>
      </p:sp>
      <p:sp>
        <p:nvSpPr>
          <p:cNvPr id="33" name="Text 27"/>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9F5"/>
        </a:solidFill>
      </p:bgPr>
    </p:bg>
    <p:spTree>
      <p:nvGrpSpPr>
        <p:cNvPr id="1" name=""/>
        <p:cNvGrpSpPr/>
        <p:nvPr/>
      </p:nvGrpSpPr>
      <p:grpSpPr>
        <a:xfrm>
          <a:off x="0" y="0"/>
          <a:ext cx="0" cy="0"/>
          <a:chOff x="0" y="0"/>
          <a:chExt cx="0" cy="0"/>
        </a:xfrm>
      </p:grpSpPr>
      <p:sp>
        <p:nvSpPr>
          <p:cNvPr id="2" name="Text 0"/>
          <p:cNvSpPr/>
          <p:nvPr/>
        </p:nvSpPr>
        <p:spPr>
          <a:xfrm>
            <a:off x="777240" y="502920"/>
            <a:ext cx="5486400" cy="365760"/>
          </a:xfrm>
          <a:prstGeom prst="rect">
            <a:avLst/>
          </a:prstGeom>
          <a:noFill/>
          <a:ln/>
        </p:spPr>
        <p:txBody>
          <a:bodyPr wrap="square" rtlCol="0" anchor="ctr"/>
          <a:lstStyle/>
          <a:p>
            <a:pPr indent="0" marL="0">
              <a:buNone/>
            </a:pPr>
            <a:r>
              <a:rPr lang="en-US" sz="1300" b="1" spc="300" kern="0" dirty="0">
                <a:solidFill>
                  <a:srgbClr val="7B2D5E"/>
                </a:solidFill>
                <a:latin typeface="Calibri" pitchFamily="34" charset="0"/>
                <a:ea typeface="Calibri" pitchFamily="34" charset="-122"/>
                <a:cs typeface="Calibri" pitchFamily="34" charset="-120"/>
              </a:rPr>
              <a:t>METHODOLOGY</a:t>
            </a:r>
            <a:endParaRPr lang="en-US" sz="1300" dirty="0"/>
          </a:p>
        </p:txBody>
      </p:sp>
      <p:sp>
        <p:nvSpPr>
          <p:cNvPr id="3" name="Text 1"/>
          <p:cNvSpPr/>
          <p:nvPr/>
        </p:nvSpPr>
        <p:spPr>
          <a:xfrm>
            <a:off x="777240" y="822960"/>
            <a:ext cx="9144000" cy="822960"/>
          </a:xfrm>
          <a:prstGeom prst="rect">
            <a:avLst/>
          </a:prstGeom>
          <a:noFill/>
          <a:ln/>
        </p:spPr>
        <p:txBody>
          <a:bodyPr wrap="square" rtlCol="0" anchor="ctr"/>
          <a:lstStyle/>
          <a:p>
            <a:pPr indent="0" marL="0">
              <a:buNone/>
            </a:pPr>
            <a:r>
              <a:rPr lang="en-US" sz="3400" b="1" dirty="0">
                <a:solidFill>
                  <a:srgbClr val="2B1B24"/>
                </a:solidFill>
                <a:latin typeface="Bookman Old Style" pitchFamily="34" charset="0"/>
                <a:ea typeface="Bookman Old Style" pitchFamily="34" charset="-122"/>
                <a:cs typeface="Bookman Old Style" pitchFamily="34" charset="-120"/>
              </a:rPr>
              <a:t>Analytical Workflow</a:t>
            </a:r>
            <a:endParaRPr lang="en-US" sz="3400" dirty="0"/>
          </a:p>
        </p:txBody>
      </p:sp>
      <p:sp>
        <p:nvSpPr>
          <p:cNvPr id="4" name="Shape 2"/>
          <p:cNvSpPr/>
          <p:nvPr/>
        </p:nvSpPr>
        <p:spPr>
          <a:xfrm>
            <a:off x="777240" y="2286000"/>
            <a:ext cx="2121408" cy="2651760"/>
          </a:xfrm>
          <a:prstGeom prst="roundRect">
            <a:avLst>
              <a:gd name="adj" fmla="val 6034"/>
            </a:avLst>
          </a:prstGeom>
          <a:solidFill>
            <a:srgbClr val="FFFFFF"/>
          </a:solidFill>
          <a:ln/>
          <a:effectLst>
            <a:outerShdw sx="100000" sy="100000" kx="0" ky="0" algn="bl" rotWithShape="0" blurRad="127000" dist="38100" dir="5400000">
              <a:srgbClr val="3D1730">
                <a:alpha val="12000"/>
              </a:srgbClr>
            </a:outerShdw>
          </a:effectLst>
        </p:spPr>
      </p:sp>
      <p:sp>
        <p:nvSpPr>
          <p:cNvPr id="5" name="Shape 3"/>
          <p:cNvSpPr/>
          <p:nvPr/>
        </p:nvSpPr>
        <p:spPr>
          <a:xfrm>
            <a:off x="1380744" y="2542032"/>
            <a:ext cx="914400" cy="914400"/>
          </a:xfrm>
          <a:prstGeom prst="ellipse">
            <a:avLst/>
          </a:prstGeom>
          <a:solidFill>
            <a:srgbClr val="E85D4E"/>
          </a:solidFill>
          <a:ln/>
        </p:spPr>
      </p:sp>
      <p:pic>
        <p:nvPicPr>
          <p:cNvPr id="6" name="Image 0" descr="/home/claude/icons/download.png">    </p:cNvPr>
          <p:cNvPicPr>
            <a:picLocks noChangeAspect="1"/>
          </p:cNvPicPr>
          <p:nvPr/>
        </p:nvPicPr>
        <p:blipFill>
          <a:blip r:embed="rId1"/>
          <a:stretch>
            <a:fillRect/>
          </a:stretch>
        </p:blipFill>
        <p:spPr>
          <a:xfrm>
            <a:off x="1627632" y="2788920"/>
            <a:ext cx="420624" cy="420624"/>
          </a:xfrm>
          <a:prstGeom prst="rect">
            <a:avLst/>
          </a:prstGeom>
        </p:spPr>
      </p:pic>
      <p:sp>
        <p:nvSpPr>
          <p:cNvPr id="7" name="Text 4"/>
          <p:cNvSpPr/>
          <p:nvPr/>
        </p:nvSpPr>
        <p:spPr>
          <a:xfrm>
            <a:off x="868680" y="3611880"/>
            <a:ext cx="1938528" cy="548640"/>
          </a:xfrm>
          <a:prstGeom prst="rect">
            <a:avLst/>
          </a:prstGeom>
          <a:noFill/>
          <a:ln/>
        </p:spPr>
        <p:txBody>
          <a:bodyPr wrap="square" lIns="0" tIns="0" rIns="0" bIns="0" rtlCol="0" anchor="ctr"/>
          <a:lstStyle/>
          <a:p>
            <a:pPr algn="ctr" indent="0" marL="0">
              <a:buNone/>
            </a:pPr>
            <a:r>
              <a:rPr lang="en-US" sz="1250" b="1" dirty="0">
                <a:solidFill>
                  <a:srgbClr val="2B1B24"/>
                </a:solidFill>
                <a:latin typeface="Bookman Old Style" pitchFamily="34" charset="0"/>
                <a:ea typeface="Bookman Old Style" pitchFamily="34" charset="-122"/>
                <a:cs typeface="Bookman Old Style" pitchFamily="34" charset="-120"/>
              </a:rPr>
              <a:t>Data</a:t>
            </a:r>
            <a:endParaRPr lang="en-US" sz="1250" dirty="0"/>
          </a:p>
          <a:p>
            <a:pPr algn="ctr" indent="0" marL="0">
              <a:buNone/>
            </a:pPr>
            <a:r>
              <a:rPr lang="en-US" sz="1250" b="1" dirty="0">
                <a:solidFill>
                  <a:srgbClr val="2B1B24"/>
                </a:solidFill>
                <a:latin typeface="Bookman Old Style" pitchFamily="34" charset="0"/>
                <a:ea typeface="Bookman Old Style" pitchFamily="34" charset="-122"/>
                <a:cs typeface="Bookman Old Style" pitchFamily="34" charset="-120"/>
              </a:rPr>
              <a:t>Collection</a:t>
            </a:r>
            <a:endParaRPr lang="en-US" sz="1250" dirty="0"/>
          </a:p>
        </p:txBody>
      </p:sp>
      <p:sp>
        <p:nvSpPr>
          <p:cNvPr id="8" name="Text 5"/>
          <p:cNvSpPr/>
          <p:nvPr/>
        </p:nvSpPr>
        <p:spPr>
          <a:xfrm>
            <a:off x="868680" y="4206240"/>
            <a:ext cx="1938528" cy="640080"/>
          </a:xfrm>
          <a:prstGeom prst="rect">
            <a:avLst/>
          </a:prstGeom>
          <a:noFill/>
          <a:ln/>
        </p:spPr>
        <p:txBody>
          <a:bodyPr wrap="square" lIns="0" tIns="0" rIns="0" bIns="0" rtlCol="0" anchor="ctr"/>
          <a:lstStyle/>
          <a:p>
            <a:pPr algn="ctr" indent="0" marL="0">
              <a:lnSpc>
                <a:spcPct val="115000"/>
              </a:lnSpc>
              <a:buNone/>
            </a:pPr>
            <a:r>
              <a:rPr lang="en-US" sz="930" dirty="0">
                <a:solidFill>
                  <a:srgbClr val="6B5B63"/>
                </a:solidFill>
                <a:latin typeface="Calibri" pitchFamily="34" charset="0"/>
                <a:ea typeface="Calibri" pitchFamily="34" charset="-122"/>
                <a:cs typeface="Calibri" pitchFamily="34" charset="-120"/>
              </a:rPr>
              <a:t>Import raw CSV (30,600 × 44)</a:t>
            </a:r>
            <a:endParaRPr lang="en-US" sz="930" dirty="0"/>
          </a:p>
        </p:txBody>
      </p:sp>
      <p:sp>
        <p:nvSpPr>
          <p:cNvPr id="9" name="Shape 6"/>
          <p:cNvSpPr/>
          <p:nvPr/>
        </p:nvSpPr>
        <p:spPr>
          <a:xfrm>
            <a:off x="2916936" y="3566160"/>
            <a:ext cx="219456" cy="0"/>
          </a:xfrm>
          <a:prstGeom prst="line">
            <a:avLst/>
          </a:prstGeom>
          <a:noFill/>
          <a:ln w="38100">
            <a:solidFill>
              <a:srgbClr val="7B2D5E"/>
            </a:solidFill>
            <a:prstDash val="solid"/>
            <a:tailEnd type="triangle"/>
          </a:ln>
        </p:spPr>
      </p:sp>
      <p:sp>
        <p:nvSpPr>
          <p:cNvPr id="10" name="Shape 7"/>
          <p:cNvSpPr/>
          <p:nvPr/>
        </p:nvSpPr>
        <p:spPr>
          <a:xfrm>
            <a:off x="3136392" y="2286000"/>
            <a:ext cx="2121408" cy="2651760"/>
          </a:xfrm>
          <a:prstGeom prst="roundRect">
            <a:avLst>
              <a:gd name="adj" fmla="val 6034"/>
            </a:avLst>
          </a:prstGeom>
          <a:solidFill>
            <a:srgbClr val="FFFFFF"/>
          </a:solidFill>
          <a:ln/>
          <a:effectLst>
            <a:outerShdw sx="100000" sy="100000" kx="0" ky="0" algn="bl" rotWithShape="0" blurRad="127000" dist="38100" dir="5400000">
              <a:srgbClr val="3D1730">
                <a:alpha val="12000"/>
              </a:srgbClr>
            </a:outerShdw>
          </a:effectLst>
        </p:spPr>
      </p:sp>
      <p:sp>
        <p:nvSpPr>
          <p:cNvPr id="11" name="Shape 8"/>
          <p:cNvSpPr/>
          <p:nvPr/>
        </p:nvSpPr>
        <p:spPr>
          <a:xfrm>
            <a:off x="3739896" y="2542032"/>
            <a:ext cx="914400" cy="914400"/>
          </a:xfrm>
          <a:prstGeom prst="ellipse">
            <a:avLst/>
          </a:prstGeom>
          <a:solidFill>
            <a:srgbClr val="F4B942"/>
          </a:solidFill>
          <a:ln/>
        </p:spPr>
      </p:sp>
      <p:pic>
        <p:nvPicPr>
          <p:cNvPr id="12" name="Image 1" descr="/home/claude/icons/filter.png">    </p:cNvPr>
          <p:cNvPicPr>
            <a:picLocks noChangeAspect="1"/>
          </p:cNvPicPr>
          <p:nvPr/>
        </p:nvPicPr>
        <p:blipFill>
          <a:blip r:embed="rId2"/>
          <a:stretch>
            <a:fillRect/>
          </a:stretch>
        </p:blipFill>
        <p:spPr>
          <a:xfrm>
            <a:off x="3986784" y="2788920"/>
            <a:ext cx="420624" cy="420624"/>
          </a:xfrm>
          <a:prstGeom prst="rect">
            <a:avLst/>
          </a:prstGeom>
        </p:spPr>
      </p:pic>
      <p:sp>
        <p:nvSpPr>
          <p:cNvPr id="13" name="Text 9"/>
          <p:cNvSpPr/>
          <p:nvPr/>
        </p:nvSpPr>
        <p:spPr>
          <a:xfrm>
            <a:off x="3227832" y="3611880"/>
            <a:ext cx="1938528" cy="548640"/>
          </a:xfrm>
          <a:prstGeom prst="rect">
            <a:avLst/>
          </a:prstGeom>
          <a:noFill/>
          <a:ln/>
        </p:spPr>
        <p:txBody>
          <a:bodyPr wrap="square" lIns="0" tIns="0" rIns="0" bIns="0" rtlCol="0" anchor="ctr"/>
          <a:lstStyle/>
          <a:p>
            <a:pPr algn="ctr" indent="0" marL="0">
              <a:buNone/>
            </a:pPr>
            <a:r>
              <a:rPr lang="en-US" sz="1250" b="1" dirty="0">
                <a:solidFill>
                  <a:srgbClr val="2B1B24"/>
                </a:solidFill>
                <a:latin typeface="Bookman Old Style" pitchFamily="34" charset="0"/>
                <a:ea typeface="Bookman Old Style" pitchFamily="34" charset="-122"/>
                <a:cs typeface="Bookman Old Style" pitchFamily="34" charset="-120"/>
              </a:rPr>
              <a:t>Cleaning &amp;</a:t>
            </a:r>
            <a:endParaRPr lang="en-US" sz="1250" dirty="0"/>
          </a:p>
          <a:p>
            <a:pPr algn="ctr" indent="0" marL="0">
              <a:buNone/>
            </a:pPr>
            <a:r>
              <a:rPr lang="en-US" sz="1250" b="1" dirty="0">
                <a:solidFill>
                  <a:srgbClr val="2B1B24"/>
                </a:solidFill>
                <a:latin typeface="Bookman Old Style" pitchFamily="34" charset="0"/>
                <a:ea typeface="Bookman Old Style" pitchFamily="34" charset="-122"/>
                <a:cs typeface="Bookman Old Style" pitchFamily="34" charset="-120"/>
              </a:rPr>
              <a:t>Preprocessing</a:t>
            </a:r>
            <a:endParaRPr lang="en-US" sz="1250" dirty="0"/>
          </a:p>
        </p:txBody>
      </p:sp>
      <p:sp>
        <p:nvSpPr>
          <p:cNvPr id="14" name="Text 10"/>
          <p:cNvSpPr/>
          <p:nvPr/>
        </p:nvSpPr>
        <p:spPr>
          <a:xfrm>
            <a:off x="3227832" y="4206240"/>
            <a:ext cx="1938528" cy="640080"/>
          </a:xfrm>
          <a:prstGeom prst="rect">
            <a:avLst/>
          </a:prstGeom>
          <a:noFill/>
          <a:ln/>
        </p:spPr>
        <p:txBody>
          <a:bodyPr wrap="square" lIns="0" tIns="0" rIns="0" bIns="0" rtlCol="0" anchor="ctr"/>
          <a:lstStyle/>
          <a:p>
            <a:pPr algn="ctr" indent="0" marL="0">
              <a:lnSpc>
                <a:spcPct val="115000"/>
              </a:lnSpc>
              <a:buNone/>
            </a:pPr>
            <a:r>
              <a:rPr lang="en-US" sz="930" dirty="0">
                <a:solidFill>
                  <a:srgbClr val="6B5B63"/>
                </a:solidFill>
                <a:latin typeface="Calibri" pitchFamily="34" charset="0"/>
                <a:ea typeface="Calibri" pitchFamily="34" charset="-122"/>
                <a:cs typeface="Calibri" pitchFamily="34" charset="-120"/>
              </a:rPr>
              <a:t>Handle nulls, types, duplicates</a:t>
            </a:r>
            <a:endParaRPr lang="en-US" sz="930" dirty="0"/>
          </a:p>
        </p:txBody>
      </p:sp>
      <p:sp>
        <p:nvSpPr>
          <p:cNvPr id="15" name="Shape 11"/>
          <p:cNvSpPr/>
          <p:nvPr/>
        </p:nvSpPr>
        <p:spPr>
          <a:xfrm>
            <a:off x="5276088" y="3566160"/>
            <a:ext cx="219456" cy="0"/>
          </a:xfrm>
          <a:prstGeom prst="line">
            <a:avLst/>
          </a:prstGeom>
          <a:noFill/>
          <a:ln w="38100">
            <a:solidFill>
              <a:srgbClr val="7B2D5E"/>
            </a:solidFill>
            <a:prstDash val="solid"/>
            <a:tailEnd type="triangle"/>
          </a:ln>
        </p:spPr>
      </p:sp>
      <p:sp>
        <p:nvSpPr>
          <p:cNvPr id="16" name="Shape 12"/>
          <p:cNvSpPr/>
          <p:nvPr/>
        </p:nvSpPr>
        <p:spPr>
          <a:xfrm>
            <a:off x="5495544" y="2286000"/>
            <a:ext cx="2121408" cy="2651760"/>
          </a:xfrm>
          <a:prstGeom prst="roundRect">
            <a:avLst>
              <a:gd name="adj" fmla="val 6034"/>
            </a:avLst>
          </a:prstGeom>
          <a:solidFill>
            <a:srgbClr val="FFFFFF"/>
          </a:solidFill>
          <a:ln/>
          <a:effectLst>
            <a:outerShdw sx="100000" sy="100000" kx="0" ky="0" algn="bl" rotWithShape="0" blurRad="127000" dist="38100" dir="5400000">
              <a:srgbClr val="3D1730">
                <a:alpha val="12000"/>
              </a:srgbClr>
            </a:outerShdw>
          </a:effectLst>
        </p:spPr>
      </p:sp>
      <p:sp>
        <p:nvSpPr>
          <p:cNvPr id="17" name="Shape 13"/>
          <p:cNvSpPr/>
          <p:nvPr/>
        </p:nvSpPr>
        <p:spPr>
          <a:xfrm>
            <a:off x="6099048" y="2542032"/>
            <a:ext cx="914400" cy="914400"/>
          </a:xfrm>
          <a:prstGeom prst="ellipse">
            <a:avLst/>
          </a:prstGeom>
          <a:solidFill>
            <a:srgbClr val="7B2D5E"/>
          </a:solidFill>
          <a:ln/>
        </p:spPr>
      </p:sp>
      <p:pic>
        <p:nvPicPr>
          <p:cNvPr id="18" name="Image 2" descr="/home/claude/icons/search.png">    </p:cNvPr>
          <p:cNvPicPr>
            <a:picLocks noChangeAspect="1"/>
          </p:cNvPicPr>
          <p:nvPr/>
        </p:nvPicPr>
        <p:blipFill>
          <a:blip r:embed="rId3"/>
          <a:stretch>
            <a:fillRect/>
          </a:stretch>
        </p:blipFill>
        <p:spPr>
          <a:xfrm>
            <a:off x="6345936" y="2788920"/>
            <a:ext cx="420624" cy="420624"/>
          </a:xfrm>
          <a:prstGeom prst="rect">
            <a:avLst/>
          </a:prstGeom>
        </p:spPr>
      </p:pic>
      <p:sp>
        <p:nvSpPr>
          <p:cNvPr id="19" name="Text 14"/>
          <p:cNvSpPr/>
          <p:nvPr/>
        </p:nvSpPr>
        <p:spPr>
          <a:xfrm>
            <a:off x="5586984" y="3611880"/>
            <a:ext cx="1938528" cy="548640"/>
          </a:xfrm>
          <a:prstGeom prst="rect">
            <a:avLst/>
          </a:prstGeom>
          <a:noFill/>
          <a:ln/>
        </p:spPr>
        <p:txBody>
          <a:bodyPr wrap="square" lIns="0" tIns="0" rIns="0" bIns="0" rtlCol="0" anchor="ctr"/>
          <a:lstStyle/>
          <a:p>
            <a:pPr algn="ctr" indent="0" marL="0">
              <a:buNone/>
            </a:pPr>
            <a:r>
              <a:rPr lang="en-US" sz="1250" b="1" dirty="0">
                <a:solidFill>
                  <a:srgbClr val="2B1B24"/>
                </a:solidFill>
                <a:latin typeface="Bookman Old Style" pitchFamily="34" charset="0"/>
                <a:ea typeface="Bookman Old Style" pitchFamily="34" charset="-122"/>
                <a:cs typeface="Bookman Old Style" pitchFamily="34" charset="-120"/>
              </a:rPr>
              <a:t>Exploratory</a:t>
            </a:r>
            <a:endParaRPr lang="en-US" sz="1250" dirty="0"/>
          </a:p>
          <a:p>
            <a:pPr algn="ctr" indent="0" marL="0">
              <a:buNone/>
            </a:pPr>
            <a:r>
              <a:rPr lang="en-US" sz="1250" b="1" dirty="0">
                <a:solidFill>
                  <a:srgbClr val="2B1B24"/>
                </a:solidFill>
                <a:latin typeface="Bookman Old Style" pitchFamily="34" charset="0"/>
                <a:ea typeface="Bookman Old Style" pitchFamily="34" charset="-122"/>
                <a:cs typeface="Bookman Old Style" pitchFamily="34" charset="-120"/>
              </a:rPr>
              <a:t>Analysis</a:t>
            </a:r>
            <a:endParaRPr lang="en-US" sz="1250" dirty="0"/>
          </a:p>
        </p:txBody>
      </p:sp>
      <p:sp>
        <p:nvSpPr>
          <p:cNvPr id="20" name="Text 15"/>
          <p:cNvSpPr/>
          <p:nvPr/>
        </p:nvSpPr>
        <p:spPr>
          <a:xfrm>
            <a:off x="5586984" y="4206240"/>
            <a:ext cx="1938528" cy="640080"/>
          </a:xfrm>
          <a:prstGeom prst="rect">
            <a:avLst/>
          </a:prstGeom>
          <a:noFill/>
          <a:ln/>
        </p:spPr>
        <p:txBody>
          <a:bodyPr wrap="square" lIns="0" tIns="0" rIns="0" bIns="0" rtlCol="0" anchor="ctr"/>
          <a:lstStyle/>
          <a:p>
            <a:pPr algn="ctr" indent="0" marL="0">
              <a:lnSpc>
                <a:spcPct val="115000"/>
              </a:lnSpc>
              <a:buNone/>
            </a:pPr>
            <a:r>
              <a:rPr lang="en-US" sz="930" dirty="0">
                <a:solidFill>
                  <a:srgbClr val="6B5B63"/>
                </a:solidFill>
                <a:latin typeface="Calibri" pitchFamily="34" charset="0"/>
                <a:ea typeface="Calibri" pitchFamily="34" charset="-122"/>
                <a:cs typeface="Calibri" pitchFamily="34" charset="-120"/>
              </a:rPr>
              <a:t>Univariate &amp; bivariate study</a:t>
            </a:r>
            <a:endParaRPr lang="en-US" sz="930" dirty="0"/>
          </a:p>
        </p:txBody>
      </p:sp>
      <p:sp>
        <p:nvSpPr>
          <p:cNvPr id="21" name="Shape 16"/>
          <p:cNvSpPr/>
          <p:nvPr/>
        </p:nvSpPr>
        <p:spPr>
          <a:xfrm>
            <a:off x="7635240" y="3566160"/>
            <a:ext cx="219456" cy="0"/>
          </a:xfrm>
          <a:prstGeom prst="line">
            <a:avLst/>
          </a:prstGeom>
          <a:noFill/>
          <a:ln w="38100">
            <a:solidFill>
              <a:srgbClr val="7B2D5E"/>
            </a:solidFill>
            <a:prstDash val="solid"/>
            <a:tailEnd type="triangle"/>
          </a:ln>
        </p:spPr>
      </p:sp>
      <p:sp>
        <p:nvSpPr>
          <p:cNvPr id="22" name="Shape 17"/>
          <p:cNvSpPr/>
          <p:nvPr/>
        </p:nvSpPr>
        <p:spPr>
          <a:xfrm>
            <a:off x="7854696" y="2286000"/>
            <a:ext cx="2121408" cy="2651760"/>
          </a:xfrm>
          <a:prstGeom prst="roundRect">
            <a:avLst>
              <a:gd name="adj" fmla="val 6034"/>
            </a:avLst>
          </a:prstGeom>
          <a:solidFill>
            <a:srgbClr val="FFFFFF"/>
          </a:solidFill>
          <a:ln/>
          <a:effectLst>
            <a:outerShdw sx="100000" sy="100000" kx="0" ky="0" algn="bl" rotWithShape="0" blurRad="127000" dist="38100" dir="5400000">
              <a:srgbClr val="3D1730">
                <a:alpha val="12000"/>
              </a:srgbClr>
            </a:outerShdw>
          </a:effectLst>
        </p:spPr>
      </p:sp>
      <p:sp>
        <p:nvSpPr>
          <p:cNvPr id="23" name="Shape 18"/>
          <p:cNvSpPr/>
          <p:nvPr/>
        </p:nvSpPr>
        <p:spPr>
          <a:xfrm>
            <a:off x="8458200" y="2542032"/>
            <a:ext cx="914400" cy="914400"/>
          </a:xfrm>
          <a:prstGeom prst="ellipse">
            <a:avLst/>
          </a:prstGeom>
          <a:solidFill>
            <a:srgbClr val="8FA998"/>
          </a:solidFill>
          <a:ln/>
        </p:spPr>
      </p:sp>
      <p:pic>
        <p:nvPicPr>
          <p:cNvPr id="24" name="Image 3" descr="/home/claude/icons/barchart.png">    </p:cNvPr>
          <p:cNvPicPr>
            <a:picLocks noChangeAspect="1"/>
          </p:cNvPicPr>
          <p:nvPr/>
        </p:nvPicPr>
        <p:blipFill>
          <a:blip r:embed="rId4"/>
          <a:stretch>
            <a:fillRect/>
          </a:stretch>
        </p:blipFill>
        <p:spPr>
          <a:xfrm>
            <a:off x="8705088" y="2788920"/>
            <a:ext cx="420624" cy="420624"/>
          </a:xfrm>
          <a:prstGeom prst="rect">
            <a:avLst/>
          </a:prstGeom>
        </p:spPr>
      </p:pic>
      <p:sp>
        <p:nvSpPr>
          <p:cNvPr id="25" name="Text 19"/>
          <p:cNvSpPr/>
          <p:nvPr/>
        </p:nvSpPr>
        <p:spPr>
          <a:xfrm>
            <a:off x="7946136" y="3611880"/>
            <a:ext cx="1938528" cy="548640"/>
          </a:xfrm>
          <a:prstGeom prst="rect">
            <a:avLst/>
          </a:prstGeom>
          <a:noFill/>
          <a:ln/>
        </p:spPr>
        <p:txBody>
          <a:bodyPr wrap="square" lIns="0" tIns="0" rIns="0" bIns="0" rtlCol="0" anchor="ctr"/>
          <a:lstStyle/>
          <a:p>
            <a:pPr algn="ctr" indent="0" marL="0">
              <a:buNone/>
            </a:pPr>
            <a:r>
              <a:rPr lang="en-US" sz="1250" b="1" dirty="0">
                <a:solidFill>
                  <a:srgbClr val="2B1B24"/>
                </a:solidFill>
                <a:latin typeface="Bookman Old Style" pitchFamily="34" charset="0"/>
                <a:ea typeface="Bookman Old Style" pitchFamily="34" charset="-122"/>
                <a:cs typeface="Bookman Old Style" pitchFamily="34" charset="-120"/>
              </a:rPr>
              <a:t>Visualization</a:t>
            </a:r>
            <a:endParaRPr lang="en-US" sz="1250" dirty="0"/>
          </a:p>
        </p:txBody>
      </p:sp>
      <p:sp>
        <p:nvSpPr>
          <p:cNvPr id="26" name="Text 20"/>
          <p:cNvSpPr/>
          <p:nvPr/>
        </p:nvSpPr>
        <p:spPr>
          <a:xfrm>
            <a:off x="7946136" y="4206240"/>
            <a:ext cx="1938528" cy="640080"/>
          </a:xfrm>
          <a:prstGeom prst="rect">
            <a:avLst/>
          </a:prstGeom>
          <a:noFill/>
          <a:ln/>
        </p:spPr>
        <p:txBody>
          <a:bodyPr wrap="square" lIns="0" tIns="0" rIns="0" bIns="0" rtlCol="0" anchor="ctr"/>
          <a:lstStyle/>
          <a:p>
            <a:pPr algn="ctr" indent="0" marL="0">
              <a:lnSpc>
                <a:spcPct val="115000"/>
              </a:lnSpc>
              <a:buNone/>
            </a:pPr>
            <a:r>
              <a:rPr lang="en-US" sz="930" dirty="0">
                <a:solidFill>
                  <a:srgbClr val="6B5B63"/>
                </a:solidFill>
                <a:latin typeface="Calibri" pitchFamily="34" charset="0"/>
                <a:ea typeface="Calibri" pitchFamily="34" charset="-122"/>
                <a:cs typeface="Calibri" pitchFamily="34" charset="-120"/>
              </a:rPr>
              <a:t>Charts across 15 questions</a:t>
            </a:r>
            <a:endParaRPr lang="en-US" sz="930" dirty="0"/>
          </a:p>
        </p:txBody>
      </p:sp>
      <p:sp>
        <p:nvSpPr>
          <p:cNvPr id="27" name="Shape 21"/>
          <p:cNvSpPr/>
          <p:nvPr/>
        </p:nvSpPr>
        <p:spPr>
          <a:xfrm>
            <a:off x="9994392" y="3566160"/>
            <a:ext cx="219456" cy="0"/>
          </a:xfrm>
          <a:prstGeom prst="line">
            <a:avLst/>
          </a:prstGeom>
          <a:noFill/>
          <a:ln w="38100">
            <a:solidFill>
              <a:srgbClr val="7B2D5E"/>
            </a:solidFill>
            <a:prstDash val="solid"/>
            <a:tailEnd type="triangle"/>
          </a:ln>
        </p:spPr>
      </p:sp>
      <p:sp>
        <p:nvSpPr>
          <p:cNvPr id="28" name="Shape 22"/>
          <p:cNvSpPr/>
          <p:nvPr/>
        </p:nvSpPr>
        <p:spPr>
          <a:xfrm>
            <a:off x="10213848" y="2286000"/>
            <a:ext cx="2121408" cy="2651760"/>
          </a:xfrm>
          <a:prstGeom prst="roundRect">
            <a:avLst>
              <a:gd name="adj" fmla="val 6034"/>
            </a:avLst>
          </a:prstGeom>
          <a:solidFill>
            <a:srgbClr val="FFFFFF"/>
          </a:solidFill>
          <a:ln/>
          <a:effectLst>
            <a:outerShdw sx="100000" sy="100000" kx="0" ky="0" algn="bl" rotWithShape="0" blurRad="127000" dist="38100" dir="5400000">
              <a:srgbClr val="3D1730">
                <a:alpha val="12000"/>
              </a:srgbClr>
            </a:outerShdw>
          </a:effectLst>
        </p:spPr>
      </p:sp>
      <p:sp>
        <p:nvSpPr>
          <p:cNvPr id="29" name="Shape 23"/>
          <p:cNvSpPr/>
          <p:nvPr/>
        </p:nvSpPr>
        <p:spPr>
          <a:xfrm>
            <a:off x="10817352" y="2542032"/>
            <a:ext cx="914400" cy="914400"/>
          </a:xfrm>
          <a:prstGeom prst="ellipse">
            <a:avLst/>
          </a:prstGeom>
          <a:solidFill>
            <a:srgbClr val="E85D4E"/>
          </a:solidFill>
          <a:ln/>
        </p:spPr>
      </p:sp>
      <p:pic>
        <p:nvPicPr>
          <p:cNvPr id="30" name="Image 4" descr="/home/claude/icons/file.png">    </p:cNvPr>
          <p:cNvPicPr>
            <a:picLocks noChangeAspect="1"/>
          </p:cNvPicPr>
          <p:nvPr/>
        </p:nvPicPr>
        <p:blipFill>
          <a:blip r:embed="rId5"/>
          <a:stretch>
            <a:fillRect/>
          </a:stretch>
        </p:blipFill>
        <p:spPr>
          <a:xfrm>
            <a:off x="11064240" y="2788920"/>
            <a:ext cx="420624" cy="420624"/>
          </a:xfrm>
          <a:prstGeom prst="rect">
            <a:avLst/>
          </a:prstGeom>
        </p:spPr>
      </p:pic>
      <p:sp>
        <p:nvSpPr>
          <p:cNvPr id="31" name="Text 24"/>
          <p:cNvSpPr/>
          <p:nvPr/>
        </p:nvSpPr>
        <p:spPr>
          <a:xfrm>
            <a:off x="10305288" y="3611880"/>
            <a:ext cx="1938528" cy="548640"/>
          </a:xfrm>
          <a:prstGeom prst="rect">
            <a:avLst/>
          </a:prstGeom>
          <a:noFill/>
          <a:ln/>
        </p:spPr>
        <p:txBody>
          <a:bodyPr wrap="square" lIns="0" tIns="0" rIns="0" bIns="0" rtlCol="0" anchor="ctr"/>
          <a:lstStyle/>
          <a:p>
            <a:pPr algn="ctr" indent="0" marL="0">
              <a:buNone/>
            </a:pPr>
            <a:r>
              <a:rPr lang="en-US" sz="1250" b="1" dirty="0">
                <a:solidFill>
                  <a:srgbClr val="2B1B24"/>
                </a:solidFill>
                <a:latin typeface="Bookman Old Style" pitchFamily="34" charset="0"/>
                <a:ea typeface="Bookman Old Style" pitchFamily="34" charset="-122"/>
                <a:cs typeface="Bookman Old Style" pitchFamily="34" charset="-120"/>
              </a:rPr>
              <a:t>Insights &amp;</a:t>
            </a:r>
            <a:endParaRPr lang="en-US" sz="1250" dirty="0"/>
          </a:p>
          <a:p>
            <a:pPr algn="ctr" indent="0" marL="0">
              <a:buNone/>
            </a:pPr>
            <a:r>
              <a:rPr lang="en-US" sz="1250" b="1" dirty="0">
                <a:solidFill>
                  <a:srgbClr val="2B1B24"/>
                </a:solidFill>
                <a:latin typeface="Bookman Old Style" pitchFamily="34" charset="0"/>
                <a:ea typeface="Bookman Old Style" pitchFamily="34" charset="-122"/>
                <a:cs typeface="Bookman Old Style" pitchFamily="34" charset="-120"/>
              </a:rPr>
              <a:t>Reporting</a:t>
            </a:r>
            <a:endParaRPr lang="en-US" sz="1250" dirty="0"/>
          </a:p>
        </p:txBody>
      </p:sp>
      <p:sp>
        <p:nvSpPr>
          <p:cNvPr id="32" name="Text 25"/>
          <p:cNvSpPr/>
          <p:nvPr/>
        </p:nvSpPr>
        <p:spPr>
          <a:xfrm>
            <a:off x="10305288" y="4206240"/>
            <a:ext cx="1938528" cy="640080"/>
          </a:xfrm>
          <a:prstGeom prst="rect">
            <a:avLst/>
          </a:prstGeom>
          <a:noFill/>
          <a:ln/>
        </p:spPr>
        <p:txBody>
          <a:bodyPr wrap="square" lIns="0" tIns="0" rIns="0" bIns="0" rtlCol="0" anchor="ctr"/>
          <a:lstStyle/>
          <a:p>
            <a:pPr algn="ctr" indent="0" marL="0">
              <a:lnSpc>
                <a:spcPct val="115000"/>
              </a:lnSpc>
              <a:buNone/>
            </a:pPr>
            <a:r>
              <a:rPr lang="en-US" sz="930" dirty="0">
                <a:solidFill>
                  <a:srgbClr val="6B5B63"/>
                </a:solidFill>
                <a:latin typeface="Calibri" pitchFamily="34" charset="0"/>
                <a:ea typeface="Calibri" pitchFamily="34" charset="-122"/>
                <a:cs typeface="Calibri" pitchFamily="34" charset="-120"/>
              </a:rPr>
              <a:t>Findings → recommendations</a:t>
            </a:r>
            <a:endParaRPr lang="en-US" sz="930" dirty="0"/>
          </a:p>
        </p:txBody>
      </p:sp>
      <p:sp>
        <p:nvSpPr>
          <p:cNvPr id="33" name="Text 26"/>
          <p:cNvSpPr/>
          <p:nvPr/>
        </p:nvSpPr>
        <p:spPr>
          <a:xfrm>
            <a:off x="777240" y="5349240"/>
            <a:ext cx="10607040" cy="457200"/>
          </a:xfrm>
          <a:prstGeom prst="rect">
            <a:avLst/>
          </a:prstGeom>
          <a:noFill/>
          <a:ln/>
        </p:spPr>
        <p:txBody>
          <a:bodyPr wrap="square" rtlCol="0" anchor="ctr"/>
          <a:lstStyle/>
          <a:p>
            <a:pPr algn="ctr" indent="0" marL="0">
              <a:buNone/>
            </a:pPr>
            <a:r>
              <a:rPr lang="en-US" sz="1200" i="1" dirty="0">
                <a:solidFill>
                  <a:srgbClr val="6B5B63"/>
                </a:solidFill>
                <a:latin typeface="Calibri" pitchFamily="34" charset="0"/>
                <a:ea typeface="Calibri" pitchFamily="34" charset="-122"/>
                <a:cs typeface="Calibri" pitchFamily="34" charset="-120"/>
              </a:rPr>
              <a:t>Pipeline built in Jupyter Notebook using Python, Pandas, NumPy, Matplotlib &amp; Seaborn — each stage documented with inline observations.</a:t>
            </a:r>
            <a:endParaRPr lang="en-US" sz="1200" dirty="0"/>
          </a:p>
        </p:txBody>
      </p:sp>
      <p:sp>
        <p:nvSpPr>
          <p:cNvPr id="34" name="Text 27"/>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D1730"/>
        </a:solidFill>
      </p:bgPr>
    </p:bg>
    <p:spTree>
      <p:nvGrpSpPr>
        <p:cNvPr id="1" name=""/>
        <p:cNvGrpSpPr/>
        <p:nvPr/>
      </p:nvGrpSpPr>
      <p:grpSpPr>
        <a:xfrm>
          <a:off x="0" y="0"/>
          <a:ext cx="0" cy="0"/>
          <a:chOff x="0" y="0"/>
          <a:chExt cx="0" cy="0"/>
        </a:xfrm>
      </p:grpSpPr>
      <p:sp>
        <p:nvSpPr>
          <p:cNvPr id="2" name="Shape 0"/>
          <p:cNvSpPr/>
          <p:nvPr/>
        </p:nvSpPr>
        <p:spPr>
          <a:xfrm>
            <a:off x="9601200" y="-1828800"/>
            <a:ext cx="5029200" cy="5029200"/>
          </a:xfrm>
          <a:prstGeom prst="ellipse">
            <a:avLst/>
          </a:prstGeom>
          <a:solidFill>
            <a:srgbClr val="E85D4E">
              <a:alpha val="28000"/>
            </a:srgbClr>
          </a:solidFill>
          <a:ln/>
        </p:spPr>
      </p:sp>
      <p:sp>
        <p:nvSpPr>
          <p:cNvPr id="3" name="Text 1"/>
          <p:cNvSpPr/>
          <p:nvPr/>
        </p:nvSpPr>
        <p:spPr>
          <a:xfrm>
            <a:off x="777240" y="502920"/>
            <a:ext cx="7315200" cy="365760"/>
          </a:xfrm>
          <a:prstGeom prst="rect">
            <a:avLst/>
          </a:prstGeom>
          <a:noFill/>
          <a:ln/>
        </p:spPr>
        <p:txBody>
          <a:bodyPr wrap="square" rtlCol="0" anchor="ctr"/>
          <a:lstStyle/>
          <a:p>
            <a:pPr indent="0" marL="0">
              <a:buNone/>
            </a:pPr>
            <a:r>
              <a:rPr lang="en-US" sz="1300" b="1" spc="300" kern="0" dirty="0">
                <a:solidFill>
                  <a:srgbClr val="F4B942"/>
                </a:solidFill>
                <a:latin typeface="Calibri" pitchFamily="34" charset="0"/>
                <a:ea typeface="Calibri" pitchFamily="34" charset="-122"/>
                <a:cs typeface="Calibri" pitchFamily="34" charset="-120"/>
              </a:rPr>
              <a:t>TOOLS &amp; TECHNOLOGIES</a:t>
            </a:r>
            <a:endParaRPr lang="en-US" sz="1300" dirty="0"/>
          </a:p>
        </p:txBody>
      </p:sp>
      <p:sp>
        <p:nvSpPr>
          <p:cNvPr id="4" name="Text 2"/>
          <p:cNvSpPr/>
          <p:nvPr/>
        </p:nvSpPr>
        <p:spPr>
          <a:xfrm>
            <a:off x="777240" y="822960"/>
            <a:ext cx="9144000" cy="822960"/>
          </a:xfrm>
          <a:prstGeom prst="rect">
            <a:avLst/>
          </a:prstGeom>
          <a:noFill/>
          <a:ln/>
        </p:spPr>
        <p:txBody>
          <a:bodyPr wrap="square" rtlCol="0" anchor="ctr"/>
          <a:lstStyle/>
          <a:p>
            <a:pPr indent="0" marL="0">
              <a:buNone/>
            </a:pPr>
            <a:r>
              <a:rPr lang="en-US" sz="3400" b="1" dirty="0">
                <a:solidFill>
                  <a:srgbClr val="FFFFFF"/>
                </a:solidFill>
                <a:latin typeface="Bookman Old Style" pitchFamily="34" charset="0"/>
                <a:ea typeface="Bookman Old Style" pitchFamily="34" charset="-122"/>
                <a:cs typeface="Bookman Old Style" pitchFamily="34" charset="-120"/>
              </a:rPr>
              <a:t>Our Analytics Stack</a:t>
            </a:r>
            <a:endParaRPr lang="en-US" sz="3400" dirty="0"/>
          </a:p>
        </p:txBody>
      </p:sp>
      <p:sp>
        <p:nvSpPr>
          <p:cNvPr id="5" name="Shape 3"/>
          <p:cNvSpPr/>
          <p:nvPr/>
        </p:nvSpPr>
        <p:spPr>
          <a:xfrm>
            <a:off x="777240" y="1965960"/>
            <a:ext cx="3429000" cy="1965960"/>
          </a:xfrm>
          <a:prstGeom prst="roundRect">
            <a:avLst>
              <a:gd name="adj" fmla="val 5581"/>
            </a:avLst>
          </a:prstGeom>
          <a:solidFill>
            <a:srgbClr val="451D3A"/>
          </a:solidFill>
          <a:ln/>
        </p:spPr>
      </p:sp>
      <p:sp>
        <p:nvSpPr>
          <p:cNvPr id="6" name="Shape 4"/>
          <p:cNvSpPr/>
          <p:nvPr/>
        </p:nvSpPr>
        <p:spPr>
          <a:xfrm>
            <a:off x="2130552" y="2221992"/>
            <a:ext cx="777240" cy="777240"/>
          </a:xfrm>
          <a:prstGeom prst="ellipse">
            <a:avLst/>
          </a:prstGeom>
          <a:solidFill>
            <a:srgbClr val="E85D4E"/>
          </a:solidFill>
          <a:ln/>
        </p:spPr>
      </p:sp>
      <p:pic>
        <p:nvPicPr>
          <p:cNvPr id="7" name="Image 0" descr="/home/claude/icons/python.png">    </p:cNvPr>
          <p:cNvPicPr>
            <a:picLocks noChangeAspect="1"/>
          </p:cNvPicPr>
          <p:nvPr/>
        </p:nvPicPr>
        <p:blipFill>
          <a:blip r:embed="rId1"/>
          <a:stretch>
            <a:fillRect/>
          </a:stretch>
        </p:blipFill>
        <p:spPr>
          <a:xfrm>
            <a:off x="2340407" y="2431847"/>
            <a:ext cx="357530" cy="357530"/>
          </a:xfrm>
          <a:prstGeom prst="rect">
            <a:avLst/>
          </a:prstGeom>
        </p:spPr>
      </p:pic>
      <p:sp>
        <p:nvSpPr>
          <p:cNvPr id="8" name="Text 5"/>
          <p:cNvSpPr/>
          <p:nvPr/>
        </p:nvSpPr>
        <p:spPr>
          <a:xfrm>
            <a:off x="914400" y="3108960"/>
            <a:ext cx="3154680" cy="365760"/>
          </a:xfrm>
          <a:prstGeom prst="rect">
            <a:avLst/>
          </a:prstGeom>
          <a:noFill/>
          <a:ln/>
        </p:spPr>
        <p:txBody>
          <a:bodyPr wrap="square" lIns="0" tIns="0" rIns="0" bIns="0" rtlCol="0" anchor="ctr"/>
          <a:lstStyle/>
          <a:p>
            <a:pPr algn="ctr" indent="0" marL="0">
              <a:buNone/>
            </a:pPr>
            <a:r>
              <a:rPr lang="en-US" sz="1450" b="1" dirty="0">
                <a:solidFill>
                  <a:srgbClr val="FFFFFF"/>
                </a:solidFill>
                <a:latin typeface="Bookman Old Style" pitchFamily="34" charset="0"/>
                <a:ea typeface="Bookman Old Style" pitchFamily="34" charset="-122"/>
                <a:cs typeface="Bookman Old Style" pitchFamily="34" charset="-120"/>
              </a:rPr>
              <a:t>Python</a:t>
            </a:r>
            <a:endParaRPr lang="en-US" sz="1450" dirty="0"/>
          </a:p>
        </p:txBody>
      </p:sp>
      <p:sp>
        <p:nvSpPr>
          <p:cNvPr id="9" name="Text 6"/>
          <p:cNvSpPr/>
          <p:nvPr/>
        </p:nvSpPr>
        <p:spPr>
          <a:xfrm>
            <a:off x="914400" y="3474720"/>
            <a:ext cx="3154680" cy="365760"/>
          </a:xfrm>
          <a:prstGeom prst="rect">
            <a:avLst/>
          </a:prstGeom>
          <a:noFill/>
          <a:ln/>
        </p:spPr>
        <p:txBody>
          <a:bodyPr wrap="square" lIns="0" tIns="0" rIns="0" bIns="0" rtlCol="0" anchor="ctr"/>
          <a:lstStyle/>
          <a:p>
            <a:pPr algn="ctr" indent="0" marL="0">
              <a:buNone/>
            </a:pPr>
            <a:r>
              <a:rPr lang="en-US" sz="1000" dirty="0">
                <a:solidFill>
                  <a:srgbClr val="C7A9BC"/>
                </a:solidFill>
                <a:latin typeface="Calibri" pitchFamily="34" charset="0"/>
                <a:ea typeface="Calibri" pitchFamily="34" charset="-122"/>
                <a:cs typeface="Calibri" pitchFamily="34" charset="-120"/>
              </a:rPr>
              <a:t>Core analysis language</a:t>
            </a:r>
            <a:endParaRPr lang="en-US" sz="1000" dirty="0"/>
          </a:p>
        </p:txBody>
      </p:sp>
      <p:sp>
        <p:nvSpPr>
          <p:cNvPr id="10" name="Shape 7"/>
          <p:cNvSpPr/>
          <p:nvPr/>
        </p:nvSpPr>
        <p:spPr>
          <a:xfrm>
            <a:off x="4389120" y="1965960"/>
            <a:ext cx="3429000" cy="1965960"/>
          </a:xfrm>
          <a:prstGeom prst="roundRect">
            <a:avLst>
              <a:gd name="adj" fmla="val 5581"/>
            </a:avLst>
          </a:prstGeom>
          <a:solidFill>
            <a:srgbClr val="451D3A"/>
          </a:solidFill>
          <a:ln/>
        </p:spPr>
      </p:sp>
      <p:sp>
        <p:nvSpPr>
          <p:cNvPr id="11" name="Shape 8"/>
          <p:cNvSpPr/>
          <p:nvPr/>
        </p:nvSpPr>
        <p:spPr>
          <a:xfrm>
            <a:off x="5742432" y="2221992"/>
            <a:ext cx="777240" cy="777240"/>
          </a:xfrm>
          <a:prstGeom prst="ellipse">
            <a:avLst/>
          </a:prstGeom>
          <a:solidFill>
            <a:srgbClr val="F4B942"/>
          </a:solidFill>
          <a:ln/>
        </p:spPr>
      </p:sp>
      <p:pic>
        <p:nvPicPr>
          <p:cNvPr id="12" name="Image 1" descr="/home/claude/icons/jupyter.png">    </p:cNvPr>
          <p:cNvPicPr>
            <a:picLocks noChangeAspect="1"/>
          </p:cNvPicPr>
          <p:nvPr/>
        </p:nvPicPr>
        <p:blipFill>
          <a:blip r:embed="rId2"/>
          <a:stretch>
            <a:fillRect/>
          </a:stretch>
        </p:blipFill>
        <p:spPr>
          <a:xfrm>
            <a:off x="5952287" y="2431847"/>
            <a:ext cx="357530" cy="357530"/>
          </a:xfrm>
          <a:prstGeom prst="rect">
            <a:avLst/>
          </a:prstGeom>
        </p:spPr>
      </p:pic>
      <p:sp>
        <p:nvSpPr>
          <p:cNvPr id="13" name="Text 9"/>
          <p:cNvSpPr/>
          <p:nvPr/>
        </p:nvSpPr>
        <p:spPr>
          <a:xfrm>
            <a:off x="4526280" y="3108960"/>
            <a:ext cx="3154680" cy="365760"/>
          </a:xfrm>
          <a:prstGeom prst="rect">
            <a:avLst/>
          </a:prstGeom>
          <a:noFill/>
          <a:ln/>
        </p:spPr>
        <p:txBody>
          <a:bodyPr wrap="square" lIns="0" tIns="0" rIns="0" bIns="0" rtlCol="0" anchor="ctr"/>
          <a:lstStyle/>
          <a:p>
            <a:pPr algn="ctr" indent="0" marL="0">
              <a:buNone/>
            </a:pPr>
            <a:r>
              <a:rPr lang="en-US" sz="1450" b="1" dirty="0">
                <a:solidFill>
                  <a:srgbClr val="FFFFFF"/>
                </a:solidFill>
                <a:latin typeface="Bookman Old Style" pitchFamily="34" charset="0"/>
                <a:ea typeface="Bookman Old Style" pitchFamily="34" charset="-122"/>
                <a:cs typeface="Bookman Old Style" pitchFamily="34" charset="-120"/>
              </a:rPr>
              <a:t>Jupyter Notebook</a:t>
            </a:r>
            <a:endParaRPr lang="en-US" sz="1450" dirty="0"/>
          </a:p>
        </p:txBody>
      </p:sp>
      <p:sp>
        <p:nvSpPr>
          <p:cNvPr id="14" name="Text 10"/>
          <p:cNvSpPr/>
          <p:nvPr/>
        </p:nvSpPr>
        <p:spPr>
          <a:xfrm>
            <a:off x="4526280" y="3474720"/>
            <a:ext cx="3154680" cy="365760"/>
          </a:xfrm>
          <a:prstGeom prst="rect">
            <a:avLst/>
          </a:prstGeom>
          <a:noFill/>
          <a:ln/>
        </p:spPr>
        <p:txBody>
          <a:bodyPr wrap="square" lIns="0" tIns="0" rIns="0" bIns="0" rtlCol="0" anchor="ctr"/>
          <a:lstStyle/>
          <a:p>
            <a:pPr algn="ctr" indent="0" marL="0">
              <a:buNone/>
            </a:pPr>
            <a:r>
              <a:rPr lang="en-US" sz="1000" dirty="0">
                <a:solidFill>
                  <a:srgbClr val="C7A9BC"/>
                </a:solidFill>
                <a:latin typeface="Calibri" pitchFamily="34" charset="0"/>
                <a:ea typeface="Calibri" pitchFamily="34" charset="-122"/>
                <a:cs typeface="Calibri" pitchFamily="34" charset="-120"/>
              </a:rPr>
              <a:t>Interactive dev environment</a:t>
            </a:r>
            <a:endParaRPr lang="en-US" sz="1000" dirty="0"/>
          </a:p>
        </p:txBody>
      </p:sp>
      <p:sp>
        <p:nvSpPr>
          <p:cNvPr id="15" name="Shape 11"/>
          <p:cNvSpPr/>
          <p:nvPr/>
        </p:nvSpPr>
        <p:spPr>
          <a:xfrm>
            <a:off x="8001000" y="1965960"/>
            <a:ext cx="3429000" cy="1965960"/>
          </a:xfrm>
          <a:prstGeom prst="roundRect">
            <a:avLst>
              <a:gd name="adj" fmla="val 5581"/>
            </a:avLst>
          </a:prstGeom>
          <a:solidFill>
            <a:srgbClr val="451D3A"/>
          </a:solidFill>
          <a:ln/>
        </p:spPr>
      </p:sp>
      <p:sp>
        <p:nvSpPr>
          <p:cNvPr id="16" name="Shape 12"/>
          <p:cNvSpPr/>
          <p:nvPr/>
        </p:nvSpPr>
        <p:spPr>
          <a:xfrm>
            <a:off x="9354312" y="2221992"/>
            <a:ext cx="777240" cy="777240"/>
          </a:xfrm>
          <a:prstGeom prst="ellipse">
            <a:avLst/>
          </a:prstGeom>
          <a:solidFill>
            <a:srgbClr val="7B2D5E"/>
          </a:solidFill>
          <a:ln/>
        </p:spPr>
      </p:sp>
      <p:pic>
        <p:nvPicPr>
          <p:cNvPr id="17" name="Image 2" descr="/home/claude/icons/pandas.png">    </p:cNvPr>
          <p:cNvPicPr>
            <a:picLocks noChangeAspect="1"/>
          </p:cNvPicPr>
          <p:nvPr/>
        </p:nvPicPr>
        <p:blipFill>
          <a:blip r:embed="rId3"/>
          <a:stretch>
            <a:fillRect/>
          </a:stretch>
        </p:blipFill>
        <p:spPr>
          <a:xfrm>
            <a:off x="9564167" y="2431847"/>
            <a:ext cx="357530" cy="357530"/>
          </a:xfrm>
          <a:prstGeom prst="rect">
            <a:avLst/>
          </a:prstGeom>
        </p:spPr>
      </p:pic>
      <p:sp>
        <p:nvSpPr>
          <p:cNvPr id="18" name="Text 13"/>
          <p:cNvSpPr/>
          <p:nvPr/>
        </p:nvSpPr>
        <p:spPr>
          <a:xfrm>
            <a:off x="8138160" y="3108960"/>
            <a:ext cx="3154680" cy="365760"/>
          </a:xfrm>
          <a:prstGeom prst="rect">
            <a:avLst/>
          </a:prstGeom>
          <a:noFill/>
          <a:ln/>
        </p:spPr>
        <p:txBody>
          <a:bodyPr wrap="square" lIns="0" tIns="0" rIns="0" bIns="0" rtlCol="0" anchor="ctr"/>
          <a:lstStyle/>
          <a:p>
            <a:pPr algn="ctr" indent="0" marL="0">
              <a:buNone/>
            </a:pPr>
            <a:r>
              <a:rPr lang="en-US" sz="1450" b="1" dirty="0">
                <a:solidFill>
                  <a:srgbClr val="FFFFFF"/>
                </a:solidFill>
                <a:latin typeface="Bookman Old Style" pitchFamily="34" charset="0"/>
                <a:ea typeface="Bookman Old Style" pitchFamily="34" charset="-122"/>
                <a:cs typeface="Bookman Old Style" pitchFamily="34" charset="-120"/>
              </a:rPr>
              <a:t>Pandas</a:t>
            </a:r>
            <a:endParaRPr lang="en-US" sz="1450" dirty="0"/>
          </a:p>
        </p:txBody>
      </p:sp>
      <p:sp>
        <p:nvSpPr>
          <p:cNvPr id="19" name="Text 14"/>
          <p:cNvSpPr/>
          <p:nvPr/>
        </p:nvSpPr>
        <p:spPr>
          <a:xfrm>
            <a:off x="8138160" y="3474720"/>
            <a:ext cx="3154680" cy="365760"/>
          </a:xfrm>
          <a:prstGeom prst="rect">
            <a:avLst/>
          </a:prstGeom>
          <a:noFill/>
          <a:ln/>
        </p:spPr>
        <p:txBody>
          <a:bodyPr wrap="square" lIns="0" tIns="0" rIns="0" bIns="0" rtlCol="0" anchor="ctr"/>
          <a:lstStyle/>
          <a:p>
            <a:pPr algn="ctr" indent="0" marL="0">
              <a:buNone/>
            </a:pPr>
            <a:r>
              <a:rPr lang="en-US" sz="1000" dirty="0">
                <a:solidFill>
                  <a:srgbClr val="C7A9BC"/>
                </a:solidFill>
                <a:latin typeface="Calibri" pitchFamily="34" charset="0"/>
                <a:ea typeface="Calibri" pitchFamily="34" charset="-122"/>
                <a:cs typeface="Calibri" pitchFamily="34" charset="-120"/>
              </a:rPr>
              <a:t>Data wrangling &amp; cleaning</a:t>
            </a:r>
            <a:endParaRPr lang="en-US" sz="1000" dirty="0"/>
          </a:p>
        </p:txBody>
      </p:sp>
      <p:sp>
        <p:nvSpPr>
          <p:cNvPr id="20" name="Shape 15"/>
          <p:cNvSpPr/>
          <p:nvPr/>
        </p:nvSpPr>
        <p:spPr>
          <a:xfrm>
            <a:off x="777240" y="4160520"/>
            <a:ext cx="3429000" cy="1965960"/>
          </a:xfrm>
          <a:prstGeom prst="roundRect">
            <a:avLst>
              <a:gd name="adj" fmla="val 5581"/>
            </a:avLst>
          </a:prstGeom>
          <a:solidFill>
            <a:srgbClr val="451D3A"/>
          </a:solidFill>
          <a:ln/>
        </p:spPr>
      </p:sp>
      <p:sp>
        <p:nvSpPr>
          <p:cNvPr id="21" name="Shape 16"/>
          <p:cNvSpPr/>
          <p:nvPr/>
        </p:nvSpPr>
        <p:spPr>
          <a:xfrm>
            <a:off x="2130552" y="4416552"/>
            <a:ext cx="777240" cy="777240"/>
          </a:xfrm>
          <a:prstGeom prst="ellipse">
            <a:avLst/>
          </a:prstGeom>
          <a:solidFill>
            <a:srgbClr val="8FA998"/>
          </a:solidFill>
          <a:ln/>
        </p:spPr>
      </p:sp>
      <p:pic>
        <p:nvPicPr>
          <p:cNvPr id="22" name="Image 3" descr="/home/claude/icons/numpy.png">    </p:cNvPr>
          <p:cNvPicPr>
            <a:picLocks noChangeAspect="1"/>
          </p:cNvPicPr>
          <p:nvPr/>
        </p:nvPicPr>
        <p:blipFill>
          <a:blip r:embed="rId4"/>
          <a:stretch>
            <a:fillRect/>
          </a:stretch>
        </p:blipFill>
        <p:spPr>
          <a:xfrm>
            <a:off x="2340407" y="4626407"/>
            <a:ext cx="357530" cy="357530"/>
          </a:xfrm>
          <a:prstGeom prst="rect">
            <a:avLst/>
          </a:prstGeom>
        </p:spPr>
      </p:pic>
      <p:sp>
        <p:nvSpPr>
          <p:cNvPr id="23" name="Text 17"/>
          <p:cNvSpPr/>
          <p:nvPr/>
        </p:nvSpPr>
        <p:spPr>
          <a:xfrm>
            <a:off x="914400" y="5303520"/>
            <a:ext cx="3154680" cy="365760"/>
          </a:xfrm>
          <a:prstGeom prst="rect">
            <a:avLst/>
          </a:prstGeom>
          <a:noFill/>
          <a:ln/>
        </p:spPr>
        <p:txBody>
          <a:bodyPr wrap="square" lIns="0" tIns="0" rIns="0" bIns="0" rtlCol="0" anchor="ctr"/>
          <a:lstStyle/>
          <a:p>
            <a:pPr algn="ctr" indent="0" marL="0">
              <a:buNone/>
            </a:pPr>
            <a:r>
              <a:rPr lang="en-US" sz="1450" b="1" dirty="0">
                <a:solidFill>
                  <a:srgbClr val="FFFFFF"/>
                </a:solidFill>
                <a:latin typeface="Bookman Old Style" pitchFamily="34" charset="0"/>
                <a:ea typeface="Bookman Old Style" pitchFamily="34" charset="-122"/>
                <a:cs typeface="Bookman Old Style" pitchFamily="34" charset="-120"/>
              </a:rPr>
              <a:t>NumPy</a:t>
            </a:r>
            <a:endParaRPr lang="en-US" sz="1450" dirty="0"/>
          </a:p>
        </p:txBody>
      </p:sp>
      <p:sp>
        <p:nvSpPr>
          <p:cNvPr id="24" name="Text 18"/>
          <p:cNvSpPr/>
          <p:nvPr/>
        </p:nvSpPr>
        <p:spPr>
          <a:xfrm>
            <a:off x="914400" y="5669280"/>
            <a:ext cx="3154680" cy="365760"/>
          </a:xfrm>
          <a:prstGeom prst="rect">
            <a:avLst/>
          </a:prstGeom>
          <a:noFill/>
          <a:ln/>
        </p:spPr>
        <p:txBody>
          <a:bodyPr wrap="square" lIns="0" tIns="0" rIns="0" bIns="0" rtlCol="0" anchor="ctr"/>
          <a:lstStyle/>
          <a:p>
            <a:pPr algn="ctr" indent="0" marL="0">
              <a:buNone/>
            </a:pPr>
            <a:r>
              <a:rPr lang="en-US" sz="1000" dirty="0">
                <a:solidFill>
                  <a:srgbClr val="C7A9BC"/>
                </a:solidFill>
                <a:latin typeface="Calibri" pitchFamily="34" charset="0"/>
                <a:ea typeface="Calibri" pitchFamily="34" charset="-122"/>
                <a:cs typeface="Calibri" pitchFamily="34" charset="-120"/>
              </a:rPr>
              <a:t>Numerical computation</a:t>
            </a:r>
            <a:endParaRPr lang="en-US" sz="1000" dirty="0"/>
          </a:p>
        </p:txBody>
      </p:sp>
      <p:sp>
        <p:nvSpPr>
          <p:cNvPr id="25" name="Shape 19"/>
          <p:cNvSpPr/>
          <p:nvPr/>
        </p:nvSpPr>
        <p:spPr>
          <a:xfrm>
            <a:off x="4389120" y="4160520"/>
            <a:ext cx="3429000" cy="1965960"/>
          </a:xfrm>
          <a:prstGeom prst="roundRect">
            <a:avLst>
              <a:gd name="adj" fmla="val 5581"/>
            </a:avLst>
          </a:prstGeom>
          <a:solidFill>
            <a:srgbClr val="451D3A"/>
          </a:solidFill>
          <a:ln/>
        </p:spPr>
      </p:sp>
      <p:sp>
        <p:nvSpPr>
          <p:cNvPr id="26" name="Shape 20"/>
          <p:cNvSpPr/>
          <p:nvPr/>
        </p:nvSpPr>
        <p:spPr>
          <a:xfrm>
            <a:off x="5742432" y="4416552"/>
            <a:ext cx="777240" cy="777240"/>
          </a:xfrm>
          <a:prstGeom prst="ellipse">
            <a:avLst/>
          </a:prstGeom>
          <a:solidFill>
            <a:srgbClr val="E85D4E"/>
          </a:solidFill>
          <a:ln/>
        </p:spPr>
      </p:sp>
      <p:pic>
        <p:nvPicPr>
          <p:cNvPr id="27" name="Image 4" descr="/home/claude/icons/barchart.png">    </p:cNvPr>
          <p:cNvPicPr>
            <a:picLocks noChangeAspect="1"/>
          </p:cNvPicPr>
          <p:nvPr/>
        </p:nvPicPr>
        <p:blipFill>
          <a:blip r:embed="rId5"/>
          <a:stretch>
            <a:fillRect/>
          </a:stretch>
        </p:blipFill>
        <p:spPr>
          <a:xfrm>
            <a:off x="5952287" y="4626407"/>
            <a:ext cx="357530" cy="357530"/>
          </a:xfrm>
          <a:prstGeom prst="rect">
            <a:avLst/>
          </a:prstGeom>
        </p:spPr>
      </p:pic>
      <p:sp>
        <p:nvSpPr>
          <p:cNvPr id="28" name="Text 21"/>
          <p:cNvSpPr/>
          <p:nvPr/>
        </p:nvSpPr>
        <p:spPr>
          <a:xfrm>
            <a:off x="4526280" y="5303520"/>
            <a:ext cx="3154680" cy="365760"/>
          </a:xfrm>
          <a:prstGeom prst="rect">
            <a:avLst/>
          </a:prstGeom>
          <a:noFill/>
          <a:ln/>
        </p:spPr>
        <p:txBody>
          <a:bodyPr wrap="square" lIns="0" tIns="0" rIns="0" bIns="0" rtlCol="0" anchor="ctr"/>
          <a:lstStyle/>
          <a:p>
            <a:pPr algn="ctr" indent="0" marL="0">
              <a:buNone/>
            </a:pPr>
            <a:r>
              <a:rPr lang="en-US" sz="1450" b="1" dirty="0">
                <a:solidFill>
                  <a:srgbClr val="FFFFFF"/>
                </a:solidFill>
                <a:latin typeface="Bookman Old Style" pitchFamily="34" charset="0"/>
                <a:ea typeface="Bookman Old Style" pitchFamily="34" charset="-122"/>
                <a:cs typeface="Bookman Old Style" pitchFamily="34" charset="-120"/>
              </a:rPr>
              <a:t>Matplotlib</a:t>
            </a:r>
            <a:endParaRPr lang="en-US" sz="1450" dirty="0"/>
          </a:p>
        </p:txBody>
      </p:sp>
      <p:sp>
        <p:nvSpPr>
          <p:cNvPr id="29" name="Text 22"/>
          <p:cNvSpPr/>
          <p:nvPr/>
        </p:nvSpPr>
        <p:spPr>
          <a:xfrm>
            <a:off x="4526280" y="5669280"/>
            <a:ext cx="3154680" cy="365760"/>
          </a:xfrm>
          <a:prstGeom prst="rect">
            <a:avLst/>
          </a:prstGeom>
          <a:noFill/>
          <a:ln/>
        </p:spPr>
        <p:txBody>
          <a:bodyPr wrap="square" lIns="0" tIns="0" rIns="0" bIns="0" rtlCol="0" anchor="ctr"/>
          <a:lstStyle/>
          <a:p>
            <a:pPr algn="ctr" indent="0" marL="0">
              <a:buNone/>
            </a:pPr>
            <a:r>
              <a:rPr lang="en-US" sz="1000" dirty="0">
                <a:solidFill>
                  <a:srgbClr val="C7A9BC"/>
                </a:solidFill>
                <a:latin typeface="Calibri" pitchFamily="34" charset="0"/>
                <a:ea typeface="Calibri" pitchFamily="34" charset="-122"/>
                <a:cs typeface="Calibri" pitchFamily="34" charset="-120"/>
              </a:rPr>
              <a:t>Static visualizations</a:t>
            </a:r>
            <a:endParaRPr lang="en-US" sz="1000" dirty="0"/>
          </a:p>
        </p:txBody>
      </p:sp>
      <p:sp>
        <p:nvSpPr>
          <p:cNvPr id="30" name="Shape 23"/>
          <p:cNvSpPr/>
          <p:nvPr/>
        </p:nvSpPr>
        <p:spPr>
          <a:xfrm>
            <a:off x="8001000" y="4160520"/>
            <a:ext cx="3429000" cy="1965960"/>
          </a:xfrm>
          <a:prstGeom prst="roundRect">
            <a:avLst>
              <a:gd name="adj" fmla="val 5581"/>
            </a:avLst>
          </a:prstGeom>
          <a:solidFill>
            <a:srgbClr val="451D3A"/>
          </a:solidFill>
          <a:ln/>
        </p:spPr>
      </p:sp>
      <p:sp>
        <p:nvSpPr>
          <p:cNvPr id="31" name="Shape 24"/>
          <p:cNvSpPr/>
          <p:nvPr/>
        </p:nvSpPr>
        <p:spPr>
          <a:xfrm>
            <a:off x="9354312" y="4416552"/>
            <a:ext cx="777240" cy="777240"/>
          </a:xfrm>
          <a:prstGeom prst="ellipse">
            <a:avLst/>
          </a:prstGeom>
          <a:solidFill>
            <a:srgbClr val="F4B942"/>
          </a:solidFill>
          <a:ln/>
        </p:spPr>
      </p:sp>
      <p:pic>
        <p:nvPicPr>
          <p:cNvPr id="32" name="Image 5" descr="/home/claude/icons/chart.png">    </p:cNvPr>
          <p:cNvPicPr>
            <a:picLocks noChangeAspect="1"/>
          </p:cNvPicPr>
          <p:nvPr/>
        </p:nvPicPr>
        <p:blipFill>
          <a:blip r:embed="rId6"/>
          <a:stretch>
            <a:fillRect/>
          </a:stretch>
        </p:blipFill>
        <p:spPr>
          <a:xfrm>
            <a:off x="9564167" y="4626407"/>
            <a:ext cx="357530" cy="357530"/>
          </a:xfrm>
          <a:prstGeom prst="rect">
            <a:avLst/>
          </a:prstGeom>
        </p:spPr>
      </p:pic>
      <p:sp>
        <p:nvSpPr>
          <p:cNvPr id="33" name="Text 25"/>
          <p:cNvSpPr/>
          <p:nvPr/>
        </p:nvSpPr>
        <p:spPr>
          <a:xfrm>
            <a:off x="8138160" y="5303520"/>
            <a:ext cx="3154680" cy="365760"/>
          </a:xfrm>
          <a:prstGeom prst="rect">
            <a:avLst/>
          </a:prstGeom>
          <a:noFill/>
          <a:ln/>
        </p:spPr>
        <p:txBody>
          <a:bodyPr wrap="square" lIns="0" tIns="0" rIns="0" bIns="0" rtlCol="0" anchor="ctr"/>
          <a:lstStyle/>
          <a:p>
            <a:pPr algn="ctr" indent="0" marL="0">
              <a:buNone/>
            </a:pPr>
            <a:r>
              <a:rPr lang="en-US" sz="1450" b="1" dirty="0">
                <a:solidFill>
                  <a:srgbClr val="FFFFFF"/>
                </a:solidFill>
                <a:latin typeface="Bookman Old Style" pitchFamily="34" charset="0"/>
                <a:ea typeface="Bookman Old Style" pitchFamily="34" charset="-122"/>
                <a:cs typeface="Bookman Old Style" pitchFamily="34" charset="-120"/>
              </a:rPr>
              <a:t>Seaborn</a:t>
            </a:r>
            <a:endParaRPr lang="en-US" sz="1450" dirty="0"/>
          </a:p>
        </p:txBody>
      </p:sp>
      <p:sp>
        <p:nvSpPr>
          <p:cNvPr id="34" name="Text 26"/>
          <p:cNvSpPr/>
          <p:nvPr/>
        </p:nvSpPr>
        <p:spPr>
          <a:xfrm>
            <a:off x="8138160" y="5669280"/>
            <a:ext cx="3154680" cy="365760"/>
          </a:xfrm>
          <a:prstGeom prst="rect">
            <a:avLst/>
          </a:prstGeom>
          <a:noFill/>
          <a:ln/>
        </p:spPr>
        <p:txBody>
          <a:bodyPr wrap="square" lIns="0" tIns="0" rIns="0" bIns="0" rtlCol="0" anchor="ctr"/>
          <a:lstStyle/>
          <a:p>
            <a:pPr algn="ctr" indent="0" marL="0">
              <a:buNone/>
            </a:pPr>
            <a:r>
              <a:rPr lang="en-US" sz="1000" dirty="0">
                <a:solidFill>
                  <a:srgbClr val="C7A9BC"/>
                </a:solidFill>
                <a:latin typeface="Calibri" pitchFamily="34" charset="0"/>
                <a:ea typeface="Calibri" pitchFamily="34" charset="-122"/>
                <a:cs typeface="Calibri" pitchFamily="34" charset="-120"/>
              </a:rPr>
              <a:t>Statistical graphics</a:t>
            </a:r>
            <a:endParaRPr lang="en-US" sz="1000" dirty="0"/>
          </a:p>
        </p:txBody>
      </p:sp>
      <p:sp>
        <p:nvSpPr>
          <p:cNvPr id="35" name="Text 27"/>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7315200" cy="320040"/>
          </a:xfrm>
          <a:prstGeom prst="rect">
            <a:avLst/>
          </a:prstGeom>
          <a:noFill/>
          <a:ln/>
        </p:spPr>
        <p:txBody>
          <a:bodyPr wrap="square" rtlCol="0" anchor="ctr"/>
          <a:lstStyle/>
          <a:p>
            <a:pPr indent="0" marL="0">
              <a:buNone/>
            </a:pPr>
            <a:r>
              <a:rPr lang="en-US" sz="1200" b="1" spc="300" kern="0" dirty="0">
                <a:solidFill>
                  <a:srgbClr val="7B2D5E"/>
                </a:solidFill>
                <a:latin typeface="Calibri" pitchFamily="34" charset="0"/>
                <a:ea typeface="Calibri" pitchFamily="34" charset="-122"/>
                <a:cs typeface="Calibri" pitchFamily="34" charset="-120"/>
              </a:rPr>
              <a:t>EXPLORATORY DATA ANALYSIS</a:t>
            </a:r>
            <a:endParaRPr lang="en-US" sz="1200" dirty="0"/>
          </a:p>
        </p:txBody>
      </p:sp>
      <p:sp>
        <p:nvSpPr>
          <p:cNvPr id="3" name="Text 1"/>
          <p:cNvSpPr/>
          <p:nvPr/>
        </p:nvSpPr>
        <p:spPr>
          <a:xfrm>
            <a:off x="777240" y="777240"/>
            <a:ext cx="9601200" cy="685800"/>
          </a:xfrm>
          <a:prstGeom prst="rect">
            <a:avLst/>
          </a:prstGeom>
          <a:noFill/>
          <a:ln/>
        </p:spPr>
        <p:txBody>
          <a:bodyPr wrap="square" rtlCol="0" anchor="ctr"/>
          <a:lstStyle/>
          <a:p>
            <a:pPr indent="0" marL="0">
              <a:buNone/>
            </a:pPr>
            <a:r>
              <a:rPr lang="en-US" sz="2800" b="1" dirty="0">
                <a:solidFill>
                  <a:srgbClr val="2B1B24"/>
                </a:solidFill>
                <a:latin typeface="Bookman Old Style" pitchFamily="34" charset="0"/>
                <a:ea typeface="Bookman Old Style" pitchFamily="34" charset="-122"/>
                <a:cs typeface="Bookman Old Style" pitchFamily="34" charset="-120"/>
              </a:rPr>
              <a:t>Q1 — Where Does Rent Peak?</a:t>
            </a:r>
            <a:endParaRPr lang="en-US" sz="2800" dirty="0"/>
          </a:p>
        </p:txBody>
      </p:sp>
      <p:pic>
        <p:nvPicPr>
          <p:cNvPr id="4" name="Image 0" descr="/home/claude/charts/top_rent_localities.png">    </p:cNvPr>
          <p:cNvPicPr>
            <a:picLocks noChangeAspect="1"/>
          </p:cNvPicPr>
          <p:nvPr/>
        </p:nvPicPr>
        <p:blipFill>
          <a:blip r:embed="rId1"/>
          <a:stretch>
            <a:fillRect/>
          </a:stretch>
        </p:blipFill>
        <p:spPr>
          <a:xfrm>
            <a:off x="640080" y="1600200"/>
            <a:ext cx="6949440" cy="4434840"/>
          </a:xfrm>
          <a:prstGeom prst="rect">
            <a:avLst/>
          </a:prstGeom>
        </p:spPr>
      </p:pic>
      <p:sp>
        <p:nvSpPr>
          <p:cNvPr id="5" name="Shape 2"/>
          <p:cNvSpPr/>
          <p:nvPr/>
        </p:nvSpPr>
        <p:spPr>
          <a:xfrm>
            <a:off x="7818120" y="1600200"/>
            <a:ext cx="3611880" cy="4434840"/>
          </a:xfrm>
          <a:prstGeom prst="roundRect">
            <a:avLst>
              <a:gd name="adj" fmla="val 3038"/>
            </a:avLst>
          </a:prstGeom>
          <a:solidFill>
            <a:srgbClr val="FFF9F5"/>
          </a:solidFill>
          <a:ln w="12700">
            <a:solidFill>
              <a:srgbClr val="EBD8C9"/>
            </a:solidFill>
            <a:prstDash val="solid"/>
          </a:ln>
        </p:spPr>
      </p:sp>
      <p:sp>
        <p:nvSpPr>
          <p:cNvPr id="6" name="Text 3"/>
          <p:cNvSpPr/>
          <p:nvPr/>
        </p:nvSpPr>
        <p:spPr>
          <a:xfrm>
            <a:off x="8092440" y="1828800"/>
            <a:ext cx="3108960" cy="320040"/>
          </a:xfrm>
          <a:prstGeom prst="rect">
            <a:avLst/>
          </a:prstGeom>
          <a:noFill/>
          <a:ln/>
        </p:spPr>
        <p:txBody>
          <a:bodyPr wrap="square" rtlCol="0" anchor="ctr"/>
          <a:lstStyle/>
          <a:p>
            <a:pPr indent="0" marL="0">
              <a:buNone/>
            </a:pPr>
            <a:r>
              <a:rPr lang="en-US" sz="1100" b="1" spc="200" kern="0" dirty="0">
                <a:solidFill>
                  <a:srgbClr val="7B2D5E"/>
                </a:solidFill>
                <a:latin typeface="Calibri" pitchFamily="34" charset="0"/>
                <a:ea typeface="Calibri" pitchFamily="34" charset="-122"/>
                <a:cs typeface="Calibri" pitchFamily="34" charset="-120"/>
              </a:rPr>
              <a:t>KEY OBSERVATIONS</a:t>
            </a:r>
            <a:endParaRPr lang="en-US" sz="1100" dirty="0"/>
          </a:p>
        </p:txBody>
      </p:sp>
      <p:sp>
        <p:nvSpPr>
          <p:cNvPr id="7" name="Text 4"/>
          <p:cNvSpPr/>
          <p:nvPr/>
        </p:nvSpPr>
        <p:spPr>
          <a:xfrm>
            <a:off x="8092440" y="2148840"/>
            <a:ext cx="3108960" cy="548640"/>
          </a:xfrm>
          <a:prstGeom prst="rect">
            <a:avLst/>
          </a:prstGeom>
          <a:noFill/>
          <a:ln/>
        </p:spPr>
        <p:txBody>
          <a:bodyPr wrap="square" lIns="0" tIns="0" rIns="0" bIns="0" rtlCol="0" anchor="ctr"/>
          <a:lstStyle/>
          <a:p>
            <a:pPr indent="0" marL="0">
              <a:buNone/>
            </a:pPr>
            <a:r>
              <a:rPr lang="en-US" sz="3000" b="1" dirty="0">
                <a:solidFill>
                  <a:srgbClr val="E85D4E"/>
                </a:solidFill>
                <a:latin typeface="Bookman Old Style" pitchFamily="34" charset="0"/>
                <a:ea typeface="Bookman Old Style" pitchFamily="34" charset="-122"/>
                <a:cs typeface="Bookman Old Style" pitchFamily="34" charset="-120"/>
              </a:rPr>
              <a:t>₹41,829</a:t>
            </a:r>
            <a:endParaRPr lang="en-US" sz="3000" dirty="0"/>
          </a:p>
        </p:txBody>
      </p:sp>
      <p:sp>
        <p:nvSpPr>
          <p:cNvPr id="8" name="Text 5"/>
          <p:cNvSpPr/>
          <p:nvPr/>
        </p:nvSpPr>
        <p:spPr>
          <a:xfrm>
            <a:off x="8092440" y="2651760"/>
            <a:ext cx="3108960" cy="502920"/>
          </a:xfrm>
          <a:prstGeom prst="rect">
            <a:avLst/>
          </a:prstGeom>
          <a:noFill/>
          <a:ln/>
        </p:spPr>
        <p:txBody>
          <a:bodyPr wrap="square" lIns="0" tIns="0" rIns="0" bIns="0" rtlCol="0" anchor="ctr"/>
          <a:lstStyle/>
          <a:p>
            <a:pPr indent="0" marL="0">
              <a:buNone/>
            </a:pPr>
            <a:r>
              <a:rPr lang="en-US" sz="1050" dirty="0">
                <a:solidFill>
                  <a:srgbClr val="6B5B63"/>
                </a:solidFill>
                <a:latin typeface="Calibri" pitchFamily="34" charset="0"/>
                <a:ea typeface="Calibri" pitchFamily="34" charset="-122"/>
                <a:cs typeface="Calibri" pitchFamily="34" charset="-120"/>
              </a:rPr>
              <a:t>HSR Layout — highest average monthly rent</a:t>
            </a:r>
            <a:endParaRPr lang="en-US" sz="1050" dirty="0"/>
          </a:p>
        </p:txBody>
      </p:sp>
      <p:sp>
        <p:nvSpPr>
          <p:cNvPr id="9" name="Shape 6"/>
          <p:cNvSpPr/>
          <p:nvPr/>
        </p:nvSpPr>
        <p:spPr>
          <a:xfrm>
            <a:off x="8092440" y="3246120"/>
            <a:ext cx="3063240" cy="0"/>
          </a:xfrm>
          <a:prstGeom prst="line">
            <a:avLst/>
          </a:prstGeom>
          <a:noFill/>
          <a:ln w="12700">
            <a:solidFill>
              <a:srgbClr val="EBD8C9"/>
            </a:solidFill>
            <a:prstDash val="solid"/>
          </a:ln>
        </p:spPr>
      </p:sp>
      <p:sp>
        <p:nvSpPr>
          <p:cNvPr id="10" name="Text 7"/>
          <p:cNvSpPr/>
          <p:nvPr/>
        </p:nvSpPr>
        <p:spPr>
          <a:xfrm>
            <a:off x="8092440" y="3383280"/>
            <a:ext cx="3108960" cy="457200"/>
          </a:xfrm>
          <a:prstGeom prst="rect">
            <a:avLst/>
          </a:prstGeom>
          <a:noFill/>
          <a:ln/>
        </p:spPr>
        <p:txBody>
          <a:bodyPr wrap="square" lIns="0" tIns="0" rIns="0" bIns="0" rtlCol="0" anchor="ctr"/>
          <a:lstStyle/>
          <a:p>
            <a:pPr indent="0" marL="0">
              <a:lnSpc>
                <a:spcPct val="120000"/>
              </a:lnSpc>
              <a:buNone/>
            </a:pPr>
            <a:r>
              <a:rPr lang="en-US" sz="1050" b="1" dirty="0">
                <a:solidFill>
                  <a:srgbClr val="7B2D5E"/>
                </a:solidFill>
                <a:latin typeface="Calibri" pitchFamily="34" charset="0"/>
                <a:ea typeface="Calibri" pitchFamily="34" charset="-122"/>
                <a:cs typeface="Calibri" pitchFamily="34" charset="-120"/>
              </a:rPr>
              <a:t>₹37,386 </a:t>
            </a:r>
            <a:pPr indent="0" marL="0">
              <a:lnSpc>
                <a:spcPct val="120000"/>
              </a:lnSpc>
              <a:buNone/>
            </a:pPr>
            <a:r>
              <a:rPr lang="en-US" sz="1050" dirty="0">
                <a:solidFill>
                  <a:srgbClr val="6B5B63"/>
                </a:solidFill>
                <a:latin typeface="Calibri" pitchFamily="34" charset="0"/>
                <a:ea typeface="Calibri" pitchFamily="34" charset="-122"/>
                <a:cs typeface="Calibri" pitchFamily="34" charset="-120"/>
              </a:rPr>
              <a:t>— Lavelle Road ranks second.</a:t>
            </a:r>
            <a:endParaRPr lang="en-US" sz="1050" dirty="0"/>
          </a:p>
        </p:txBody>
      </p:sp>
      <p:sp>
        <p:nvSpPr>
          <p:cNvPr id="11" name="Text 8"/>
          <p:cNvSpPr/>
          <p:nvPr/>
        </p:nvSpPr>
        <p:spPr>
          <a:xfrm>
            <a:off x="8092440" y="3977640"/>
            <a:ext cx="3108960" cy="1005840"/>
          </a:xfrm>
          <a:prstGeom prst="rect">
            <a:avLst/>
          </a:prstGeom>
          <a:noFill/>
          <a:ln/>
        </p:spPr>
        <p:txBody>
          <a:bodyPr wrap="square" lIns="0" tIns="0" rIns="0" bIns="0" rtlCol="0" anchor="ctr"/>
          <a:lstStyle/>
          <a:p>
            <a:pPr indent="0" marL="0">
              <a:lnSpc>
                <a:spcPct val="125000"/>
              </a:lnSpc>
              <a:buNone/>
            </a:pPr>
            <a:r>
              <a:rPr lang="en-US" sz="1050" dirty="0">
                <a:solidFill>
                  <a:srgbClr val="6B5B63"/>
                </a:solidFill>
                <a:latin typeface="Calibri" pitchFamily="34" charset="0"/>
                <a:ea typeface="Calibri" pitchFamily="34" charset="-122"/>
                <a:cs typeface="Calibri" pitchFamily="34" charset="-120"/>
              </a:rPr>
              <a:t>Premium business &amp; IT-centric localities command higher rent thanks to connectivity, employment access and amenities.</a:t>
            </a:r>
            <a:endParaRPr lang="en-US" sz="1050" dirty="0"/>
          </a:p>
        </p:txBody>
      </p:sp>
      <p:sp>
        <p:nvSpPr>
          <p:cNvPr id="12" name="Shape 9"/>
          <p:cNvSpPr/>
          <p:nvPr/>
        </p:nvSpPr>
        <p:spPr>
          <a:xfrm>
            <a:off x="8092440" y="5074920"/>
            <a:ext cx="3063240" cy="0"/>
          </a:xfrm>
          <a:prstGeom prst="line">
            <a:avLst/>
          </a:prstGeom>
          <a:noFill/>
          <a:ln w="12700">
            <a:solidFill>
              <a:srgbClr val="EBD8C9"/>
            </a:solidFill>
            <a:prstDash val="solid"/>
          </a:ln>
        </p:spPr>
      </p:sp>
      <p:sp>
        <p:nvSpPr>
          <p:cNvPr id="13" name="Text 10"/>
          <p:cNvSpPr/>
          <p:nvPr/>
        </p:nvSpPr>
        <p:spPr>
          <a:xfrm>
            <a:off x="8092440" y="5212080"/>
            <a:ext cx="3108960" cy="777240"/>
          </a:xfrm>
          <a:prstGeom prst="rect">
            <a:avLst/>
          </a:prstGeom>
          <a:noFill/>
          <a:ln/>
        </p:spPr>
        <p:txBody>
          <a:bodyPr wrap="square" lIns="0" tIns="0" rIns="0" bIns="0" rtlCol="0" anchor="ctr"/>
          <a:lstStyle/>
          <a:p>
            <a:pPr indent="0" marL="0">
              <a:lnSpc>
                <a:spcPct val="125000"/>
              </a:lnSpc>
              <a:buNone/>
            </a:pPr>
            <a:r>
              <a:rPr lang="en-US" sz="1050" i="1" dirty="0">
                <a:solidFill>
                  <a:srgbClr val="7B2D5E"/>
                </a:solidFill>
                <a:latin typeface="Calibri" pitchFamily="34" charset="0"/>
                <a:ea typeface="Calibri" pitchFamily="34" charset="-122"/>
                <a:cs typeface="Calibri" pitchFamily="34" charset="-120"/>
              </a:rPr>
              <a:t>A wide gap separates top localities from the citywide average (₹14,969) — rent is highly location-driven.</a:t>
            </a:r>
            <a:endParaRPr lang="en-US" sz="1050" dirty="0"/>
          </a:p>
        </p:txBody>
      </p:sp>
      <p:sp>
        <p:nvSpPr>
          <p:cNvPr id="14" name="Text 11"/>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9F5"/>
        </a:solidFill>
      </p:bgPr>
    </p:bg>
    <p:spTree>
      <p:nvGrpSpPr>
        <p:cNvPr id="1" name=""/>
        <p:cNvGrpSpPr/>
        <p:nvPr/>
      </p:nvGrpSpPr>
      <p:grpSpPr>
        <a:xfrm>
          <a:off x="0" y="0"/>
          <a:ext cx="0" cy="0"/>
          <a:chOff x="0" y="0"/>
          <a:chExt cx="0" cy="0"/>
        </a:xfrm>
      </p:grpSpPr>
      <p:sp>
        <p:nvSpPr>
          <p:cNvPr id="2" name="Text 0"/>
          <p:cNvSpPr/>
          <p:nvPr/>
        </p:nvSpPr>
        <p:spPr>
          <a:xfrm>
            <a:off x="777240" y="457200"/>
            <a:ext cx="7315200" cy="320040"/>
          </a:xfrm>
          <a:prstGeom prst="rect">
            <a:avLst/>
          </a:prstGeom>
          <a:noFill/>
          <a:ln/>
        </p:spPr>
        <p:txBody>
          <a:bodyPr wrap="square" rtlCol="0" anchor="ctr"/>
          <a:lstStyle/>
          <a:p>
            <a:pPr indent="0" marL="0">
              <a:buNone/>
            </a:pPr>
            <a:r>
              <a:rPr lang="en-US" sz="1200" b="1" spc="300" kern="0" dirty="0">
                <a:solidFill>
                  <a:srgbClr val="7B2D5E"/>
                </a:solidFill>
                <a:latin typeface="Calibri" pitchFamily="34" charset="0"/>
                <a:ea typeface="Calibri" pitchFamily="34" charset="-122"/>
                <a:cs typeface="Calibri" pitchFamily="34" charset="-120"/>
              </a:rPr>
              <a:t>EXPLORATORY DATA ANALYSIS</a:t>
            </a:r>
            <a:endParaRPr lang="en-US" sz="1200" dirty="0"/>
          </a:p>
        </p:txBody>
      </p:sp>
      <p:sp>
        <p:nvSpPr>
          <p:cNvPr id="3" name="Text 1"/>
          <p:cNvSpPr/>
          <p:nvPr/>
        </p:nvSpPr>
        <p:spPr>
          <a:xfrm>
            <a:off x="777240" y="777240"/>
            <a:ext cx="10058400" cy="685800"/>
          </a:xfrm>
          <a:prstGeom prst="rect">
            <a:avLst/>
          </a:prstGeom>
          <a:noFill/>
          <a:ln/>
        </p:spPr>
        <p:txBody>
          <a:bodyPr wrap="square" rtlCol="0" anchor="ctr"/>
          <a:lstStyle/>
          <a:p>
            <a:pPr indent="0" marL="0">
              <a:buNone/>
            </a:pPr>
            <a:r>
              <a:rPr lang="en-US" sz="2600" b="1" dirty="0">
                <a:solidFill>
                  <a:srgbClr val="2B1B24"/>
                </a:solidFill>
                <a:latin typeface="Bookman Old Style" pitchFamily="34" charset="0"/>
                <a:ea typeface="Bookman Old Style" pitchFamily="34" charset="-122"/>
                <a:cs typeface="Bookman Old Style" pitchFamily="34" charset="-120"/>
              </a:rPr>
              <a:t>Q2 &amp; Q10 — Room Types &amp; Rent Spread</a:t>
            </a:r>
            <a:endParaRPr lang="en-US" sz="2600" dirty="0"/>
          </a:p>
        </p:txBody>
      </p:sp>
      <p:sp>
        <p:nvSpPr>
          <p:cNvPr id="4" name="Shape 2"/>
          <p:cNvSpPr/>
          <p:nvPr/>
        </p:nvSpPr>
        <p:spPr>
          <a:xfrm>
            <a:off x="640080" y="1600200"/>
            <a:ext cx="5349240" cy="4480560"/>
          </a:xfrm>
          <a:prstGeom prst="roundRect">
            <a:avLst>
              <a:gd name="adj" fmla="val 2449"/>
            </a:avLst>
          </a:prstGeom>
          <a:solidFill>
            <a:srgbClr val="FFFFFF"/>
          </a:solidFill>
          <a:ln/>
          <a:effectLst>
            <a:outerShdw sx="100000" sy="100000" kx="0" ky="0" algn="bl" rotWithShape="0" blurRad="101600" dist="38100" dir="5400000">
              <a:srgbClr val="3D1730">
                <a:alpha val="10000"/>
              </a:srgbClr>
            </a:outerShdw>
          </a:effectLst>
        </p:spPr>
      </p:sp>
      <p:pic>
        <p:nvPicPr>
          <p:cNvPr id="5" name="Image 0" descr="/home/claude/charts/room_type_pie.png">    </p:cNvPr>
          <p:cNvPicPr>
            <a:picLocks noChangeAspect="1"/>
          </p:cNvPicPr>
          <p:nvPr/>
        </p:nvPicPr>
        <p:blipFill>
          <a:blip r:embed="rId1"/>
          <a:stretch>
            <a:fillRect/>
          </a:stretch>
        </p:blipFill>
        <p:spPr>
          <a:xfrm>
            <a:off x="822960" y="1737360"/>
            <a:ext cx="4983480" cy="4206240"/>
          </a:xfrm>
          <a:prstGeom prst="rect">
            <a:avLst/>
          </a:prstGeom>
        </p:spPr>
      </p:pic>
      <p:sp>
        <p:nvSpPr>
          <p:cNvPr id="6" name="Shape 3"/>
          <p:cNvSpPr/>
          <p:nvPr/>
        </p:nvSpPr>
        <p:spPr>
          <a:xfrm>
            <a:off x="6172200" y="1600200"/>
            <a:ext cx="5349240" cy="4480560"/>
          </a:xfrm>
          <a:prstGeom prst="roundRect">
            <a:avLst>
              <a:gd name="adj" fmla="val 2449"/>
            </a:avLst>
          </a:prstGeom>
          <a:solidFill>
            <a:srgbClr val="FFFFFF"/>
          </a:solidFill>
          <a:ln/>
          <a:effectLst>
            <a:outerShdw sx="100000" sy="100000" kx="0" ky="0" algn="bl" rotWithShape="0" blurRad="101600" dist="38100" dir="5400000">
              <a:srgbClr val="3D1730">
                <a:alpha val="10000"/>
              </a:srgbClr>
            </a:outerShdw>
          </a:effectLst>
        </p:spPr>
      </p:sp>
      <p:pic>
        <p:nvPicPr>
          <p:cNvPr id="7" name="Image 1" descr="/home/claude/charts/rent_by_roomtype_violin.png">    </p:cNvPr>
          <p:cNvPicPr>
            <a:picLocks noChangeAspect="1"/>
          </p:cNvPicPr>
          <p:nvPr/>
        </p:nvPicPr>
        <p:blipFill>
          <a:blip r:embed="rId2"/>
          <a:stretch>
            <a:fillRect/>
          </a:stretch>
        </p:blipFill>
        <p:spPr>
          <a:xfrm>
            <a:off x="6355080" y="1828800"/>
            <a:ext cx="4983480" cy="4023360"/>
          </a:xfrm>
          <a:prstGeom prst="rect">
            <a:avLst/>
          </a:prstGeom>
        </p:spPr>
      </p:pic>
      <p:sp>
        <p:nvSpPr>
          <p:cNvPr id="8" name="Text 4"/>
          <p:cNvSpPr/>
          <p:nvPr/>
        </p:nvSpPr>
        <p:spPr>
          <a:xfrm>
            <a:off x="777240" y="6172200"/>
            <a:ext cx="10607040" cy="457200"/>
          </a:xfrm>
          <a:prstGeom prst="rect">
            <a:avLst/>
          </a:prstGeom>
          <a:noFill/>
          <a:ln/>
        </p:spPr>
        <p:txBody>
          <a:bodyPr wrap="square" lIns="0" tIns="0" rIns="0" bIns="0" rtlCol="0" anchor="ctr"/>
          <a:lstStyle/>
          <a:p>
            <a:pPr indent="0" marL="0">
              <a:lnSpc>
                <a:spcPct val="120000"/>
              </a:lnSpc>
              <a:buNone/>
            </a:pPr>
            <a:r>
              <a:rPr lang="en-US" sz="1100" b="1" dirty="0">
                <a:solidFill>
                  <a:srgbClr val="E85D4E"/>
                </a:solidFill>
                <a:latin typeface="Calibri" pitchFamily="34" charset="0"/>
                <a:ea typeface="Calibri" pitchFamily="34" charset="-122"/>
                <a:cs typeface="Calibri" pitchFamily="34" charset="-120"/>
              </a:rPr>
              <a:t>Double rooms</a:t>
            </a:r>
            <a:pPr indent="0" marL="0">
              <a:lnSpc>
                <a:spcPct val="120000"/>
              </a:lnSpc>
              <a:buNone/>
            </a:pPr>
            <a:r>
              <a:rPr lang="en-US" sz="1100" dirty="0">
                <a:solidFill>
                  <a:srgbClr val="6B5B63"/>
                </a:solidFill>
                <a:latin typeface="Calibri" pitchFamily="34" charset="0"/>
                <a:ea typeface="Calibri" pitchFamily="34" charset="-122"/>
                <a:cs typeface="Calibri" pitchFamily="34" charset="-120"/>
              </a:rPr>
              <a:t> lead with 20.6% share (6,200 PGs); room-type shares are otherwise near-even.  </a:t>
            </a:r>
            <a:pPr indent="0" marL="0">
              <a:lnSpc>
                <a:spcPct val="120000"/>
              </a:lnSpc>
              <a:buNone/>
            </a:pPr>
            <a:r>
              <a:rPr lang="en-US" sz="1100" b="1" dirty="0">
                <a:solidFill>
                  <a:srgbClr val="7B2D5E"/>
                </a:solidFill>
                <a:latin typeface="Calibri" pitchFamily="34" charset="0"/>
                <a:ea typeface="Calibri" pitchFamily="34" charset="-122"/>
                <a:cs typeface="Calibri" pitchFamily="34" charset="-120"/>
              </a:rPr>
              <a:t>Rent distributions overlap heavily across types</a:t>
            </a:r>
            <a:pPr indent="0" marL="0">
              <a:lnSpc>
                <a:spcPct val="120000"/>
              </a:lnSpc>
              <a:buNone/>
            </a:pPr>
            <a:r>
              <a:rPr lang="en-US" sz="1100" dirty="0">
                <a:solidFill>
                  <a:srgbClr val="6B5B63"/>
                </a:solidFill>
                <a:latin typeface="Calibri" pitchFamily="34" charset="0"/>
                <a:ea typeface="Calibri" pitchFamily="34" charset="-122"/>
                <a:cs typeface="Calibri" pitchFamily="34" charset="-120"/>
              </a:rPr>
              <a:t> — a private single doesn't always cost more than a shared dorm.</a:t>
            </a:r>
            <a:endParaRPr lang="en-US" sz="1100" dirty="0"/>
          </a:p>
        </p:txBody>
      </p:sp>
      <p:sp>
        <p:nvSpPr>
          <p:cNvPr id="9" name="Text 5"/>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7315200" cy="320040"/>
          </a:xfrm>
          <a:prstGeom prst="rect">
            <a:avLst/>
          </a:prstGeom>
          <a:noFill/>
          <a:ln/>
        </p:spPr>
        <p:txBody>
          <a:bodyPr wrap="square" rtlCol="0" anchor="ctr"/>
          <a:lstStyle/>
          <a:p>
            <a:pPr indent="0" marL="0">
              <a:buNone/>
            </a:pPr>
            <a:r>
              <a:rPr lang="en-US" sz="1200" b="1" spc="300" kern="0" dirty="0">
                <a:solidFill>
                  <a:srgbClr val="7B2D5E"/>
                </a:solidFill>
                <a:latin typeface="Calibri" pitchFamily="34" charset="0"/>
                <a:ea typeface="Calibri" pitchFamily="34" charset="-122"/>
                <a:cs typeface="Calibri" pitchFamily="34" charset="-120"/>
              </a:rPr>
              <a:t>EXPLORATORY DATA ANALYSIS</a:t>
            </a:r>
            <a:endParaRPr lang="en-US" sz="1200" dirty="0"/>
          </a:p>
        </p:txBody>
      </p:sp>
      <p:sp>
        <p:nvSpPr>
          <p:cNvPr id="3" name="Text 1"/>
          <p:cNvSpPr/>
          <p:nvPr/>
        </p:nvSpPr>
        <p:spPr>
          <a:xfrm>
            <a:off x="777240" y="777240"/>
            <a:ext cx="10058400" cy="685800"/>
          </a:xfrm>
          <a:prstGeom prst="rect">
            <a:avLst/>
          </a:prstGeom>
          <a:noFill/>
          <a:ln/>
        </p:spPr>
        <p:txBody>
          <a:bodyPr wrap="square" rtlCol="0" anchor="ctr"/>
          <a:lstStyle/>
          <a:p>
            <a:pPr indent="0" marL="0">
              <a:buNone/>
            </a:pPr>
            <a:r>
              <a:rPr lang="en-US" sz="2600" b="1" dirty="0">
                <a:solidFill>
                  <a:srgbClr val="2B1B24"/>
                </a:solidFill>
                <a:latin typeface="Bookman Old Style" pitchFamily="34" charset="0"/>
                <a:ea typeface="Bookman Old Style" pitchFamily="34" charset="-122"/>
                <a:cs typeface="Bookman Old Style" pitchFamily="34" charset="-120"/>
              </a:rPr>
              <a:t>Q3 &amp; Q4 — Does Price Buy Better?</a:t>
            </a:r>
            <a:endParaRPr lang="en-US" sz="2600" dirty="0"/>
          </a:p>
        </p:txBody>
      </p:sp>
      <p:pic>
        <p:nvPicPr>
          <p:cNvPr id="4" name="Image 0" descr="/home/claude/charts/rent_vs_rating.png">    </p:cNvPr>
          <p:cNvPicPr>
            <a:picLocks noChangeAspect="1"/>
          </p:cNvPicPr>
          <p:nvPr/>
        </p:nvPicPr>
        <p:blipFill>
          <a:blip r:embed="rId1"/>
          <a:stretch>
            <a:fillRect/>
          </a:stretch>
        </p:blipFill>
        <p:spPr>
          <a:xfrm>
            <a:off x="548640" y="1691640"/>
            <a:ext cx="5394960" cy="3977640"/>
          </a:xfrm>
          <a:prstGeom prst="rect">
            <a:avLst/>
          </a:prstGeom>
        </p:spPr>
      </p:pic>
      <p:pic>
        <p:nvPicPr>
          <p:cNvPr id="5" name="Image 1" descr="/home/claude/charts/metro_vs_rent.png">    </p:cNvPr>
          <p:cNvPicPr>
            <a:picLocks noChangeAspect="1"/>
          </p:cNvPicPr>
          <p:nvPr/>
        </p:nvPicPr>
        <p:blipFill>
          <a:blip r:embed="rId2"/>
          <a:stretch>
            <a:fillRect/>
          </a:stretch>
        </p:blipFill>
        <p:spPr>
          <a:xfrm>
            <a:off x="6172200" y="1691640"/>
            <a:ext cx="5394960" cy="3977640"/>
          </a:xfrm>
          <a:prstGeom prst="rect">
            <a:avLst/>
          </a:prstGeom>
        </p:spPr>
      </p:pic>
      <p:sp>
        <p:nvSpPr>
          <p:cNvPr id="6" name="Text 2"/>
          <p:cNvSpPr/>
          <p:nvPr/>
        </p:nvSpPr>
        <p:spPr>
          <a:xfrm>
            <a:off x="548640" y="5669280"/>
            <a:ext cx="5394960" cy="320040"/>
          </a:xfrm>
          <a:prstGeom prst="rect">
            <a:avLst/>
          </a:prstGeom>
          <a:noFill/>
          <a:ln/>
        </p:spPr>
        <p:txBody>
          <a:bodyPr wrap="square" rtlCol="0" anchor="ctr"/>
          <a:lstStyle/>
          <a:p>
            <a:pPr algn="ctr" indent="0" marL="0">
              <a:buNone/>
            </a:pPr>
            <a:r>
              <a:rPr lang="en-US" sz="1300" b="1" dirty="0">
                <a:solidFill>
                  <a:srgbClr val="7B2D5E"/>
                </a:solidFill>
                <a:latin typeface="Bookman Old Style" pitchFamily="34" charset="0"/>
                <a:ea typeface="Bookman Old Style" pitchFamily="34" charset="-122"/>
                <a:cs typeface="Bookman Old Style" pitchFamily="34" charset="-120"/>
              </a:rPr>
              <a:t>Rent vs. Google Rating</a:t>
            </a:r>
            <a:endParaRPr lang="en-US" sz="1300" dirty="0"/>
          </a:p>
        </p:txBody>
      </p:sp>
      <p:sp>
        <p:nvSpPr>
          <p:cNvPr id="7" name="Text 3"/>
          <p:cNvSpPr/>
          <p:nvPr/>
        </p:nvSpPr>
        <p:spPr>
          <a:xfrm>
            <a:off x="6172200" y="5669280"/>
            <a:ext cx="5394960" cy="320040"/>
          </a:xfrm>
          <a:prstGeom prst="rect">
            <a:avLst/>
          </a:prstGeom>
          <a:noFill/>
          <a:ln/>
        </p:spPr>
        <p:txBody>
          <a:bodyPr wrap="square" rtlCol="0" anchor="ctr"/>
          <a:lstStyle/>
          <a:p>
            <a:pPr algn="ctr" indent="0" marL="0">
              <a:buNone/>
            </a:pPr>
            <a:r>
              <a:rPr lang="en-US" sz="1300" b="1" dirty="0">
                <a:solidFill>
                  <a:srgbClr val="7B2D5E"/>
                </a:solidFill>
                <a:latin typeface="Bookman Old Style" pitchFamily="34" charset="0"/>
                <a:ea typeface="Bookman Old Style" pitchFamily="34" charset="-122"/>
                <a:cs typeface="Bookman Old Style" pitchFamily="34" charset="-120"/>
              </a:rPr>
              <a:t>Distance to Metro vs. Rent</a:t>
            </a:r>
            <a:endParaRPr lang="en-US" sz="1300" dirty="0"/>
          </a:p>
        </p:txBody>
      </p:sp>
      <p:sp>
        <p:nvSpPr>
          <p:cNvPr id="8" name="Shape 4"/>
          <p:cNvSpPr/>
          <p:nvPr/>
        </p:nvSpPr>
        <p:spPr>
          <a:xfrm>
            <a:off x="777240" y="6035040"/>
            <a:ext cx="10607040" cy="548640"/>
          </a:xfrm>
          <a:prstGeom prst="roundRect">
            <a:avLst>
              <a:gd name="adj" fmla="val 13333"/>
            </a:avLst>
          </a:prstGeom>
          <a:solidFill>
            <a:srgbClr val="FFF9F5"/>
          </a:solidFill>
          <a:ln/>
        </p:spPr>
      </p:sp>
      <p:sp>
        <p:nvSpPr>
          <p:cNvPr id="9" name="Text 5"/>
          <p:cNvSpPr/>
          <p:nvPr/>
        </p:nvSpPr>
        <p:spPr>
          <a:xfrm>
            <a:off x="1005840" y="6035040"/>
            <a:ext cx="10149840" cy="548640"/>
          </a:xfrm>
          <a:prstGeom prst="rect">
            <a:avLst/>
          </a:prstGeom>
          <a:noFill/>
          <a:ln/>
        </p:spPr>
        <p:txBody>
          <a:bodyPr wrap="square" lIns="0" tIns="0" rIns="0" bIns="0" rtlCol="0" anchor="ctr"/>
          <a:lstStyle/>
          <a:p>
            <a:pPr indent="0" marL="0">
              <a:buNone/>
            </a:pPr>
            <a:r>
              <a:rPr lang="en-US" sz="1100" i="1" dirty="0">
                <a:solidFill>
                  <a:srgbClr val="7B2D5E"/>
                </a:solidFill>
                <a:latin typeface="Calibri" pitchFamily="34" charset="0"/>
                <a:ea typeface="Calibri" pitchFamily="34" charset="-122"/>
                <a:cs typeface="Calibri" pitchFamily="34" charset="-120"/>
              </a:rPr>
              <a:t>Correlation ≈ 0 in both cases — higher rent does not guarantee a better rating, and metro proximity alone doesn't drive price.</a:t>
            </a:r>
            <a:endParaRPr lang="en-US" sz="1100" dirty="0"/>
          </a:p>
        </p:txBody>
      </p:sp>
      <p:sp>
        <p:nvSpPr>
          <p:cNvPr id="10" name="Text 6"/>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9F5"/>
        </a:solidFill>
      </p:bgPr>
    </p:bg>
    <p:spTree>
      <p:nvGrpSpPr>
        <p:cNvPr id="1" name=""/>
        <p:cNvGrpSpPr/>
        <p:nvPr/>
      </p:nvGrpSpPr>
      <p:grpSpPr>
        <a:xfrm>
          <a:off x="0" y="0"/>
          <a:ext cx="0" cy="0"/>
          <a:chOff x="0" y="0"/>
          <a:chExt cx="0" cy="0"/>
        </a:xfrm>
      </p:grpSpPr>
      <p:sp>
        <p:nvSpPr>
          <p:cNvPr id="2" name="Text 0"/>
          <p:cNvSpPr/>
          <p:nvPr/>
        </p:nvSpPr>
        <p:spPr>
          <a:xfrm>
            <a:off x="777240" y="457200"/>
            <a:ext cx="7315200" cy="320040"/>
          </a:xfrm>
          <a:prstGeom prst="rect">
            <a:avLst/>
          </a:prstGeom>
          <a:noFill/>
          <a:ln/>
        </p:spPr>
        <p:txBody>
          <a:bodyPr wrap="square" rtlCol="0" anchor="ctr"/>
          <a:lstStyle/>
          <a:p>
            <a:pPr indent="0" marL="0">
              <a:buNone/>
            </a:pPr>
            <a:r>
              <a:rPr lang="en-US" sz="1200" b="1" spc="300" kern="0" dirty="0">
                <a:solidFill>
                  <a:srgbClr val="7B2D5E"/>
                </a:solidFill>
                <a:latin typeface="Calibri" pitchFamily="34" charset="0"/>
                <a:ea typeface="Calibri" pitchFamily="34" charset="-122"/>
                <a:cs typeface="Calibri" pitchFamily="34" charset="-120"/>
              </a:rPr>
              <a:t>EXPLORATORY DATA ANALYSIS</a:t>
            </a:r>
            <a:endParaRPr lang="en-US" sz="1200" dirty="0"/>
          </a:p>
        </p:txBody>
      </p:sp>
      <p:sp>
        <p:nvSpPr>
          <p:cNvPr id="3" name="Text 1"/>
          <p:cNvSpPr/>
          <p:nvPr/>
        </p:nvSpPr>
        <p:spPr>
          <a:xfrm>
            <a:off x="777240" y="777240"/>
            <a:ext cx="10058400" cy="685800"/>
          </a:xfrm>
          <a:prstGeom prst="rect">
            <a:avLst/>
          </a:prstGeom>
          <a:noFill/>
          <a:ln/>
        </p:spPr>
        <p:txBody>
          <a:bodyPr wrap="square" rtlCol="0" anchor="ctr"/>
          <a:lstStyle/>
          <a:p>
            <a:pPr indent="0" marL="0">
              <a:buNone/>
            </a:pPr>
            <a:r>
              <a:rPr lang="en-US" sz="2600" b="1" dirty="0">
                <a:solidFill>
                  <a:srgbClr val="2B1B24"/>
                </a:solidFill>
                <a:latin typeface="Bookman Old Style" pitchFamily="34" charset="0"/>
                <a:ea typeface="Bookman Old Style" pitchFamily="34" charset="-122"/>
                <a:cs typeface="Bookman Old Style" pitchFamily="34" charset="-120"/>
              </a:rPr>
              <a:t>Q6 &amp; Q11 — Amenities &amp; Occupancy</a:t>
            </a:r>
            <a:endParaRPr lang="en-US" sz="2600" dirty="0"/>
          </a:p>
        </p:txBody>
      </p:sp>
      <p:sp>
        <p:nvSpPr>
          <p:cNvPr id="4" name="Shape 2"/>
          <p:cNvSpPr/>
          <p:nvPr/>
        </p:nvSpPr>
        <p:spPr>
          <a:xfrm>
            <a:off x="640080" y="1600200"/>
            <a:ext cx="6583680" cy="4480560"/>
          </a:xfrm>
          <a:prstGeom prst="roundRect">
            <a:avLst>
              <a:gd name="adj" fmla="val 2449"/>
            </a:avLst>
          </a:prstGeom>
          <a:solidFill>
            <a:srgbClr val="FFFFFF"/>
          </a:solidFill>
          <a:ln/>
          <a:effectLst>
            <a:outerShdw sx="100000" sy="100000" kx="0" ky="0" algn="bl" rotWithShape="0" blurRad="101600" dist="38100" dir="5400000">
              <a:srgbClr val="3D1730">
                <a:alpha val="10000"/>
              </a:srgbClr>
            </a:outerShdw>
          </a:effectLst>
        </p:spPr>
      </p:sp>
      <p:pic>
        <p:nvPicPr>
          <p:cNvPr id="5" name="Image 0" descr="/home/claude/charts/amenities_bar.png">    </p:cNvPr>
          <p:cNvPicPr>
            <a:picLocks noChangeAspect="1"/>
          </p:cNvPicPr>
          <p:nvPr/>
        </p:nvPicPr>
        <p:blipFill>
          <a:blip r:embed="rId1"/>
          <a:stretch>
            <a:fillRect/>
          </a:stretch>
        </p:blipFill>
        <p:spPr>
          <a:xfrm>
            <a:off x="868680" y="1783080"/>
            <a:ext cx="6126480" cy="4114800"/>
          </a:xfrm>
          <a:prstGeom prst="rect">
            <a:avLst/>
          </a:prstGeom>
        </p:spPr>
      </p:pic>
      <p:sp>
        <p:nvSpPr>
          <p:cNvPr id="6" name="Shape 3"/>
          <p:cNvSpPr/>
          <p:nvPr/>
        </p:nvSpPr>
        <p:spPr>
          <a:xfrm>
            <a:off x="7406640" y="1600200"/>
            <a:ext cx="4114800" cy="4480560"/>
          </a:xfrm>
          <a:prstGeom prst="roundRect">
            <a:avLst>
              <a:gd name="adj" fmla="val 2667"/>
            </a:avLst>
          </a:prstGeom>
          <a:solidFill>
            <a:srgbClr val="FFFFFF"/>
          </a:solidFill>
          <a:ln/>
          <a:effectLst>
            <a:outerShdw sx="100000" sy="100000" kx="0" ky="0" algn="bl" rotWithShape="0" blurRad="101600" dist="38100" dir="5400000">
              <a:srgbClr val="3D1730">
                <a:alpha val="10000"/>
              </a:srgbClr>
            </a:outerShdw>
          </a:effectLst>
        </p:spPr>
      </p:sp>
      <p:pic>
        <p:nvPicPr>
          <p:cNvPr id="7" name="Image 1" descr="/home/claude/charts/occupancy_pie.png">    </p:cNvPr>
          <p:cNvPicPr>
            <a:picLocks noChangeAspect="1"/>
          </p:cNvPicPr>
          <p:nvPr/>
        </p:nvPicPr>
        <p:blipFill>
          <a:blip r:embed="rId2"/>
          <a:stretch>
            <a:fillRect/>
          </a:stretch>
        </p:blipFill>
        <p:spPr>
          <a:xfrm>
            <a:off x="7772400" y="1828800"/>
            <a:ext cx="3383280" cy="3383280"/>
          </a:xfrm>
          <a:prstGeom prst="rect">
            <a:avLst/>
          </a:prstGeom>
        </p:spPr>
      </p:pic>
      <p:sp>
        <p:nvSpPr>
          <p:cNvPr id="8" name="Text 4"/>
          <p:cNvSpPr/>
          <p:nvPr/>
        </p:nvSpPr>
        <p:spPr>
          <a:xfrm>
            <a:off x="7635240" y="5257800"/>
            <a:ext cx="3657600" cy="777240"/>
          </a:xfrm>
          <a:prstGeom prst="rect">
            <a:avLst/>
          </a:prstGeom>
          <a:noFill/>
          <a:ln/>
        </p:spPr>
        <p:txBody>
          <a:bodyPr wrap="square" lIns="0" tIns="0" rIns="0" bIns="0" rtlCol="0" anchor="ctr"/>
          <a:lstStyle/>
          <a:p>
            <a:pPr indent="0" marL="0">
              <a:lnSpc>
                <a:spcPct val="120000"/>
              </a:lnSpc>
              <a:buNone/>
            </a:pPr>
            <a:r>
              <a:rPr lang="en-US" sz="1000" b="1" dirty="0">
                <a:solidFill>
                  <a:srgbClr val="E85D4E"/>
                </a:solidFill>
                <a:latin typeface="Calibri" pitchFamily="34" charset="0"/>
                <a:ea typeface="Calibri" pitchFamily="34" charset="-122"/>
                <a:cs typeface="Calibri" pitchFamily="34" charset="-120"/>
              </a:rPr>
              <a:t>Laundry </a:t>
            </a:r>
            <a:pPr indent="0" marL="0">
              <a:lnSpc>
                <a:spcPct val="120000"/>
              </a:lnSpc>
              <a:buNone/>
            </a:pPr>
            <a:r>
              <a:rPr lang="en-US" sz="1000" dirty="0">
                <a:solidFill>
                  <a:srgbClr val="6B5B63"/>
                </a:solidFill>
                <a:latin typeface="Calibri" pitchFamily="34" charset="0"/>
                <a:ea typeface="Calibri" pitchFamily="34" charset="-122"/>
                <a:cs typeface="Calibri" pitchFamily="34" charset="-120"/>
              </a:rPr>
              <a:t>tops amenities (15,248 PGs); </a:t>
            </a:r>
            <a:pPr indent="0" marL="0">
              <a:lnSpc>
                <a:spcPct val="120000"/>
              </a:lnSpc>
              <a:buNone/>
            </a:pPr>
            <a:r>
              <a:rPr lang="en-US" sz="1000" b="1" dirty="0">
                <a:solidFill>
                  <a:srgbClr val="7B2D5E"/>
                </a:solidFill>
                <a:latin typeface="Calibri" pitchFamily="34" charset="0"/>
                <a:ea typeface="Calibri" pitchFamily="34" charset="-122"/>
                <a:cs typeface="Calibri" pitchFamily="34" charset="-120"/>
              </a:rPr>
              <a:t>occupancy</a:t>
            </a:r>
            <a:pPr indent="0" marL="0">
              <a:lnSpc>
                <a:spcPct val="120000"/>
              </a:lnSpc>
              <a:buNone/>
            </a:pPr>
            <a:r>
              <a:rPr lang="en-US" sz="1000" dirty="0">
                <a:solidFill>
                  <a:srgbClr val="6B5B63"/>
                </a:solidFill>
                <a:latin typeface="Calibri" pitchFamily="34" charset="0"/>
                <a:ea typeface="Calibri" pitchFamily="34" charset="-122"/>
                <a:cs typeface="Calibri" pitchFamily="34" charset="-120"/>
              </a:rPr>
              <a:t> splits almost evenly across Full, Almost Full &amp; Available.</a:t>
            </a:r>
            <a:endParaRPr lang="en-US" sz="1000" dirty="0"/>
          </a:p>
        </p:txBody>
      </p:sp>
      <p:sp>
        <p:nvSpPr>
          <p:cNvPr id="9" name="Text 5"/>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7315200" cy="320040"/>
          </a:xfrm>
          <a:prstGeom prst="rect">
            <a:avLst/>
          </a:prstGeom>
          <a:noFill/>
          <a:ln/>
        </p:spPr>
        <p:txBody>
          <a:bodyPr wrap="square" rtlCol="0" anchor="ctr"/>
          <a:lstStyle/>
          <a:p>
            <a:pPr indent="0" marL="0">
              <a:buNone/>
            </a:pPr>
            <a:r>
              <a:rPr lang="en-US" sz="1200" b="1" spc="300" kern="0" dirty="0">
                <a:solidFill>
                  <a:srgbClr val="7B2D5E"/>
                </a:solidFill>
                <a:latin typeface="Calibri" pitchFamily="34" charset="0"/>
                <a:ea typeface="Calibri" pitchFamily="34" charset="-122"/>
                <a:cs typeface="Calibri" pitchFamily="34" charset="-120"/>
              </a:rPr>
              <a:t>VISUALIZATIONS</a:t>
            </a:r>
            <a:endParaRPr lang="en-US" sz="1200" dirty="0"/>
          </a:p>
        </p:txBody>
      </p:sp>
      <p:sp>
        <p:nvSpPr>
          <p:cNvPr id="3" name="Text 1"/>
          <p:cNvSpPr/>
          <p:nvPr/>
        </p:nvSpPr>
        <p:spPr>
          <a:xfrm>
            <a:off x="777240" y="777240"/>
            <a:ext cx="10424160" cy="685800"/>
          </a:xfrm>
          <a:prstGeom prst="rect">
            <a:avLst/>
          </a:prstGeom>
          <a:noFill/>
          <a:ln/>
        </p:spPr>
        <p:txBody>
          <a:bodyPr wrap="square" rtlCol="0" anchor="ctr"/>
          <a:lstStyle/>
          <a:p>
            <a:pPr indent="0" marL="0">
              <a:buNone/>
            </a:pPr>
            <a:r>
              <a:rPr lang="en-US" sz="2600" b="1" dirty="0">
                <a:solidFill>
                  <a:srgbClr val="2B1B24"/>
                </a:solidFill>
                <a:latin typeface="Bookman Old Style" pitchFamily="34" charset="0"/>
                <a:ea typeface="Bookman Old Style" pitchFamily="34" charset="-122"/>
                <a:cs typeface="Bookman Old Style" pitchFamily="34" charset="-120"/>
              </a:rPr>
              <a:t>Score Correlation &amp; Rent Distribution</a:t>
            </a:r>
            <a:endParaRPr lang="en-US" sz="2600" dirty="0"/>
          </a:p>
        </p:txBody>
      </p:sp>
      <p:pic>
        <p:nvPicPr>
          <p:cNvPr id="4" name="Image 0" descr="/home/claude/charts/correlation_heatmap.png">    </p:cNvPr>
          <p:cNvPicPr>
            <a:picLocks noChangeAspect="1"/>
          </p:cNvPicPr>
          <p:nvPr/>
        </p:nvPicPr>
        <p:blipFill>
          <a:blip r:embed="rId1"/>
          <a:stretch>
            <a:fillRect/>
          </a:stretch>
        </p:blipFill>
        <p:spPr>
          <a:xfrm>
            <a:off x="685800" y="1691640"/>
            <a:ext cx="5120640" cy="4297680"/>
          </a:xfrm>
          <a:prstGeom prst="rect">
            <a:avLst/>
          </a:prstGeom>
        </p:spPr>
      </p:pic>
      <p:pic>
        <p:nvPicPr>
          <p:cNvPr id="5" name="Image 1" descr="/home/claude/charts/rent_histogram.png">    </p:cNvPr>
          <p:cNvPicPr>
            <a:picLocks noChangeAspect="1"/>
          </p:cNvPicPr>
          <p:nvPr/>
        </p:nvPicPr>
        <p:blipFill>
          <a:blip r:embed="rId2"/>
          <a:stretch>
            <a:fillRect/>
          </a:stretch>
        </p:blipFill>
        <p:spPr>
          <a:xfrm>
            <a:off x="6309360" y="1874520"/>
            <a:ext cx="5257800" cy="3931920"/>
          </a:xfrm>
          <a:prstGeom prst="rect">
            <a:avLst/>
          </a:prstGeom>
        </p:spPr>
      </p:pic>
      <p:sp>
        <p:nvSpPr>
          <p:cNvPr id="6" name="Text 2"/>
          <p:cNvSpPr/>
          <p:nvPr/>
        </p:nvSpPr>
        <p:spPr>
          <a:xfrm>
            <a:off x="685800" y="6053328"/>
            <a:ext cx="5120640" cy="320040"/>
          </a:xfrm>
          <a:prstGeom prst="rect">
            <a:avLst/>
          </a:prstGeom>
          <a:noFill/>
          <a:ln/>
        </p:spPr>
        <p:txBody>
          <a:bodyPr wrap="square" rtlCol="0" anchor="ctr"/>
          <a:lstStyle/>
          <a:p>
            <a:pPr algn="ctr" indent="0" marL="0">
              <a:buNone/>
            </a:pPr>
            <a:r>
              <a:rPr lang="en-US" sz="1250" b="1" dirty="0">
                <a:solidFill>
                  <a:srgbClr val="7B2D5E"/>
                </a:solidFill>
                <a:latin typeface="Bookman Old Style" pitchFamily="34" charset="0"/>
                <a:ea typeface="Bookman Old Style" pitchFamily="34" charset="-122"/>
                <a:cs typeface="Bookman Old Style" pitchFamily="34" charset="-120"/>
              </a:rPr>
              <a:t>Q13 — Safety, Commute, Value &amp; Rating</a:t>
            </a:r>
            <a:endParaRPr lang="en-US" sz="1250" dirty="0"/>
          </a:p>
        </p:txBody>
      </p:sp>
      <p:sp>
        <p:nvSpPr>
          <p:cNvPr id="7" name="Text 3"/>
          <p:cNvSpPr/>
          <p:nvPr/>
        </p:nvSpPr>
        <p:spPr>
          <a:xfrm>
            <a:off x="6309360" y="5852160"/>
            <a:ext cx="5257800" cy="320040"/>
          </a:xfrm>
          <a:prstGeom prst="rect">
            <a:avLst/>
          </a:prstGeom>
          <a:noFill/>
          <a:ln/>
        </p:spPr>
        <p:txBody>
          <a:bodyPr wrap="square" rtlCol="0" anchor="ctr"/>
          <a:lstStyle/>
          <a:p>
            <a:pPr algn="ctr" indent="0" marL="0">
              <a:buNone/>
            </a:pPr>
            <a:r>
              <a:rPr lang="en-US" sz="1250" b="1" dirty="0">
                <a:solidFill>
                  <a:srgbClr val="7B2D5E"/>
                </a:solidFill>
                <a:latin typeface="Bookman Old Style" pitchFamily="34" charset="0"/>
                <a:ea typeface="Bookman Old Style" pitchFamily="34" charset="-122"/>
                <a:cs typeface="Bookman Old Style" pitchFamily="34" charset="-120"/>
              </a:rPr>
              <a:t>Q12 — Rent is Right-Skewed</a:t>
            </a:r>
            <a:endParaRPr lang="en-US" sz="1250" dirty="0"/>
          </a:p>
        </p:txBody>
      </p:sp>
      <p:sp>
        <p:nvSpPr>
          <p:cNvPr id="8" name="Text 4"/>
          <p:cNvSpPr/>
          <p:nvPr/>
        </p:nvSpPr>
        <p:spPr>
          <a:xfrm>
            <a:off x="6309360" y="6144768"/>
            <a:ext cx="5257800" cy="320040"/>
          </a:xfrm>
          <a:prstGeom prst="rect">
            <a:avLst/>
          </a:prstGeom>
          <a:noFill/>
          <a:ln/>
        </p:spPr>
        <p:txBody>
          <a:bodyPr wrap="square" rtlCol="0" anchor="ctr"/>
          <a:lstStyle/>
          <a:p>
            <a:pPr algn="ctr" indent="0" marL="0">
              <a:buNone/>
            </a:pPr>
            <a:r>
              <a:rPr lang="en-US" sz="1000" i="1" dirty="0">
                <a:solidFill>
                  <a:srgbClr val="6B5B63"/>
                </a:solidFill>
                <a:latin typeface="Calibri" pitchFamily="34" charset="0"/>
                <a:ea typeface="Calibri" pitchFamily="34" charset="-122"/>
                <a:cs typeface="Calibri" pitchFamily="34" charset="-120"/>
              </a:rPr>
              <a:t>A long right tail of premium listings pulls the average above the median.</a:t>
            </a:r>
            <a:endParaRPr lang="en-US" sz="1000" dirty="0"/>
          </a:p>
        </p:txBody>
      </p:sp>
      <p:sp>
        <p:nvSpPr>
          <p:cNvPr id="9" name="Text 5"/>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9F5"/>
        </a:solidFill>
      </p:bgPr>
    </p:bg>
    <p:spTree>
      <p:nvGrpSpPr>
        <p:cNvPr id="1" name=""/>
        <p:cNvGrpSpPr/>
        <p:nvPr/>
      </p:nvGrpSpPr>
      <p:grpSpPr>
        <a:xfrm>
          <a:off x="0" y="0"/>
          <a:ext cx="0" cy="0"/>
          <a:chOff x="0" y="0"/>
          <a:chExt cx="0" cy="0"/>
        </a:xfrm>
      </p:grpSpPr>
      <p:sp>
        <p:nvSpPr>
          <p:cNvPr id="2" name="Text 0"/>
          <p:cNvSpPr/>
          <p:nvPr/>
        </p:nvSpPr>
        <p:spPr>
          <a:xfrm>
            <a:off x="777240" y="457200"/>
            <a:ext cx="7315200" cy="320040"/>
          </a:xfrm>
          <a:prstGeom prst="rect">
            <a:avLst/>
          </a:prstGeom>
          <a:noFill/>
          <a:ln/>
        </p:spPr>
        <p:txBody>
          <a:bodyPr wrap="square" rtlCol="0" anchor="ctr"/>
          <a:lstStyle/>
          <a:p>
            <a:pPr indent="0" marL="0">
              <a:buNone/>
            </a:pPr>
            <a:r>
              <a:rPr lang="en-US" sz="1200" b="1" spc="300" kern="0" dirty="0">
                <a:solidFill>
                  <a:srgbClr val="7B2D5E"/>
                </a:solidFill>
                <a:latin typeface="Calibri" pitchFamily="34" charset="0"/>
                <a:ea typeface="Calibri" pitchFamily="34" charset="-122"/>
                <a:cs typeface="Calibri" pitchFamily="34" charset="-120"/>
              </a:rPr>
              <a:t>VISUALIZATIONS</a:t>
            </a:r>
            <a:endParaRPr lang="en-US" sz="1200" dirty="0"/>
          </a:p>
        </p:txBody>
      </p:sp>
      <p:sp>
        <p:nvSpPr>
          <p:cNvPr id="3" name="Text 1"/>
          <p:cNvSpPr/>
          <p:nvPr/>
        </p:nvSpPr>
        <p:spPr>
          <a:xfrm>
            <a:off x="777240" y="777240"/>
            <a:ext cx="10424160" cy="685800"/>
          </a:xfrm>
          <a:prstGeom prst="rect">
            <a:avLst/>
          </a:prstGeom>
          <a:noFill/>
          <a:ln/>
        </p:spPr>
        <p:txBody>
          <a:bodyPr wrap="square" rtlCol="0" anchor="ctr"/>
          <a:lstStyle/>
          <a:p>
            <a:pPr indent="0" marL="0">
              <a:buNone/>
            </a:pPr>
            <a:r>
              <a:rPr lang="en-US" sz="2600" b="1" dirty="0">
                <a:solidFill>
                  <a:srgbClr val="2B1B24"/>
                </a:solidFill>
                <a:latin typeface="Bookman Old Style" pitchFamily="34" charset="0"/>
                <a:ea typeface="Bookman Old Style" pitchFamily="34" charset="-122"/>
                <a:cs typeface="Bookman Old Style" pitchFamily="34" charset="-120"/>
              </a:rPr>
              <a:t>Q8 &amp; Q14 — Where Quality Concentrates</a:t>
            </a:r>
            <a:endParaRPr lang="en-US" sz="2600" dirty="0"/>
          </a:p>
        </p:txBody>
      </p:sp>
      <p:sp>
        <p:nvSpPr>
          <p:cNvPr id="4" name="Shape 2"/>
          <p:cNvSpPr/>
          <p:nvPr/>
        </p:nvSpPr>
        <p:spPr>
          <a:xfrm>
            <a:off x="640080" y="1600200"/>
            <a:ext cx="5577840" cy="4480560"/>
          </a:xfrm>
          <a:prstGeom prst="roundRect">
            <a:avLst>
              <a:gd name="adj" fmla="val 2449"/>
            </a:avLst>
          </a:prstGeom>
          <a:solidFill>
            <a:srgbClr val="FFFFFF"/>
          </a:solidFill>
          <a:ln/>
          <a:effectLst>
            <a:outerShdw sx="100000" sy="100000" kx="0" ky="0" algn="bl" rotWithShape="0" blurRad="101600" dist="38100" dir="5400000">
              <a:srgbClr val="3D1730">
                <a:alpha val="10000"/>
              </a:srgbClr>
            </a:outerShdw>
          </a:effectLst>
        </p:spPr>
      </p:sp>
      <p:pic>
        <p:nvPicPr>
          <p:cNvPr id="5" name="Image 0" descr="/home/claude/charts/top_rated_localities.png">    </p:cNvPr>
          <p:cNvPicPr>
            <a:picLocks noChangeAspect="1"/>
          </p:cNvPicPr>
          <p:nvPr/>
        </p:nvPicPr>
        <p:blipFill>
          <a:blip r:embed="rId1"/>
          <a:stretch>
            <a:fillRect/>
          </a:stretch>
        </p:blipFill>
        <p:spPr>
          <a:xfrm>
            <a:off x="822960" y="1783080"/>
            <a:ext cx="5212080" cy="4114800"/>
          </a:xfrm>
          <a:prstGeom prst="rect">
            <a:avLst/>
          </a:prstGeom>
        </p:spPr>
      </p:pic>
      <p:sp>
        <p:nvSpPr>
          <p:cNvPr id="6" name="Shape 3"/>
          <p:cNvSpPr/>
          <p:nvPr/>
        </p:nvSpPr>
        <p:spPr>
          <a:xfrm>
            <a:off x="6400800" y="1600200"/>
            <a:ext cx="5120640" cy="4480560"/>
          </a:xfrm>
          <a:prstGeom prst="roundRect">
            <a:avLst>
              <a:gd name="adj" fmla="val 2449"/>
            </a:avLst>
          </a:prstGeom>
          <a:solidFill>
            <a:srgbClr val="FFFFFF"/>
          </a:solidFill>
          <a:ln/>
          <a:effectLst>
            <a:outerShdw sx="100000" sy="100000" kx="0" ky="0" algn="bl" rotWithShape="0" blurRad="101600" dist="38100" dir="5400000">
              <a:srgbClr val="3D1730">
                <a:alpha val="10000"/>
              </a:srgbClr>
            </a:outerShdw>
          </a:effectLst>
        </p:spPr>
      </p:sp>
      <p:pic>
        <p:nvPicPr>
          <p:cNvPr id="7" name="Image 1" descr="/home/claude/charts/locality_rent_rating.png">    </p:cNvPr>
          <p:cNvPicPr>
            <a:picLocks noChangeAspect="1"/>
          </p:cNvPicPr>
          <p:nvPr/>
        </p:nvPicPr>
        <p:blipFill>
          <a:blip r:embed="rId2"/>
          <a:stretch>
            <a:fillRect/>
          </a:stretch>
        </p:blipFill>
        <p:spPr>
          <a:xfrm>
            <a:off x="6629400" y="1828800"/>
            <a:ext cx="4663440" cy="4023360"/>
          </a:xfrm>
          <a:prstGeom prst="rect">
            <a:avLst/>
          </a:prstGeom>
        </p:spPr>
      </p:pic>
      <p:sp>
        <p:nvSpPr>
          <p:cNvPr id="8" name="Text 4"/>
          <p:cNvSpPr/>
          <p:nvPr/>
        </p:nvSpPr>
        <p:spPr>
          <a:xfrm>
            <a:off x="777240" y="6172200"/>
            <a:ext cx="10607040" cy="457200"/>
          </a:xfrm>
          <a:prstGeom prst="rect">
            <a:avLst/>
          </a:prstGeom>
          <a:noFill/>
          <a:ln/>
        </p:spPr>
        <p:txBody>
          <a:bodyPr wrap="square" lIns="0" tIns="0" rIns="0" bIns="0" rtlCol="0" anchor="ctr"/>
          <a:lstStyle/>
          <a:p>
            <a:pPr indent="0" marL="0">
              <a:lnSpc>
                <a:spcPct val="120000"/>
              </a:lnSpc>
              <a:buNone/>
            </a:pPr>
            <a:r>
              <a:rPr lang="en-US" sz="1080" b="1" dirty="0">
                <a:solidFill>
                  <a:srgbClr val="E85D4E"/>
                </a:solidFill>
                <a:latin typeface="Calibri" pitchFamily="34" charset="0"/>
                <a:ea typeface="Calibri" pitchFamily="34" charset="-122"/>
                <a:cs typeface="Calibri" pitchFamily="34" charset="-120"/>
              </a:rPr>
              <a:t>Domlur </a:t>
            </a:r>
            <a:pPr indent="0" marL="0">
              <a:lnSpc>
                <a:spcPct val="120000"/>
              </a:lnSpc>
              <a:buNone/>
            </a:pPr>
            <a:r>
              <a:rPr lang="en-US" sz="1080" dirty="0">
                <a:solidFill>
                  <a:srgbClr val="6B5B63"/>
                </a:solidFill>
                <a:latin typeface="Calibri" pitchFamily="34" charset="0"/>
                <a:ea typeface="Calibri" pitchFamily="34" charset="-122"/>
                <a:cs typeface="Calibri" pitchFamily="34" charset="-120"/>
              </a:rPr>
              <a:t>leads with 160 highly-rated PGs (≥4.5★), followed by Whitefield (125) and Vijayanagar (114) — </a:t>
            </a:r>
            <a:pPr indent="0" marL="0">
              <a:lnSpc>
                <a:spcPct val="120000"/>
              </a:lnSpc>
              <a:buNone/>
            </a:pPr>
            <a:r>
              <a:rPr lang="en-US" sz="1080" b="1" dirty="0">
                <a:solidFill>
                  <a:srgbClr val="7B2D5E"/>
                </a:solidFill>
                <a:latin typeface="Calibri" pitchFamily="34" charset="0"/>
                <a:ea typeface="Calibri" pitchFamily="34" charset="-122"/>
                <a:cs typeface="Calibri" pitchFamily="34" charset="-120"/>
              </a:rPr>
              <a:t>quality hubs don't always match the priciest addresses.</a:t>
            </a:r>
            <a:endParaRPr lang="en-US" sz="1080" dirty="0"/>
          </a:p>
        </p:txBody>
      </p:sp>
      <p:sp>
        <p:nvSpPr>
          <p:cNvPr id="9" name="Text 5"/>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D1730"/>
        </a:solidFill>
      </p:bgPr>
    </p:bg>
    <p:spTree>
      <p:nvGrpSpPr>
        <p:cNvPr id="1" name=""/>
        <p:cNvGrpSpPr/>
        <p:nvPr/>
      </p:nvGrpSpPr>
      <p:grpSpPr>
        <a:xfrm>
          <a:off x="0" y="0"/>
          <a:ext cx="0" cy="0"/>
          <a:chOff x="0" y="0"/>
          <a:chExt cx="0" cy="0"/>
        </a:xfrm>
      </p:grpSpPr>
      <p:sp>
        <p:nvSpPr>
          <p:cNvPr id="2" name="Shape 0"/>
          <p:cNvSpPr/>
          <p:nvPr/>
        </p:nvSpPr>
        <p:spPr>
          <a:xfrm>
            <a:off x="-1645920" y="-1828800"/>
            <a:ext cx="4572000" cy="4572000"/>
          </a:xfrm>
          <a:prstGeom prst="ellipse">
            <a:avLst/>
          </a:prstGeom>
          <a:solidFill>
            <a:srgbClr val="7B2D5E">
              <a:alpha val="40000"/>
            </a:srgbClr>
          </a:solidFill>
          <a:ln/>
        </p:spPr>
      </p:sp>
      <p:sp>
        <p:nvSpPr>
          <p:cNvPr id="3" name="Text 1"/>
          <p:cNvSpPr/>
          <p:nvPr/>
        </p:nvSpPr>
        <p:spPr>
          <a:xfrm>
            <a:off x="777240" y="502920"/>
            <a:ext cx="7315200" cy="365760"/>
          </a:xfrm>
          <a:prstGeom prst="rect">
            <a:avLst/>
          </a:prstGeom>
          <a:noFill/>
          <a:ln/>
        </p:spPr>
        <p:txBody>
          <a:bodyPr wrap="square" rtlCol="0" anchor="ctr"/>
          <a:lstStyle/>
          <a:p>
            <a:pPr indent="0" marL="0">
              <a:buNone/>
            </a:pPr>
            <a:r>
              <a:rPr lang="en-US" sz="1300" b="1" spc="300" kern="0" dirty="0">
                <a:solidFill>
                  <a:srgbClr val="F4B942"/>
                </a:solidFill>
                <a:latin typeface="Calibri" pitchFamily="34" charset="0"/>
                <a:ea typeface="Calibri" pitchFamily="34" charset="-122"/>
                <a:cs typeface="Calibri" pitchFamily="34" charset="-120"/>
              </a:rPr>
              <a:t>IMPORTANT FINDINGS</a:t>
            </a:r>
            <a:endParaRPr lang="en-US" sz="1300" dirty="0"/>
          </a:p>
        </p:txBody>
      </p:sp>
      <p:sp>
        <p:nvSpPr>
          <p:cNvPr id="4" name="Text 2"/>
          <p:cNvSpPr/>
          <p:nvPr/>
        </p:nvSpPr>
        <p:spPr>
          <a:xfrm>
            <a:off x="777240" y="822960"/>
            <a:ext cx="9144000" cy="822960"/>
          </a:xfrm>
          <a:prstGeom prst="rect">
            <a:avLst/>
          </a:prstGeom>
          <a:noFill/>
          <a:ln/>
        </p:spPr>
        <p:txBody>
          <a:bodyPr wrap="square" rtlCol="0" anchor="ctr"/>
          <a:lstStyle/>
          <a:p>
            <a:pPr indent="0" marL="0">
              <a:buNone/>
            </a:pPr>
            <a:r>
              <a:rPr lang="en-US" sz="3200" b="1" dirty="0">
                <a:solidFill>
                  <a:srgbClr val="FFFFFF"/>
                </a:solidFill>
                <a:latin typeface="Bookman Old Style" pitchFamily="34" charset="0"/>
                <a:ea typeface="Bookman Old Style" pitchFamily="34" charset="-122"/>
                <a:cs typeface="Bookman Old Style" pitchFamily="34" charset="-120"/>
              </a:rPr>
              <a:t>What the Numbers Reveal</a:t>
            </a:r>
            <a:endParaRPr lang="en-US" sz="3200" dirty="0"/>
          </a:p>
        </p:txBody>
      </p:sp>
      <p:sp>
        <p:nvSpPr>
          <p:cNvPr id="5" name="Shape 3"/>
          <p:cNvSpPr/>
          <p:nvPr/>
        </p:nvSpPr>
        <p:spPr>
          <a:xfrm>
            <a:off x="777240" y="1920240"/>
            <a:ext cx="3429000" cy="2011680"/>
          </a:xfrm>
          <a:prstGeom prst="roundRect">
            <a:avLst>
              <a:gd name="adj" fmla="val 5455"/>
            </a:avLst>
          </a:prstGeom>
          <a:solidFill>
            <a:srgbClr val="451D3A"/>
          </a:solidFill>
          <a:ln/>
        </p:spPr>
      </p:sp>
      <p:sp>
        <p:nvSpPr>
          <p:cNvPr id="6" name="Text 4"/>
          <p:cNvSpPr/>
          <p:nvPr/>
        </p:nvSpPr>
        <p:spPr>
          <a:xfrm>
            <a:off x="1005840" y="2103120"/>
            <a:ext cx="2971800" cy="685800"/>
          </a:xfrm>
          <a:prstGeom prst="rect">
            <a:avLst/>
          </a:prstGeom>
          <a:noFill/>
          <a:ln/>
        </p:spPr>
        <p:txBody>
          <a:bodyPr wrap="square" lIns="0" tIns="0" rIns="0" bIns="0" rtlCol="0" anchor="ctr"/>
          <a:lstStyle/>
          <a:p>
            <a:pPr indent="0" marL="0">
              <a:buNone/>
            </a:pPr>
            <a:r>
              <a:rPr lang="en-US" sz="2700" b="1" dirty="0">
                <a:solidFill>
                  <a:srgbClr val="F3927F"/>
                </a:solidFill>
                <a:latin typeface="Bookman Old Style" pitchFamily="34" charset="0"/>
                <a:ea typeface="Bookman Old Style" pitchFamily="34" charset="-122"/>
                <a:cs typeface="Bookman Old Style" pitchFamily="34" charset="-120"/>
              </a:rPr>
              <a:t>₹14,969</a:t>
            </a:r>
            <a:endParaRPr lang="en-US" sz="2700" dirty="0"/>
          </a:p>
        </p:txBody>
      </p:sp>
      <p:sp>
        <p:nvSpPr>
          <p:cNvPr id="7" name="Text 5"/>
          <p:cNvSpPr/>
          <p:nvPr/>
        </p:nvSpPr>
        <p:spPr>
          <a:xfrm>
            <a:off x="1005840" y="2788920"/>
            <a:ext cx="3017520" cy="1005840"/>
          </a:xfrm>
          <a:prstGeom prst="rect">
            <a:avLst/>
          </a:prstGeom>
          <a:noFill/>
          <a:ln/>
        </p:spPr>
        <p:txBody>
          <a:bodyPr wrap="square" lIns="0" tIns="0" rIns="0" bIns="0" rtlCol="0" anchor="ctr"/>
          <a:lstStyle/>
          <a:p>
            <a:pPr indent="0" marL="0">
              <a:lnSpc>
                <a:spcPct val="120000"/>
              </a:lnSpc>
              <a:buNone/>
            </a:pPr>
            <a:r>
              <a:rPr lang="en-US" sz="1100" dirty="0">
                <a:solidFill>
                  <a:srgbClr val="E8D9DF"/>
                </a:solidFill>
                <a:latin typeface="Calibri" pitchFamily="34" charset="0"/>
                <a:ea typeface="Calibri" pitchFamily="34" charset="-122"/>
                <a:cs typeface="Calibri" pitchFamily="34" charset="-120"/>
              </a:rPr>
              <a:t>Citywide average monthly rent (median ₹13,479)</a:t>
            </a:r>
            <a:endParaRPr lang="en-US" sz="1100" dirty="0"/>
          </a:p>
        </p:txBody>
      </p:sp>
      <p:sp>
        <p:nvSpPr>
          <p:cNvPr id="8" name="Shape 6"/>
          <p:cNvSpPr/>
          <p:nvPr/>
        </p:nvSpPr>
        <p:spPr>
          <a:xfrm>
            <a:off x="4389120" y="1920240"/>
            <a:ext cx="3429000" cy="2011680"/>
          </a:xfrm>
          <a:prstGeom prst="roundRect">
            <a:avLst>
              <a:gd name="adj" fmla="val 5455"/>
            </a:avLst>
          </a:prstGeom>
          <a:solidFill>
            <a:srgbClr val="451D3A"/>
          </a:solidFill>
          <a:ln/>
        </p:spPr>
      </p:sp>
      <p:sp>
        <p:nvSpPr>
          <p:cNvPr id="9" name="Text 7"/>
          <p:cNvSpPr/>
          <p:nvPr/>
        </p:nvSpPr>
        <p:spPr>
          <a:xfrm>
            <a:off x="4617720" y="2103120"/>
            <a:ext cx="2971800" cy="685800"/>
          </a:xfrm>
          <a:prstGeom prst="rect">
            <a:avLst/>
          </a:prstGeom>
          <a:noFill/>
          <a:ln/>
        </p:spPr>
        <p:txBody>
          <a:bodyPr wrap="square" lIns="0" tIns="0" rIns="0" bIns="0" rtlCol="0" anchor="ctr"/>
          <a:lstStyle/>
          <a:p>
            <a:pPr indent="0" marL="0">
              <a:buNone/>
            </a:pPr>
            <a:r>
              <a:rPr lang="en-US" sz="2700" b="1" dirty="0">
                <a:solidFill>
                  <a:srgbClr val="F4B942"/>
                </a:solidFill>
                <a:latin typeface="Bookman Old Style" pitchFamily="34" charset="0"/>
                <a:ea typeface="Bookman Old Style" pitchFamily="34" charset="-122"/>
                <a:cs typeface="Bookman Old Style" pitchFamily="34" charset="-120"/>
              </a:rPr>
              <a:t>₹41,829</a:t>
            </a:r>
            <a:endParaRPr lang="en-US" sz="2700" dirty="0"/>
          </a:p>
        </p:txBody>
      </p:sp>
      <p:sp>
        <p:nvSpPr>
          <p:cNvPr id="10" name="Text 8"/>
          <p:cNvSpPr/>
          <p:nvPr/>
        </p:nvSpPr>
        <p:spPr>
          <a:xfrm>
            <a:off x="4617720" y="2788920"/>
            <a:ext cx="3017520" cy="1005840"/>
          </a:xfrm>
          <a:prstGeom prst="rect">
            <a:avLst/>
          </a:prstGeom>
          <a:noFill/>
          <a:ln/>
        </p:spPr>
        <p:txBody>
          <a:bodyPr wrap="square" lIns="0" tIns="0" rIns="0" bIns="0" rtlCol="0" anchor="ctr"/>
          <a:lstStyle/>
          <a:p>
            <a:pPr indent="0" marL="0">
              <a:lnSpc>
                <a:spcPct val="120000"/>
              </a:lnSpc>
              <a:buNone/>
            </a:pPr>
            <a:r>
              <a:rPr lang="en-US" sz="1100" dirty="0">
                <a:solidFill>
                  <a:srgbClr val="E8D9DF"/>
                </a:solidFill>
                <a:latin typeface="Calibri" pitchFamily="34" charset="0"/>
                <a:ea typeface="Calibri" pitchFamily="34" charset="-122"/>
                <a:cs typeface="Calibri" pitchFamily="34" charset="-120"/>
              </a:rPr>
              <a:t>Peak average rent — HSR Layout</a:t>
            </a:r>
            <a:endParaRPr lang="en-US" sz="1100" dirty="0"/>
          </a:p>
        </p:txBody>
      </p:sp>
      <p:sp>
        <p:nvSpPr>
          <p:cNvPr id="11" name="Shape 9"/>
          <p:cNvSpPr/>
          <p:nvPr/>
        </p:nvSpPr>
        <p:spPr>
          <a:xfrm>
            <a:off x="8001000" y="1920240"/>
            <a:ext cx="3429000" cy="2011680"/>
          </a:xfrm>
          <a:prstGeom prst="roundRect">
            <a:avLst>
              <a:gd name="adj" fmla="val 5455"/>
            </a:avLst>
          </a:prstGeom>
          <a:solidFill>
            <a:srgbClr val="451D3A"/>
          </a:solidFill>
          <a:ln/>
        </p:spPr>
      </p:sp>
      <p:sp>
        <p:nvSpPr>
          <p:cNvPr id="12" name="Text 10"/>
          <p:cNvSpPr/>
          <p:nvPr/>
        </p:nvSpPr>
        <p:spPr>
          <a:xfrm>
            <a:off x="8229600" y="2103120"/>
            <a:ext cx="2971800" cy="685800"/>
          </a:xfrm>
          <a:prstGeom prst="rect">
            <a:avLst/>
          </a:prstGeom>
          <a:noFill/>
          <a:ln/>
        </p:spPr>
        <p:txBody>
          <a:bodyPr wrap="square" lIns="0" tIns="0" rIns="0" bIns="0" rtlCol="0" anchor="ctr"/>
          <a:lstStyle/>
          <a:p>
            <a:pPr indent="0" marL="0">
              <a:buNone/>
            </a:pPr>
            <a:r>
              <a:rPr lang="en-US" sz="2700" b="1" dirty="0">
                <a:solidFill>
                  <a:srgbClr val="F3927F"/>
                </a:solidFill>
                <a:latin typeface="Bookman Old Style" pitchFamily="34" charset="0"/>
                <a:ea typeface="Bookman Old Style" pitchFamily="34" charset="-122"/>
                <a:cs typeface="Bookman Old Style" pitchFamily="34" charset="-120"/>
              </a:rPr>
              <a:t>≈ 0.00</a:t>
            </a:r>
            <a:endParaRPr lang="en-US" sz="2700" dirty="0"/>
          </a:p>
        </p:txBody>
      </p:sp>
      <p:sp>
        <p:nvSpPr>
          <p:cNvPr id="13" name="Text 11"/>
          <p:cNvSpPr/>
          <p:nvPr/>
        </p:nvSpPr>
        <p:spPr>
          <a:xfrm>
            <a:off x="8229600" y="2788920"/>
            <a:ext cx="3017520" cy="1005840"/>
          </a:xfrm>
          <a:prstGeom prst="rect">
            <a:avLst/>
          </a:prstGeom>
          <a:noFill/>
          <a:ln/>
        </p:spPr>
        <p:txBody>
          <a:bodyPr wrap="square" lIns="0" tIns="0" rIns="0" bIns="0" rtlCol="0" anchor="ctr"/>
          <a:lstStyle/>
          <a:p>
            <a:pPr indent="0" marL="0">
              <a:lnSpc>
                <a:spcPct val="120000"/>
              </a:lnSpc>
              <a:buNone/>
            </a:pPr>
            <a:r>
              <a:rPr lang="en-US" sz="1100" dirty="0">
                <a:solidFill>
                  <a:srgbClr val="E8D9DF"/>
                </a:solidFill>
                <a:latin typeface="Calibri" pitchFamily="34" charset="0"/>
                <a:ea typeface="Calibri" pitchFamily="34" charset="-122"/>
                <a:cs typeface="Calibri" pitchFamily="34" charset="-120"/>
              </a:rPr>
              <a:t>Correlation between rent and Google Rating</a:t>
            </a:r>
            <a:endParaRPr lang="en-US" sz="1100" dirty="0"/>
          </a:p>
        </p:txBody>
      </p:sp>
      <p:sp>
        <p:nvSpPr>
          <p:cNvPr id="14" name="Shape 12"/>
          <p:cNvSpPr/>
          <p:nvPr/>
        </p:nvSpPr>
        <p:spPr>
          <a:xfrm>
            <a:off x="777240" y="4160520"/>
            <a:ext cx="3429000" cy="2011680"/>
          </a:xfrm>
          <a:prstGeom prst="roundRect">
            <a:avLst>
              <a:gd name="adj" fmla="val 5455"/>
            </a:avLst>
          </a:prstGeom>
          <a:solidFill>
            <a:srgbClr val="451D3A"/>
          </a:solidFill>
          <a:ln/>
        </p:spPr>
      </p:sp>
      <p:sp>
        <p:nvSpPr>
          <p:cNvPr id="15" name="Text 13"/>
          <p:cNvSpPr/>
          <p:nvPr/>
        </p:nvSpPr>
        <p:spPr>
          <a:xfrm>
            <a:off x="1005840" y="4343400"/>
            <a:ext cx="2971800" cy="685800"/>
          </a:xfrm>
          <a:prstGeom prst="rect">
            <a:avLst/>
          </a:prstGeom>
          <a:noFill/>
          <a:ln/>
        </p:spPr>
        <p:txBody>
          <a:bodyPr wrap="square" lIns="0" tIns="0" rIns="0" bIns="0" rtlCol="0" anchor="ctr"/>
          <a:lstStyle/>
          <a:p>
            <a:pPr indent="0" marL="0">
              <a:buNone/>
            </a:pPr>
            <a:r>
              <a:rPr lang="en-US" sz="2700" b="1" dirty="0">
                <a:solidFill>
                  <a:srgbClr val="F4B942"/>
                </a:solidFill>
                <a:latin typeface="Bookman Old Style" pitchFamily="34" charset="0"/>
                <a:ea typeface="Bookman Old Style" pitchFamily="34" charset="-122"/>
                <a:cs typeface="Bookman Old Style" pitchFamily="34" charset="-120"/>
              </a:rPr>
              <a:t>15,248</a:t>
            </a:r>
            <a:endParaRPr lang="en-US" sz="2700" dirty="0"/>
          </a:p>
        </p:txBody>
      </p:sp>
      <p:sp>
        <p:nvSpPr>
          <p:cNvPr id="16" name="Text 14"/>
          <p:cNvSpPr/>
          <p:nvPr/>
        </p:nvSpPr>
        <p:spPr>
          <a:xfrm>
            <a:off x="1005840" y="5029200"/>
            <a:ext cx="3017520" cy="1005840"/>
          </a:xfrm>
          <a:prstGeom prst="rect">
            <a:avLst/>
          </a:prstGeom>
          <a:noFill/>
          <a:ln/>
        </p:spPr>
        <p:txBody>
          <a:bodyPr wrap="square" lIns="0" tIns="0" rIns="0" bIns="0" rtlCol="0" anchor="ctr"/>
          <a:lstStyle/>
          <a:p>
            <a:pPr indent="0" marL="0">
              <a:lnSpc>
                <a:spcPct val="120000"/>
              </a:lnSpc>
              <a:buNone/>
            </a:pPr>
            <a:r>
              <a:rPr lang="en-US" sz="1100" dirty="0">
                <a:solidFill>
                  <a:srgbClr val="E8D9DF"/>
                </a:solidFill>
                <a:latin typeface="Calibri" pitchFamily="34" charset="0"/>
                <a:ea typeface="Calibri" pitchFamily="34" charset="-122"/>
                <a:cs typeface="Calibri" pitchFamily="34" charset="-120"/>
              </a:rPr>
              <a:t>PGs offering Laundry — most common amenity</a:t>
            </a:r>
            <a:endParaRPr lang="en-US" sz="1100" dirty="0"/>
          </a:p>
        </p:txBody>
      </p:sp>
      <p:sp>
        <p:nvSpPr>
          <p:cNvPr id="17" name="Shape 15"/>
          <p:cNvSpPr/>
          <p:nvPr/>
        </p:nvSpPr>
        <p:spPr>
          <a:xfrm>
            <a:off x="4389120" y="4160520"/>
            <a:ext cx="3429000" cy="2011680"/>
          </a:xfrm>
          <a:prstGeom prst="roundRect">
            <a:avLst>
              <a:gd name="adj" fmla="val 5455"/>
            </a:avLst>
          </a:prstGeom>
          <a:solidFill>
            <a:srgbClr val="451D3A"/>
          </a:solidFill>
          <a:ln/>
        </p:spPr>
      </p:sp>
      <p:sp>
        <p:nvSpPr>
          <p:cNvPr id="18" name="Text 16"/>
          <p:cNvSpPr/>
          <p:nvPr/>
        </p:nvSpPr>
        <p:spPr>
          <a:xfrm>
            <a:off x="4617720" y="4343400"/>
            <a:ext cx="2971800" cy="685800"/>
          </a:xfrm>
          <a:prstGeom prst="rect">
            <a:avLst/>
          </a:prstGeom>
          <a:noFill/>
          <a:ln/>
        </p:spPr>
        <p:txBody>
          <a:bodyPr wrap="square" lIns="0" tIns="0" rIns="0" bIns="0" rtlCol="0" anchor="ctr"/>
          <a:lstStyle/>
          <a:p>
            <a:pPr indent="0" marL="0">
              <a:buNone/>
            </a:pPr>
            <a:r>
              <a:rPr lang="en-US" sz="2700" b="1" dirty="0">
                <a:solidFill>
                  <a:srgbClr val="F3927F"/>
                </a:solidFill>
                <a:latin typeface="Bookman Old Style" pitchFamily="34" charset="0"/>
                <a:ea typeface="Bookman Old Style" pitchFamily="34" charset="-122"/>
                <a:cs typeface="Bookman Old Style" pitchFamily="34" charset="-120"/>
              </a:rPr>
              <a:t>160</a:t>
            </a:r>
            <a:endParaRPr lang="en-US" sz="2700" dirty="0"/>
          </a:p>
        </p:txBody>
      </p:sp>
      <p:sp>
        <p:nvSpPr>
          <p:cNvPr id="19" name="Text 17"/>
          <p:cNvSpPr/>
          <p:nvPr/>
        </p:nvSpPr>
        <p:spPr>
          <a:xfrm>
            <a:off x="4617720" y="5029200"/>
            <a:ext cx="3017520" cy="1005840"/>
          </a:xfrm>
          <a:prstGeom prst="rect">
            <a:avLst/>
          </a:prstGeom>
          <a:noFill/>
          <a:ln/>
        </p:spPr>
        <p:txBody>
          <a:bodyPr wrap="square" lIns="0" tIns="0" rIns="0" bIns="0" rtlCol="0" anchor="ctr"/>
          <a:lstStyle/>
          <a:p>
            <a:pPr indent="0" marL="0">
              <a:lnSpc>
                <a:spcPct val="120000"/>
              </a:lnSpc>
              <a:buNone/>
            </a:pPr>
            <a:r>
              <a:rPr lang="en-US" sz="1100" dirty="0">
                <a:solidFill>
                  <a:srgbClr val="E8D9DF"/>
                </a:solidFill>
                <a:latin typeface="Calibri" pitchFamily="34" charset="0"/>
                <a:ea typeface="Calibri" pitchFamily="34" charset="-122"/>
                <a:cs typeface="Calibri" pitchFamily="34" charset="-120"/>
              </a:rPr>
              <a:t>Highly-rated (≥4.5★) PGs in Domlur, the top locality</a:t>
            </a:r>
            <a:endParaRPr lang="en-US" sz="1100" dirty="0"/>
          </a:p>
        </p:txBody>
      </p:sp>
      <p:sp>
        <p:nvSpPr>
          <p:cNvPr id="20" name="Shape 18"/>
          <p:cNvSpPr/>
          <p:nvPr/>
        </p:nvSpPr>
        <p:spPr>
          <a:xfrm>
            <a:off x="8001000" y="4160520"/>
            <a:ext cx="3429000" cy="2011680"/>
          </a:xfrm>
          <a:prstGeom prst="roundRect">
            <a:avLst>
              <a:gd name="adj" fmla="val 5455"/>
            </a:avLst>
          </a:prstGeom>
          <a:solidFill>
            <a:srgbClr val="451D3A"/>
          </a:solidFill>
          <a:ln/>
        </p:spPr>
      </p:sp>
      <p:sp>
        <p:nvSpPr>
          <p:cNvPr id="21" name="Text 19"/>
          <p:cNvSpPr/>
          <p:nvPr/>
        </p:nvSpPr>
        <p:spPr>
          <a:xfrm>
            <a:off x="8229600" y="4343400"/>
            <a:ext cx="2971800" cy="685800"/>
          </a:xfrm>
          <a:prstGeom prst="rect">
            <a:avLst/>
          </a:prstGeom>
          <a:noFill/>
          <a:ln/>
        </p:spPr>
        <p:txBody>
          <a:bodyPr wrap="square" lIns="0" tIns="0" rIns="0" bIns="0" rtlCol="0" anchor="ctr"/>
          <a:lstStyle/>
          <a:p>
            <a:pPr indent="0" marL="0">
              <a:buNone/>
            </a:pPr>
            <a:r>
              <a:rPr lang="en-US" sz="2700" b="1" dirty="0">
                <a:solidFill>
                  <a:srgbClr val="F4B942"/>
                </a:solidFill>
                <a:latin typeface="Bookman Old Style" pitchFamily="34" charset="0"/>
                <a:ea typeface="Bookman Old Style" pitchFamily="34" charset="-122"/>
                <a:cs typeface="Bookman Old Style" pitchFamily="34" charset="-120"/>
              </a:rPr>
              <a:t>3.80 / 5</a:t>
            </a:r>
            <a:endParaRPr lang="en-US" sz="2700" dirty="0"/>
          </a:p>
        </p:txBody>
      </p:sp>
      <p:sp>
        <p:nvSpPr>
          <p:cNvPr id="22" name="Text 20"/>
          <p:cNvSpPr/>
          <p:nvPr/>
        </p:nvSpPr>
        <p:spPr>
          <a:xfrm>
            <a:off x="8229600" y="5029200"/>
            <a:ext cx="3017520" cy="1005840"/>
          </a:xfrm>
          <a:prstGeom prst="rect">
            <a:avLst/>
          </a:prstGeom>
          <a:noFill/>
          <a:ln/>
        </p:spPr>
        <p:txBody>
          <a:bodyPr wrap="square" lIns="0" tIns="0" rIns="0" bIns="0" rtlCol="0" anchor="ctr"/>
          <a:lstStyle/>
          <a:p>
            <a:pPr indent="0" marL="0">
              <a:lnSpc>
                <a:spcPct val="120000"/>
              </a:lnSpc>
              <a:buNone/>
            </a:pPr>
            <a:r>
              <a:rPr lang="en-US" sz="1100" dirty="0">
                <a:solidFill>
                  <a:srgbClr val="E8D9DF"/>
                </a:solidFill>
                <a:latin typeface="Calibri" pitchFamily="34" charset="0"/>
                <a:ea typeface="Calibri" pitchFamily="34" charset="-122"/>
                <a:cs typeface="Calibri" pitchFamily="34" charset="-120"/>
              </a:rPr>
              <a:t>Average Google Rating across all PGs</a:t>
            </a:r>
            <a:endParaRPr lang="en-US" sz="1100" dirty="0"/>
          </a:p>
        </p:txBody>
      </p:sp>
      <p:sp>
        <p:nvSpPr>
          <p:cNvPr id="23" name="Text 21"/>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5486400" cy="365760"/>
          </a:xfrm>
          <a:prstGeom prst="rect">
            <a:avLst/>
          </a:prstGeom>
          <a:noFill/>
          <a:ln/>
        </p:spPr>
        <p:txBody>
          <a:bodyPr wrap="square" rtlCol="0" anchor="ctr"/>
          <a:lstStyle/>
          <a:p>
            <a:pPr indent="0" marL="0">
              <a:buNone/>
            </a:pPr>
            <a:r>
              <a:rPr lang="en-US" sz="1300" b="1" spc="300" kern="0" dirty="0">
                <a:solidFill>
                  <a:srgbClr val="7B2D5E"/>
                </a:solidFill>
                <a:latin typeface="Calibri" pitchFamily="34" charset="0"/>
                <a:ea typeface="Calibri" pitchFamily="34" charset="-122"/>
                <a:cs typeface="Calibri" pitchFamily="34" charset="-120"/>
              </a:rPr>
              <a:t>PROJECT INSIGHTS</a:t>
            </a:r>
            <a:endParaRPr lang="en-US" sz="1300" dirty="0"/>
          </a:p>
        </p:txBody>
      </p:sp>
      <p:sp>
        <p:nvSpPr>
          <p:cNvPr id="3" name="Text 1"/>
          <p:cNvSpPr/>
          <p:nvPr/>
        </p:nvSpPr>
        <p:spPr>
          <a:xfrm>
            <a:off x="777240" y="822960"/>
            <a:ext cx="9144000" cy="822960"/>
          </a:xfrm>
          <a:prstGeom prst="rect">
            <a:avLst/>
          </a:prstGeom>
          <a:noFill/>
          <a:ln/>
        </p:spPr>
        <p:txBody>
          <a:bodyPr wrap="square" rtlCol="0" anchor="ctr"/>
          <a:lstStyle/>
          <a:p>
            <a:pPr indent="0" marL="0">
              <a:buNone/>
            </a:pPr>
            <a:r>
              <a:rPr lang="en-US" sz="3400" b="1" dirty="0">
                <a:solidFill>
                  <a:srgbClr val="2B1B24"/>
                </a:solidFill>
                <a:latin typeface="Bookman Old Style" pitchFamily="34" charset="0"/>
                <a:ea typeface="Bookman Old Style" pitchFamily="34" charset="-122"/>
                <a:cs typeface="Bookman Old Style" pitchFamily="34" charset="-120"/>
              </a:rPr>
              <a:t>Patterns Behind the Data</a:t>
            </a:r>
            <a:endParaRPr lang="en-US" sz="3400" dirty="0"/>
          </a:p>
        </p:txBody>
      </p:sp>
      <p:sp>
        <p:nvSpPr>
          <p:cNvPr id="4" name="Shape 2"/>
          <p:cNvSpPr/>
          <p:nvPr/>
        </p:nvSpPr>
        <p:spPr>
          <a:xfrm>
            <a:off x="777240" y="1828800"/>
            <a:ext cx="5349240" cy="1965960"/>
          </a:xfrm>
          <a:prstGeom prst="roundRect">
            <a:avLst>
              <a:gd name="adj" fmla="val 5581"/>
            </a:avLst>
          </a:prstGeom>
          <a:solidFill>
            <a:srgbClr val="FFF9F5"/>
          </a:solidFill>
          <a:ln/>
        </p:spPr>
      </p:sp>
      <p:sp>
        <p:nvSpPr>
          <p:cNvPr id="5" name="Shape 3"/>
          <p:cNvSpPr/>
          <p:nvPr/>
        </p:nvSpPr>
        <p:spPr>
          <a:xfrm>
            <a:off x="978408" y="2029968"/>
            <a:ext cx="658368" cy="658368"/>
          </a:xfrm>
          <a:prstGeom prst="ellipse">
            <a:avLst/>
          </a:prstGeom>
          <a:solidFill>
            <a:srgbClr val="E85D4E"/>
          </a:solidFill>
          <a:ln/>
        </p:spPr>
      </p:sp>
      <p:pic>
        <p:nvPicPr>
          <p:cNvPr id="6" name="Image 0" descr="/home/claude/icons/layers.png">    </p:cNvPr>
          <p:cNvPicPr>
            <a:picLocks noChangeAspect="1"/>
          </p:cNvPicPr>
          <p:nvPr/>
        </p:nvPicPr>
        <p:blipFill>
          <a:blip r:embed="rId1"/>
          <a:stretch>
            <a:fillRect/>
          </a:stretch>
        </p:blipFill>
        <p:spPr>
          <a:xfrm>
            <a:off x="1156167" y="2207727"/>
            <a:ext cx="302849" cy="302849"/>
          </a:xfrm>
          <a:prstGeom prst="rect">
            <a:avLst/>
          </a:prstGeom>
        </p:spPr>
      </p:pic>
      <p:sp>
        <p:nvSpPr>
          <p:cNvPr id="7" name="Text 4"/>
          <p:cNvSpPr/>
          <p:nvPr/>
        </p:nvSpPr>
        <p:spPr>
          <a:xfrm>
            <a:off x="1783080" y="2011680"/>
            <a:ext cx="4160520" cy="384048"/>
          </a:xfrm>
          <a:prstGeom prst="rect">
            <a:avLst/>
          </a:prstGeom>
          <a:noFill/>
          <a:ln/>
        </p:spPr>
        <p:txBody>
          <a:bodyPr wrap="square" lIns="0" tIns="0" rIns="0" bIns="0" rtlCol="0" anchor="ctr"/>
          <a:lstStyle/>
          <a:p>
            <a:pPr indent="0" marL="0">
              <a:buNone/>
            </a:pPr>
            <a:r>
              <a:rPr lang="en-US" sz="1450" b="1" dirty="0">
                <a:solidFill>
                  <a:srgbClr val="2B1B24"/>
                </a:solidFill>
                <a:latin typeface="Bookman Old Style" pitchFamily="34" charset="0"/>
                <a:ea typeface="Bookman Old Style" pitchFamily="34" charset="-122"/>
                <a:cs typeface="Bookman Old Style" pitchFamily="34" charset="-120"/>
              </a:rPr>
              <a:t>Price ≠ Quality</a:t>
            </a:r>
            <a:endParaRPr lang="en-US" sz="1450" dirty="0"/>
          </a:p>
        </p:txBody>
      </p:sp>
      <p:sp>
        <p:nvSpPr>
          <p:cNvPr id="8" name="Text 5"/>
          <p:cNvSpPr/>
          <p:nvPr/>
        </p:nvSpPr>
        <p:spPr>
          <a:xfrm>
            <a:off x="1005840" y="2697480"/>
            <a:ext cx="4937760" cy="1005840"/>
          </a:xfrm>
          <a:prstGeom prst="rect">
            <a:avLst/>
          </a:prstGeom>
          <a:noFill/>
          <a:ln/>
        </p:spPr>
        <p:txBody>
          <a:bodyPr wrap="square" lIns="0" tIns="0" rIns="0" bIns="0" rtlCol="0" anchor="ctr"/>
          <a:lstStyle/>
          <a:p>
            <a:pPr indent="0" marL="0">
              <a:lnSpc>
                <a:spcPct val="120000"/>
              </a:lnSpc>
              <a:buNone/>
            </a:pPr>
            <a:r>
              <a:rPr lang="en-US" sz="1030" dirty="0">
                <a:solidFill>
                  <a:srgbClr val="6B5B63"/>
                </a:solidFill>
                <a:latin typeface="Calibri" pitchFamily="34" charset="0"/>
                <a:ea typeface="Calibri" pitchFamily="34" charset="-122"/>
                <a:cs typeface="Calibri" pitchFamily="34" charset="-120"/>
              </a:rPr>
              <a:t>Rent shows near-zero correlation with rating, safety, commute or value-for-money scores — price is set by location, not service quality alone.</a:t>
            </a:r>
            <a:endParaRPr lang="en-US" sz="1030" dirty="0"/>
          </a:p>
        </p:txBody>
      </p:sp>
      <p:sp>
        <p:nvSpPr>
          <p:cNvPr id="9" name="Shape 6"/>
          <p:cNvSpPr/>
          <p:nvPr/>
        </p:nvSpPr>
        <p:spPr>
          <a:xfrm>
            <a:off x="6291072" y="1828800"/>
            <a:ext cx="5349240" cy="1965960"/>
          </a:xfrm>
          <a:prstGeom prst="roundRect">
            <a:avLst>
              <a:gd name="adj" fmla="val 5581"/>
            </a:avLst>
          </a:prstGeom>
          <a:solidFill>
            <a:srgbClr val="FFF9F5"/>
          </a:solidFill>
          <a:ln/>
        </p:spPr>
      </p:sp>
      <p:sp>
        <p:nvSpPr>
          <p:cNvPr id="10" name="Shape 7"/>
          <p:cNvSpPr/>
          <p:nvPr/>
        </p:nvSpPr>
        <p:spPr>
          <a:xfrm>
            <a:off x="6492240" y="2029968"/>
            <a:ext cx="658368" cy="658368"/>
          </a:xfrm>
          <a:prstGeom prst="ellipse">
            <a:avLst/>
          </a:prstGeom>
          <a:solidFill>
            <a:srgbClr val="F4B942"/>
          </a:solidFill>
          <a:ln/>
        </p:spPr>
      </p:sp>
      <p:pic>
        <p:nvPicPr>
          <p:cNvPr id="11" name="Image 1" descr="/home/claude/icons/compass.png">    </p:cNvPr>
          <p:cNvPicPr>
            <a:picLocks noChangeAspect="1"/>
          </p:cNvPicPr>
          <p:nvPr/>
        </p:nvPicPr>
        <p:blipFill>
          <a:blip r:embed="rId2"/>
          <a:stretch>
            <a:fillRect/>
          </a:stretch>
        </p:blipFill>
        <p:spPr>
          <a:xfrm>
            <a:off x="6669999" y="2207727"/>
            <a:ext cx="302849" cy="302849"/>
          </a:xfrm>
          <a:prstGeom prst="rect">
            <a:avLst/>
          </a:prstGeom>
        </p:spPr>
      </p:pic>
      <p:sp>
        <p:nvSpPr>
          <p:cNvPr id="12" name="Text 8"/>
          <p:cNvSpPr/>
          <p:nvPr/>
        </p:nvSpPr>
        <p:spPr>
          <a:xfrm>
            <a:off x="7296912" y="2011680"/>
            <a:ext cx="4160520" cy="384048"/>
          </a:xfrm>
          <a:prstGeom prst="rect">
            <a:avLst/>
          </a:prstGeom>
          <a:noFill/>
          <a:ln/>
        </p:spPr>
        <p:txBody>
          <a:bodyPr wrap="square" lIns="0" tIns="0" rIns="0" bIns="0" rtlCol="0" anchor="ctr"/>
          <a:lstStyle/>
          <a:p>
            <a:pPr indent="0" marL="0">
              <a:buNone/>
            </a:pPr>
            <a:r>
              <a:rPr lang="en-US" sz="1450" b="1" dirty="0">
                <a:solidFill>
                  <a:srgbClr val="2B1B24"/>
                </a:solidFill>
                <a:latin typeface="Bookman Old Style" pitchFamily="34" charset="0"/>
                <a:ea typeface="Bookman Old Style" pitchFamily="34" charset="-122"/>
                <a:cs typeface="Bookman Old Style" pitchFamily="34" charset="-120"/>
              </a:rPr>
              <a:t>Location Beats Distance</a:t>
            </a:r>
            <a:endParaRPr lang="en-US" sz="1450" dirty="0"/>
          </a:p>
        </p:txBody>
      </p:sp>
      <p:sp>
        <p:nvSpPr>
          <p:cNvPr id="13" name="Text 9"/>
          <p:cNvSpPr/>
          <p:nvPr/>
        </p:nvSpPr>
        <p:spPr>
          <a:xfrm>
            <a:off x="6519672" y="2697480"/>
            <a:ext cx="4937760" cy="1005840"/>
          </a:xfrm>
          <a:prstGeom prst="rect">
            <a:avLst/>
          </a:prstGeom>
          <a:noFill/>
          <a:ln/>
        </p:spPr>
        <p:txBody>
          <a:bodyPr wrap="square" lIns="0" tIns="0" rIns="0" bIns="0" rtlCol="0" anchor="ctr"/>
          <a:lstStyle/>
          <a:p>
            <a:pPr indent="0" marL="0">
              <a:lnSpc>
                <a:spcPct val="120000"/>
              </a:lnSpc>
              <a:buNone/>
            </a:pPr>
            <a:r>
              <a:rPr lang="en-US" sz="1030" dirty="0">
                <a:solidFill>
                  <a:srgbClr val="6B5B63"/>
                </a:solidFill>
                <a:latin typeface="Calibri" pitchFamily="34" charset="0"/>
                <a:ea typeface="Calibri" pitchFamily="34" charset="-122"/>
                <a:cs typeface="Calibri" pitchFamily="34" charset="-120"/>
              </a:rPr>
              <a:t>Neither metro nor IT-park distance meaningfully predicts rent or occupancy — locality identity and brand matter more than raw proximity.</a:t>
            </a:r>
            <a:endParaRPr lang="en-US" sz="1030" dirty="0"/>
          </a:p>
        </p:txBody>
      </p:sp>
      <p:sp>
        <p:nvSpPr>
          <p:cNvPr id="14" name="Shape 10"/>
          <p:cNvSpPr/>
          <p:nvPr/>
        </p:nvSpPr>
        <p:spPr>
          <a:xfrm>
            <a:off x="777240" y="3977640"/>
            <a:ext cx="5349240" cy="1965960"/>
          </a:xfrm>
          <a:prstGeom prst="roundRect">
            <a:avLst>
              <a:gd name="adj" fmla="val 5581"/>
            </a:avLst>
          </a:prstGeom>
          <a:solidFill>
            <a:srgbClr val="FFF9F5"/>
          </a:solidFill>
          <a:ln/>
        </p:spPr>
      </p:sp>
      <p:sp>
        <p:nvSpPr>
          <p:cNvPr id="15" name="Shape 11"/>
          <p:cNvSpPr/>
          <p:nvPr/>
        </p:nvSpPr>
        <p:spPr>
          <a:xfrm>
            <a:off x="978408" y="4178808"/>
            <a:ext cx="658368" cy="658368"/>
          </a:xfrm>
          <a:prstGeom prst="ellipse">
            <a:avLst/>
          </a:prstGeom>
          <a:solidFill>
            <a:srgbClr val="7B2D5E"/>
          </a:solidFill>
          <a:ln/>
        </p:spPr>
      </p:sp>
      <p:pic>
        <p:nvPicPr>
          <p:cNvPr id="16" name="Image 2" descr="/home/claude/icons/home.png">    </p:cNvPr>
          <p:cNvPicPr>
            <a:picLocks noChangeAspect="1"/>
          </p:cNvPicPr>
          <p:nvPr/>
        </p:nvPicPr>
        <p:blipFill>
          <a:blip r:embed="rId3"/>
          <a:stretch>
            <a:fillRect/>
          </a:stretch>
        </p:blipFill>
        <p:spPr>
          <a:xfrm>
            <a:off x="1156167" y="4356567"/>
            <a:ext cx="302849" cy="302849"/>
          </a:xfrm>
          <a:prstGeom prst="rect">
            <a:avLst/>
          </a:prstGeom>
        </p:spPr>
      </p:pic>
      <p:sp>
        <p:nvSpPr>
          <p:cNvPr id="17" name="Text 12"/>
          <p:cNvSpPr/>
          <p:nvPr/>
        </p:nvSpPr>
        <p:spPr>
          <a:xfrm>
            <a:off x="1783080" y="4160520"/>
            <a:ext cx="4160520" cy="384048"/>
          </a:xfrm>
          <a:prstGeom prst="rect">
            <a:avLst/>
          </a:prstGeom>
          <a:noFill/>
          <a:ln/>
        </p:spPr>
        <p:txBody>
          <a:bodyPr wrap="square" lIns="0" tIns="0" rIns="0" bIns="0" rtlCol="0" anchor="ctr"/>
          <a:lstStyle/>
          <a:p>
            <a:pPr indent="0" marL="0">
              <a:buNone/>
            </a:pPr>
            <a:r>
              <a:rPr lang="en-US" sz="1450" b="1" dirty="0">
                <a:solidFill>
                  <a:srgbClr val="2B1B24"/>
                </a:solidFill>
                <a:latin typeface="Bookman Old Style" pitchFamily="34" charset="0"/>
                <a:ea typeface="Bookman Old Style" pitchFamily="34" charset="-122"/>
                <a:cs typeface="Bookman Old Style" pitchFamily="34" charset="-120"/>
              </a:rPr>
              <a:t>Amenities Are Table Stakes</a:t>
            </a:r>
            <a:endParaRPr lang="en-US" sz="1450" dirty="0"/>
          </a:p>
        </p:txBody>
      </p:sp>
      <p:sp>
        <p:nvSpPr>
          <p:cNvPr id="18" name="Text 13"/>
          <p:cNvSpPr/>
          <p:nvPr/>
        </p:nvSpPr>
        <p:spPr>
          <a:xfrm>
            <a:off x="1005840" y="4846320"/>
            <a:ext cx="4937760" cy="1005840"/>
          </a:xfrm>
          <a:prstGeom prst="rect">
            <a:avLst/>
          </a:prstGeom>
          <a:noFill/>
          <a:ln/>
        </p:spPr>
        <p:txBody>
          <a:bodyPr wrap="square" lIns="0" tIns="0" rIns="0" bIns="0" rtlCol="0" anchor="ctr"/>
          <a:lstStyle/>
          <a:p>
            <a:pPr indent="0" marL="0">
              <a:lnSpc>
                <a:spcPct val="120000"/>
              </a:lnSpc>
              <a:buNone/>
            </a:pPr>
            <a:r>
              <a:rPr lang="en-US" sz="1030" dirty="0">
                <a:solidFill>
                  <a:srgbClr val="6B5B63"/>
                </a:solidFill>
                <a:latin typeface="Calibri" pitchFamily="34" charset="0"/>
                <a:ea typeface="Calibri" pitchFamily="34" charset="-122"/>
                <a:cs typeface="Calibri" pitchFamily="34" charset="-120"/>
              </a:rPr>
              <a:t>Availability of amenities is fairly uniform (14–15k PGs each); no single facility strongly differentiates rating outcomes.</a:t>
            </a:r>
            <a:endParaRPr lang="en-US" sz="1030" dirty="0"/>
          </a:p>
        </p:txBody>
      </p:sp>
      <p:sp>
        <p:nvSpPr>
          <p:cNvPr id="19" name="Shape 14"/>
          <p:cNvSpPr/>
          <p:nvPr/>
        </p:nvSpPr>
        <p:spPr>
          <a:xfrm>
            <a:off x="6291072" y="3977640"/>
            <a:ext cx="5349240" cy="1965960"/>
          </a:xfrm>
          <a:prstGeom prst="roundRect">
            <a:avLst>
              <a:gd name="adj" fmla="val 5581"/>
            </a:avLst>
          </a:prstGeom>
          <a:solidFill>
            <a:srgbClr val="FFF9F5"/>
          </a:solidFill>
          <a:ln/>
        </p:spPr>
      </p:sp>
      <p:sp>
        <p:nvSpPr>
          <p:cNvPr id="20" name="Shape 15"/>
          <p:cNvSpPr/>
          <p:nvPr/>
        </p:nvSpPr>
        <p:spPr>
          <a:xfrm>
            <a:off x="6492240" y="4178808"/>
            <a:ext cx="658368" cy="658368"/>
          </a:xfrm>
          <a:prstGeom prst="ellipse">
            <a:avLst/>
          </a:prstGeom>
          <a:solidFill>
            <a:srgbClr val="8FA998"/>
          </a:solidFill>
          <a:ln/>
        </p:spPr>
      </p:sp>
      <p:pic>
        <p:nvPicPr>
          <p:cNvPr id="21" name="Image 3" descr="/home/claude/icons/star.png">    </p:cNvPr>
          <p:cNvPicPr>
            <a:picLocks noChangeAspect="1"/>
          </p:cNvPicPr>
          <p:nvPr/>
        </p:nvPicPr>
        <p:blipFill>
          <a:blip r:embed="rId4"/>
          <a:stretch>
            <a:fillRect/>
          </a:stretch>
        </p:blipFill>
        <p:spPr>
          <a:xfrm>
            <a:off x="6669999" y="4356567"/>
            <a:ext cx="302849" cy="302849"/>
          </a:xfrm>
          <a:prstGeom prst="rect">
            <a:avLst/>
          </a:prstGeom>
        </p:spPr>
      </p:pic>
      <p:sp>
        <p:nvSpPr>
          <p:cNvPr id="22" name="Text 16"/>
          <p:cNvSpPr/>
          <p:nvPr/>
        </p:nvSpPr>
        <p:spPr>
          <a:xfrm>
            <a:off x="7296912" y="4160520"/>
            <a:ext cx="4160520" cy="384048"/>
          </a:xfrm>
          <a:prstGeom prst="rect">
            <a:avLst/>
          </a:prstGeom>
          <a:noFill/>
          <a:ln/>
        </p:spPr>
        <p:txBody>
          <a:bodyPr wrap="square" lIns="0" tIns="0" rIns="0" bIns="0" rtlCol="0" anchor="ctr"/>
          <a:lstStyle/>
          <a:p>
            <a:pPr indent="0" marL="0">
              <a:buNone/>
            </a:pPr>
            <a:r>
              <a:rPr lang="en-US" sz="1450" b="1" dirty="0">
                <a:solidFill>
                  <a:srgbClr val="2B1B24"/>
                </a:solidFill>
                <a:latin typeface="Bookman Old Style" pitchFamily="34" charset="0"/>
                <a:ea typeface="Bookman Old Style" pitchFamily="34" charset="-122"/>
                <a:cs typeface="Bookman Old Style" pitchFamily="34" charset="-120"/>
              </a:rPr>
              <a:t>Skewed, Not Symmetric</a:t>
            </a:r>
            <a:endParaRPr lang="en-US" sz="1450" dirty="0"/>
          </a:p>
        </p:txBody>
      </p:sp>
      <p:sp>
        <p:nvSpPr>
          <p:cNvPr id="23" name="Text 17"/>
          <p:cNvSpPr/>
          <p:nvPr/>
        </p:nvSpPr>
        <p:spPr>
          <a:xfrm>
            <a:off x="6519672" y="4846320"/>
            <a:ext cx="4937760" cy="1005840"/>
          </a:xfrm>
          <a:prstGeom prst="rect">
            <a:avLst/>
          </a:prstGeom>
          <a:noFill/>
          <a:ln/>
        </p:spPr>
        <p:txBody>
          <a:bodyPr wrap="square" lIns="0" tIns="0" rIns="0" bIns="0" rtlCol="0" anchor="ctr"/>
          <a:lstStyle/>
          <a:p>
            <a:pPr indent="0" marL="0">
              <a:lnSpc>
                <a:spcPct val="120000"/>
              </a:lnSpc>
              <a:buNone/>
            </a:pPr>
            <a:r>
              <a:rPr lang="en-US" sz="1030" dirty="0">
                <a:solidFill>
                  <a:srgbClr val="6B5B63"/>
                </a:solidFill>
                <a:latin typeface="Calibri" pitchFamily="34" charset="0"/>
                <a:ea typeface="Calibri" pitchFamily="34" charset="-122"/>
                <a:cs typeface="Calibri" pitchFamily="34" charset="-120"/>
              </a:rPr>
              <a:t>The right-skewed rent distribution shows a small premium segment inflating the average — median is the fairer 'typical rent' figure.</a:t>
            </a:r>
            <a:endParaRPr lang="en-US" sz="1030" dirty="0"/>
          </a:p>
        </p:txBody>
      </p:sp>
      <p:sp>
        <p:nvSpPr>
          <p:cNvPr id="24" name="Text 18"/>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9F5"/>
        </a:solidFill>
      </p:bgPr>
    </p:bg>
    <p:spTree>
      <p:nvGrpSpPr>
        <p:cNvPr id="1" name=""/>
        <p:cNvGrpSpPr/>
        <p:nvPr/>
      </p:nvGrpSpPr>
      <p:grpSpPr>
        <a:xfrm>
          <a:off x="0" y="0"/>
          <a:ext cx="0" cy="0"/>
          <a:chOff x="0" y="0"/>
          <a:chExt cx="0" cy="0"/>
        </a:xfrm>
      </p:grpSpPr>
      <p:sp>
        <p:nvSpPr>
          <p:cNvPr id="2" name="Text 0"/>
          <p:cNvSpPr/>
          <p:nvPr/>
        </p:nvSpPr>
        <p:spPr>
          <a:xfrm>
            <a:off x="777240" y="502920"/>
            <a:ext cx="5486400" cy="365760"/>
          </a:xfrm>
          <a:prstGeom prst="rect">
            <a:avLst/>
          </a:prstGeom>
          <a:noFill/>
          <a:ln/>
        </p:spPr>
        <p:txBody>
          <a:bodyPr wrap="square" rtlCol="0" anchor="ctr"/>
          <a:lstStyle/>
          <a:p>
            <a:pPr indent="0" marL="0">
              <a:buNone/>
            </a:pPr>
            <a:r>
              <a:rPr lang="en-US" sz="1300" b="1" spc="300" kern="0" dirty="0">
                <a:solidFill>
                  <a:srgbClr val="7B2D5E"/>
                </a:solidFill>
                <a:latin typeface="Calibri" pitchFamily="34" charset="0"/>
                <a:ea typeface="Calibri" pitchFamily="34" charset="-122"/>
                <a:cs typeface="Calibri" pitchFamily="34" charset="-120"/>
              </a:rPr>
              <a:t>BUSINESS INSIGHTS</a:t>
            </a:r>
            <a:endParaRPr lang="en-US" sz="1300" dirty="0"/>
          </a:p>
        </p:txBody>
      </p:sp>
      <p:sp>
        <p:nvSpPr>
          <p:cNvPr id="3" name="Text 1"/>
          <p:cNvSpPr/>
          <p:nvPr/>
        </p:nvSpPr>
        <p:spPr>
          <a:xfrm>
            <a:off x="777240" y="822960"/>
            <a:ext cx="9601200" cy="822960"/>
          </a:xfrm>
          <a:prstGeom prst="rect">
            <a:avLst/>
          </a:prstGeom>
          <a:noFill/>
          <a:ln/>
        </p:spPr>
        <p:txBody>
          <a:bodyPr wrap="square" rtlCol="0" anchor="ctr"/>
          <a:lstStyle/>
          <a:p>
            <a:pPr indent="0" marL="0">
              <a:buNone/>
            </a:pPr>
            <a:r>
              <a:rPr lang="en-US" sz="3200" b="1" dirty="0">
                <a:solidFill>
                  <a:srgbClr val="2B1B24"/>
                </a:solidFill>
                <a:latin typeface="Bookman Old Style" pitchFamily="34" charset="0"/>
                <a:ea typeface="Bookman Old Style" pitchFamily="34" charset="-122"/>
                <a:cs typeface="Bookman Old Style" pitchFamily="34" charset="-120"/>
              </a:rPr>
              <a:t>What This Means Commercially</a:t>
            </a:r>
            <a:endParaRPr lang="en-US" sz="3200" dirty="0"/>
          </a:p>
        </p:txBody>
      </p:sp>
      <p:sp>
        <p:nvSpPr>
          <p:cNvPr id="4" name="Shape 2"/>
          <p:cNvSpPr/>
          <p:nvPr/>
        </p:nvSpPr>
        <p:spPr>
          <a:xfrm>
            <a:off x="777240" y="1828800"/>
            <a:ext cx="10607040" cy="1298448"/>
          </a:xfrm>
          <a:prstGeom prst="roundRect">
            <a:avLst>
              <a:gd name="adj" fmla="val 7042"/>
            </a:avLst>
          </a:prstGeom>
          <a:solidFill>
            <a:srgbClr val="FFFFFF"/>
          </a:solidFill>
          <a:ln/>
          <a:effectLst>
            <a:outerShdw sx="100000" sy="100000" kx="0" ky="0" algn="bl" rotWithShape="0" blurRad="76200" dist="25400" dir="5400000">
              <a:srgbClr val="3D1730">
                <a:alpha val="8000"/>
              </a:srgbClr>
            </a:outerShdw>
          </a:effectLst>
        </p:spPr>
      </p:sp>
      <p:sp>
        <p:nvSpPr>
          <p:cNvPr id="5" name="Shape 3"/>
          <p:cNvSpPr/>
          <p:nvPr/>
        </p:nvSpPr>
        <p:spPr>
          <a:xfrm>
            <a:off x="1005840" y="2066544"/>
            <a:ext cx="822960" cy="822960"/>
          </a:xfrm>
          <a:prstGeom prst="ellipse">
            <a:avLst/>
          </a:prstGeom>
          <a:solidFill>
            <a:srgbClr val="E85D4E"/>
          </a:solidFill>
          <a:ln/>
        </p:spPr>
      </p:sp>
      <p:pic>
        <p:nvPicPr>
          <p:cNvPr id="6" name="Image 0" descr="/home/claude/icons/briefcase.png">    </p:cNvPr>
          <p:cNvPicPr>
            <a:picLocks noChangeAspect="1"/>
          </p:cNvPicPr>
          <p:nvPr/>
        </p:nvPicPr>
        <p:blipFill>
          <a:blip r:embed="rId1"/>
          <a:stretch>
            <a:fillRect/>
          </a:stretch>
        </p:blipFill>
        <p:spPr>
          <a:xfrm>
            <a:off x="1228039" y="2288743"/>
            <a:ext cx="378562" cy="378562"/>
          </a:xfrm>
          <a:prstGeom prst="rect">
            <a:avLst/>
          </a:prstGeom>
        </p:spPr>
      </p:pic>
      <p:sp>
        <p:nvSpPr>
          <p:cNvPr id="7" name="Text 4"/>
          <p:cNvSpPr/>
          <p:nvPr/>
        </p:nvSpPr>
        <p:spPr>
          <a:xfrm>
            <a:off x="2057400" y="1993392"/>
            <a:ext cx="2743200" cy="960120"/>
          </a:xfrm>
          <a:prstGeom prst="rect">
            <a:avLst/>
          </a:prstGeom>
          <a:noFill/>
          <a:ln/>
        </p:spPr>
        <p:txBody>
          <a:bodyPr wrap="square" lIns="0" tIns="0" rIns="0" bIns="0" rtlCol="0" anchor="ctr"/>
          <a:lstStyle/>
          <a:p>
            <a:pPr indent="0" marL="0">
              <a:buNone/>
            </a:pPr>
            <a:r>
              <a:rPr lang="en-US" sz="1550" b="1" dirty="0">
                <a:solidFill>
                  <a:srgbClr val="E85D4E"/>
                </a:solidFill>
                <a:latin typeface="Bookman Old Style" pitchFamily="34" charset="0"/>
                <a:ea typeface="Bookman Old Style" pitchFamily="34" charset="-122"/>
                <a:cs typeface="Bookman Old Style" pitchFamily="34" charset="-120"/>
              </a:rPr>
              <a:t>For PG Owners</a:t>
            </a:r>
            <a:endParaRPr lang="en-US" sz="1550" dirty="0"/>
          </a:p>
        </p:txBody>
      </p:sp>
      <p:sp>
        <p:nvSpPr>
          <p:cNvPr id="8" name="Text 5"/>
          <p:cNvSpPr/>
          <p:nvPr/>
        </p:nvSpPr>
        <p:spPr>
          <a:xfrm>
            <a:off x="4892040" y="1965960"/>
            <a:ext cx="6309360" cy="1024128"/>
          </a:xfrm>
          <a:prstGeom prst="rect">
            <a:avLst/>
          </a:prstGeom>
          <a:noFill/>
          <a:ln/>
        </p:spPr>
        <p:txBody>
          <a:bodyPr wrap="square" lIns="0" tIns="0" rIns="0" bIns="0" rtlCol="0" anchor="ctr"/>
          <a:lstStyle/>
          <a:p>
            <a:pPr indent="0" marL="0">
              <a:lnSpc>
                <a:spcPct val="120000"/>
              </a:lnSpc>
              <a:buNone/>
            </a:pPr>
            <a:r>
              <a:rPr lang="en-US" sz="1100" dirty="0">
                <a:solidFill>
                  <a:srgbClr val="6B5B63"/>
                </a:solidFill>
                <a:latin typeface="Calibri" pitchFamily="34" charset="0"/>
                <a:ea typeface="Calibri" pitchFamily="34" charset="-122"/>
                <a:cs typeface="Calibri" pitchFamily="34" charset="-120"/>
              </a:rPr>
              <a:t>Competitive pricing alone won't win ratings — invest in service &amp; upkeep. Additional charges (electricity ~₹965/mo avg) should be transparent, not padded.</a:t>
            </a:r>
            <a:endParaRPr lang="en-US" sz="1100" dirty="0"/>
          </a:p>
        </p:txBody>
      </p:sp>
      <p:sp>
        <p:nvSpPr>
          <p:cNvPr id="9" name="Shape 6"/>
          <p:cNvSpPr/>
          <p:nvPr/>
        </p:nvSpPr>
        <p:spPr>
          <a:xfrm>
            <a:off x="777240" y="3310128"/>
            <a:ext cx="10607040" cy="1298448"/>
          </a:xfrm>
          <a:prstGeom prst="roundRect">
            <a:avLst>
              <a:gd name="adj" fmla="val 7042"/>
            </a:avLst>
          </a:prstGeom>
          <a:solidFill>
            <a:srgbClr val="FFFFFF"/>
          </a:solidFill>
          <a:ln/>
          <a:effectLst>
            <a:outerShdw sx="100000" sy="100000" kx="0" ky="0" algn="bl" rotWithShape="0" blurRad="76200" dist="25400" dir="5400000">
              <a:srgbClr val="3D1730">
                <a:alpha val="8000"/>
              </a:srgbClr>
            </a:outerShdw>
          </a:effectLst>
        </p:spPr>
      </p:sp>
      <p:sp>
        <p:nvSpPr>
          <p:cNvPr id="10" name="Shape 7"/>
          <p:cNvSpPr/>
          <p:nvPr/>
        </p:nvSpPr>
        <p:spPr>
          <a:xfrm>
            <a:off x="1005840" y="3547872"/>
            <a:ext cx="822960" cy="822960"/>
          </a:xfrm>
          <a:prstGeom prst="ellipse">
            <a:avLst/>
          </a:prstGeom>
          <a:solidFill>
            <a:srgbClr val="F4B942"/>
          </a:solidFill>
          <a:ln/>
        </p:spPr>
      </p:sp>
      <p:pic>
        <p:nvPicPr>
          <p:cNvPr id="11" name="Image 1" descr="/home/claude/icons/users.png">    </p:cNvPr>
          <p:cNvPicPr>
            <a:picLocks noChangeAspect="1"/>
          </p:cNvPicPr>
          <p:nvPr/>
        </p:nvPicPr>
        <p:blipFill>
          <a:blip r:embed="rId2"/>
          <a:stretch>
            <a:fillRect/>
          </a:stretch>
        </p:blipFill>
        <p:spPr>
          <a:xfrm>
            <a:off x="1228039" y="3770071"/>
            <a:ext cx="378562" cy="378562"/>
          </a:xfrm>
          <a:prstGeom prst="rect">
            <a:avLst/>
          </a:prstGeom>
        </p:spPr>
      </p:pic>
      <p:sp>
        <p:nvSpPr>
          <p:cNvPr id="12" name="Text 8"/>
          <p:cNvSpPr/>
          <p:nvPr/>
        </p:nvSpPr>
        <p:spPr>
          <a:xfrm>
            <a:off x="2057400" y="3474720"/>
            <a:ext cx="2743200" cy="960120"/>
          </a:xfrm>
          <a:prstGeom prst="rect">
            <a:avLst/>
          </a:prstGeom>
          <a:noFill/>
          <a:ln/>
        </p:spPr>
        <p:txBody>
          <a:bodyPr wrap="square" lIns="0" tIns="0" rIns="0" bIns="0" rtlCol="0" anchor="ctr"/>
          <a:lstStyle/>
          <a:p>
            <a:pPr indent="0" marL="0">
              <a:buNone/>
            </a:pPr>
            <a:r>
              <a:rPr lang="en-US" sz="1550" b="1" dirty="0">
                <a:solidFill>
                  <a:srgbClr val="F4B942"/>
                </a:solidFill>
                <a:latin typeface="Bookman Old Style" pitchFamily="34" charset="0"/>
                <a:ea typeface="Bookman Old Style" pitchFamily="34" charset="-122"/>
                <a:cs typeface="Bookman Old Style" pitchFamily="34" charset="-120"/>
              </a:rPr>
              <a:t>For Tenants</a:t>
            </a:r>
            <a:endParaRPr lang="en-US" sz="1550" dirty="0"/>
          </a:p>
        </p:txBody>
      </p:sp>
      <p:sp>
        <p:nvSpPr>
          <p:cNvPr id="13" name="Text 9"/>
          <p:cNvSpPr/>
          <p:nvPr/>
        </p:nvSpPr>
        <p:spPr>
          <a:xfrm>
            <a:off x="4892040" y="3447288"/>
            <a:ext cx="6309360" cy="1024128"/>
          </a:xfrm>
          <a:prstGeom prst="rect">
            <a:avLst/>
          </a:prstGeom>
          <a:noFill/>
          <a:ln/>
        </p:spPr>
        <p:txBody>
          <a:bodyPr wrap="square" lIns="0" tIns="0" rIns="0" bIns="0" rtlCol="0" anchor="ctr"/>
          <a:lstStyle/>
          <a:p>
            <a:pPr indent="0" marL="0">
              <a:lnSpc>
                <a:spcPct val="120000"/>
              </a:lnSpc>
              <a:buNone/>
            </a:pPr>
            <a:r>
              <a:rPr lang="en-US" sz="1100" dirty="0">
                <a:solidFill>
                  <a:srgbClr val="6B5B63"/>
                </a:solidFill>
                <a:latin typeface="Calibri" pitchFamily="34" charset="0"/>
                <a:ea typeface="Calibri" pitchFamily="34" charset="-122"/>
                <a:cs typeface="Calibri" pitchFamily="34" charset="-120"/>
              </a:rPr>
              <a:t>Don't assume higher rent means better quality — compare ratings, safety &amp; value scores directly rather than relying on price as a proxy.</a:t>
            </a:r>
            <a:endParaRPr lang="en-US" sz="1100" dirty="0"/>
          </a:p>
        </p:txBody>
      </p:sp>
      <p:sp>
        <p:nvSpPr>
          <p:cNvPr id="14" name="Shape 10"/>
          <p:cNvSpPr/>
          <p:nvPr/>
        </p:nvSpPr>
        <p:spPr>
          <a:xfrm>
            <a:off x="777240" y="4791456"/>
            <a:ext cx="10607040" cy="1298448"/>
          </a:xfrm>
          <a:prstGeom prst="roundRect">
            <a:avLst>
              <a:gd name="adj" fmla="val 7042"/>
            </a:avLst>
          </a:prstGeom>
          <a:solidFill>
            <a:srgbClr val="FFFFFF"/>
          </a:solidFill>
          <a:ln/>
          <a:effectLst>
            <a:outerShdw sx="100000" sy="100000" kx="0" ky="0" algn="bl" rotWithShape="0" blurRad="76200" dist="25400" dir="5400000">
              <a:srgbClr val="3D1730">
                <a:alpha val="8000"/>
              </a:srgbClr>
            </a:outerShdw>
          </a:effectLst>
        </p:spPr>
      </p:sp>
      <p:sp>
        <p:nvSpPr>
          <p:cNvPr id="15" name="Shape 11"/>
          <p:cNvSpPr/>
          <p:nvPr/>
        </p:nvSpPr>
        <p:spPr>
          <a:xfrm>
            <a:off x="1005840" y="5029200"/>
            <a:ext cx="822960" cy="822960"/>
          </a:xfrm>
          <a:prstGeom prst="ellipse">
            <a:avLst/>
          </a:prstGeom>
          <a:solidFill>
            <a:srgbClr val="7B2D5E"/>
          </a:solidFill>
          <a:ln/>
        </p:spPr>
      </p:sp>
      <p:pic>
        <p:nvPicPr>
          <p:cNvPr id="16" name="Image 2" descr="/home/claude/icons/trending.png">    </p:cNvPr>
          <p:cNvPicPr>
            <a:picLocks noChangeAspect="1"/>
          </p:cNvPicPr>
          <p:nvPr/>
        </p:nvPicPr>
        <p:blipFill>
          <a:blip r:embed="rId3"/>
          <a:stretch>
            <a:fillRect/>
          </a:stretch>
        </p:blipFill>
        <p:spPr>
          <a:xfrm>
            <a:off x="1228039" y="5251399"/>
            <a:ext cx="378562" cy="378562"/>
          </a:xfrm>
          <a:prstGeom prst="rect">
            <a:avLst/>
          </a:prstGeom>
        </p:spPr>
      </p:pic>
      <p:sp>
        <p:nvSpPr>
          <p:cNvPr id="17" name="Text 12"/>
          <p:cNvSpPr/>
          <p:nvPr/>
        </p:nvSpPr>
        <p:spPr>
          <a:xfrm>
            <a:off x="2057400" y="4956048"/>
            <a:ext cx="2743200" cy="960120"/>
          </a:xfrm>
          <a:prstGeom prst="rect">
            <a:avLst/>
          </a:prstGeom>
          <a:noFill/>
          <a:ln/>
        </p:spPr>
        <p:txBody>
          <a:bodyPr wrap="square" lIns="0" tIns="0" rIns="0" bIns="0" rtlCol="0" anchor="ctr"/>
          <a:lstStyle/>
          <a:p>
            <a:pPr indent="0" marL="0">
              <a:buNone/>
            </a:pPr>
            <a:r>
              <a:rPr lang="en-US" sz="1550" b="1" dirty="0">
                <a:solidFill>
                  <a:srgbClr val="7B2D5E"/>
                </a:solidFill>
                <a:latin typeface="Bookman Old Style" pitchFamily="34" charset="0"/>
                <a:ea typeface="Bookman Old Style" pitchFamily="34" charset="-122"/>
                <a:cs typeface="Bookman Old Style" pitchFamily="34" charset="-120"/>
              </a:rPr>
              <a:t>For Investors</a:t>
            </a:r>
            <a:endParaRPr lang="en-US" sz="1550" dirty="0"/>
          </a:p>
        </p:txBody>
      </p:sp>
      <p:sp>
        <p:nvSpPr>
          <p:cNvPr id="18" name="Text 13"/>
          <p:cNvSpPr/>
          <p:nvPr/>
        </p:nvSpPr>
        <p:spPr>
          <a:xfrm>
            <a:off x="4892040" y="4928616"/>
            <a:ext cx="6309360" cy="1024128"/>
          </a:xfrm>
          <a:prstGeom prst="rect">
            <a:avLst/>
          </a:prstGeom>
          <a:noFill/>
          <a:ln/>
        </p:spPr>
        <p:txBody>
          <a:bodyPr wrap="square" lIns="0" tIns="0" rIns="0" bIns="0" rtlCol="0" anchor="ctr"/>
          <a:lstStyle/>
          <a:p>
            <a:pPr indent="0" marL="0">
              <a:lnSpc>
                <a:spcPct val="120000"/>
              </a:lnSpc>
              <a:buNone/>
            </a:pPr>
            <a:r>
              <a:rPr lang="en-US" sz="1100" dirty="0">
                <a:solidFill>
                  <a:srgbClr val="6B5B63"/>
                </a:solidFill>
                <a:latin typeface="Calibri" pitchFamily="34" charset="0"/>
                <a:ea typeface="Calibri" pitchFamily="34" charset="-122"/>
                <a:cs typeface="Calibri" pitchFamily="34" charset="-120"/>
              </a:rPr>
              <a:t>Locality brand (e.g., HSR Layout, Domlur) drives premium pricing more than raw metro/IT-park distance — target reputation-rich micro-markets.</a:t>
            </a:r>
            <a:endParaRPr lang="en-US" sz="1100" dirty="0"/>
          </a:p>
        </p:txBody>
      </p:sp>
      <p:sp>
        <p:nvSpPr>
          <p:cNvPr id="19" name="Text 14"/>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5486400" cy="365760"/>
          </a:xfrm>
          <a:prstGeom prst="rect">
            <a:avLst/>
          </a:prstGeom>
          <a:noFill/>
          <a:ln/>
        </p:spPr>
        <p:txBody>
          <a:bodyPr wrap="square" rtlCol="0" anchor="ctr"/>
          <a:lstStyle/>
          <a:p>
            <a:pPr indent="0" marL="0">
              <a:buNone/>
            </a:pPr>
            <a:r>
              <a:rPr lang="en-US" sz="1300" b="1" spc="300" kern="0" dirty="0">
                <a:solidFill>
                  <a:srgbClr val="7B2D5E"/>
                </a:solidFill>
                <a:latin typeface="Calibri" pitchFamily="34" charset="0"/>
                <a:ea typeface="Calibri" pitchFamily="34" charset="-122"/>
                <a:cs typeface="Calibri" pitchFamily="34" charset="-120"/>
              </a:rPr>
              <a:t>RECOMMENDATIONS</a:t>
            </a:r>
            <a:endParaRPr lang="en-US" sz="1300" dirty="0"/>
          </a:p>
        </p:txBody>
      </p:sp>
      <p:sp>
        <p:nvSpPr>
          <p:cNvPr id="3" name="Text 1"/>
          <p:cNvSpPr/>
          <p:nvPr/>
        </p:nvSpPr>
        <p:spPr>
          <a:xfrm>
            <a:off x="777240" y="822960"/>
            <a:ext cx="9601200" cy="822960"/>
          </a:xfrm>
          <a:prstGeom prst="rect">
            <a:avLst/>
          </a:prstGeom>
          <a:noFill/>
          <a:ln/>
        </p:spPr>
        <p:txBody>
          <a:bodyPr wrap="square" rtlCol="0" anchor="ctr"/>
          <a:lstStyle/>
          <a:p>
            <a:pPr indent="0" marL="0">
              <a:buNone/>
            </a:pPr>
            <a:r>
              <a:rPr lang="en-US" sz="3400" b="1" dirty="0">
                <a:solidFill>
                  <a:srgbClr val="2B1B24"/>
                </a:solidFill>
                <a:latin typeface="Bookman Old Style" pitchFamily="34" charset="0"/>
                <a:ea typeface="Bookman Old Style" pitchFamily="34" charset="-122"/>
                <a:cs typeface="Bookman Old Style" pitchFamily="34" charset="-120"/>
              </a:rPr>
              <a:t>Turning Insight Into Action</a:t>
            </a:r>
            <a:endParaRPr lang="en-US" sz="3400" dirty="0"/>
          </a:p>
        </p:txBody>
      </p:sp>
      <p:sp>
        <p:nvSpPr>
          <p:cNvPr id="4" name="Shape 2"/>
          <p:cNvSpPr/>
          <p:nvPr/>
        </p:nvSpPr>
        <p:spPr>
          <a:xfrm>
            <a:off x="777240" y="1828800"/>
            <a:ext cx="5212080" cy="1371600"/>
          </a:xfrm>
          <a:prstGeom prst="roundRect">
            <a:avLst>
              <a:gd name="adj" fmla="val 6667"/>
            </a:avLst>
          </a:prstGeom>
          <a:solidFill>
            <a:srgbClr val="FFF9F5"/>
          </a:solidFill>
          <a:ln/>
        </p:spPr>
      </p:sp>
      <p:sp>
        <p:nvSpPr>
          <p:cNvPr id="5" name="Shape 3"/>
          <p:cNvSpPr/>
          <p:nvPr/>
        </p:nvSpPr>
        <p:spPr>
          <a:xfrm>
            <a:off x="960120" y="2148840"/>
            <a:ext cx="731520" cy="731520"/>
          </a:xfrm>
          <a:prstGeom prst="ellipse">
            <a:avLst/>
          </a:prstGeom>
          <a:solidFill>
            <a:srgbClr val="E85D4E"/>
          </a:solidFill>
          <a:ln/>
        </p:spPr>
      </p:sp>
      <p:pic>
        <p:nvPicPr>
          <p:cNvPr id="6" name="Image 0" descr="/home/claude/icons/award.png">    </p:cNvPr>
          <p:cNvPicPr>
            <a:picLocks noChangeAspect="1"/>
          </p:cNvPicPr>
          <p:nvPr/>
        </p:nvPicPr>
        <p:blipFill>
          <a:blip r:embed="rId1"/>
          <a:stretch>
            <a:fillRect/>
          </a:stretch>
        </p:blipFill>
        <p:spPr>
          <a:xfrm>
            <a:off x="1157630" y="2346350"/>
            <a:ext cx="336499" cy="336499"/>
          </a:xfrm>
          <a:prstGeom prst="rect">
            <a:avLst/>
          </a:prstGeom>
        </p:spPr>
      </p:pic>
      <p:sp>
        <p:nvSpPr>
          <p:cNvPr id="7" name="Text 4"/>
          <p:cNvSpPr/>
          <p:nvPr/>
        </p:nvSpPr>
        <p:spPr>
          <a:xfrm>
            <a:off x="1828800" y="1947672"/>
            <a:ext cx="4023360" cy="457200"/>
          </a:xfrm>
          <a:prstGeom prst="rect">
            <a:avLst/>
          </a:prstGeom>
          <a:noFill/>
          <a:ln/>
        </p:spPr>
        <p:txBody>
          <a:bodyPr wrap="square" lIns="0" tIns="0" rIns="0" bIns="0" rtlCol="0" anchor="ctr"/>
          <a:lstStyle/>
          <a:p>
            <a:pPr indent="0" marL="0">
              <a:buNone/>
            </a:pPr>
            <a:r>
              <a:rPr lang="en-US" sz="1250" b="1" dirty="0">
                <a:solidFill>
                  <a:srgbClr val="2B1B24"/>
                </a:solidFill>
                <a:latin typeface="Bookman Old Style" pitchFamily="34" charset="0"/>
                <a:ea typeface="Bookman Old Style" pitchFamily="34" charset="-122"/>
                <a:cs typeface="Bookman Old Style" pitchFamily="34" charset="-120"/>
              </a:rPr>
              <a:t>Benchmark by service, not just price</a:t>
            </a:r>
            <a:endParaRPr lang="en-US" sz="1250" dirty="0"/>
          </a:p>
        </p:txBody>
      </p:sp>
      <p:sp>
        <p:nvSpPr>
          <p:cNvPr id="8" name="Text 5"/>
          <p:cNvSpPr/>
          <p:nvPr/>
        </p:nvSpPr>
        <p:spPr>
          <a:xfrm>
            <a:off x="1828800" y="2395728"/>
            <a:ext cx="4023360" cy="731520"/>
          </a:xfrm>
          <a:prstGeom prst="rect">
            <a:avLst/>
          </a:prstGeom>
          <a:noFill/>
          <a:ln/>
        </p:spPr>
        <p:txBody>
          <a:bodyPr wrap="square" lIns="0" tIns="0" rIns="0" bIns="0" rtlCol="0" anchor="ctr"/>
          <a:lstStyle/>
          <a:p>
            <a:pPr indent="0" marL="0">
              <a:lnSpc>
                <a:spcPct val="115000"/>
              </a:lnSpc>
              <a:buNone/>
            </a:pPr>
            <a:r>
              <a:rPr lang="en-US" sz="970" dirty="0">
                <a:solidFill>
                  <a:srgbClr val="6B5B63"/>
                </a:solidFill>
                <a:latin typeface="Calibri" pitchFamily="34" charset="0"/>
                <a:ea typeface="Calibri" pitchFamily="34" charset="-122"/>
                <a:cs typeface="Calibri" pitchFamily="34" charset="-120"/>
              </a:rPr>
              <a:t>Owners should track ratings, review volume &amp; value scores as core KPIs alongside rent.</a:t>
            </a:r>
            <a:endParaRPr lang="en-US" sz="970" dirty="0"/>
          </a:p>
        </p:txBody>
      </p:sp>
      <p:sp>
        <p:nvSpPr>
          <p:cNvPr id="9" name="Shape 6"/>
          <p:cNvSpPr/>
          <p:nvPr/>
        </p:nvSpPr>
        <p:spPr>
          <a:xfrm>
            <a:off x="777240" y="3364992"/>
            <a:ext cx="5212080" cy="1371600"/>
          </a:xfrm>
          <a:prstGeom prst="roundRect">
            <a:avLst>
              <a:gd name="adj" fmla="val 6667"/>
            </a:avLst>
          </a:prstGeom>
          <a:solidFill>
            <a:srgbClr val="FBEFE9"/>
          </a:solidFill>
          <a:ln/>
        </p:spPr>
      </p:sp>
      <p:sp>
        <p:nvSpPr>
          <p:cNvPr id="10" name="Shape 7"/>
          <p:cNvSpPr/>
          <p:nvPr/>
        </p:nvSpPr>
        <p:spPr>
          <a:xfrm>
            <a:off x="960120" y="3685032"/>
            <a:ext cx="731520" cy="731520"/>
          </a:xfrm>
          <a:prstGeom prst="ellipse">
            <a:avLst/>
          </a:prstGeom>
          <a:solidFill>
            <a:srgbClr val="F4B942"/>
          </a:solidFill>
          <a:ln/>
        </p:spPr>
      </p:sp>
      <p:pic>
        <p:nvPicPr>
          <p:cNvPr id="11" name="Image 1" descr="/home/claude/icons/shield.png">    </p:cNvPr>
          <p:cNvPicPr>
            <a:picLocks noChangeAspect="1"/>
          </p:cNvPicPr>
          <p:nvPr/>
        </p:nvPicPr>
        <p:blipFill>
          <a:blip r:embed="rId2"/>
          <a:stretch>
            <a:fillRect/>
          </a:stretch>
        </p:blipFill>
        <p:spPr>
          <a:xfrm>
            <a:off x="1157630" y="3882542"/>
            <a:ext cx="336499" cy="336499"/>
          </a:xfrm>
          <a:prstGeom prst="rect">
            <a:avLst/>
          </a:prstGeom>
        </p:spPr>
      </p:pic>
      <p:sp>
        <p:nvSpPr>
          <p:cNvPr id="12" name="Text 8"/>
          <p:cNvSpPr/>
          <p:nvPr/>
        </p:nvSpPr>
        <p:spPr>
          <a:xfrm>
            <a:off x="1828800" y="3483864"/>
            <a:ext cx="4023360" cy="457200"/>
          </a:xfrm>
          <a:prstGeom prst="rect">
            <a:avLst/>
          </a:prstGeom>
          <a:noFill/>
          <a:ln/>
        </p:spPr>
        <p:txBody>
          <a:bodyPr wrap="square" lIns="0" tIns="0" rIns="0" bIns="0" rtlCol="0" anchor="ctr"/>
          <a:lstStyle/>
          <a:p>
            <a:pPr indent="0" marL="0">
              <a:buNone/>
            </a:pPr>
            <a:r>
              <a:rPr lang="en-US" sz="1250" b="1" dirty="0">
                <a:solidFill>
                  <a:srgbClr val="2B1B24"/>
                </a:solidFill>
                <a:latin typeface="Bookman Old Style" pitchFamily="34" charset="0"/>
                <a:ea typeface="Bookman Old Style" pitchFamily="34" charset="-122"/>
                <a:cs typeface="Bookman Old Style" pitchFamily="34" charset="-120"/>
              </a:rPr>
              <a:t>Standardize transparent billing</a:t>
            </a:r>
            <a:endParaRPr lang="en-US" sz="1250" dirty="0"/>
          </a:p>
        </p:txBody>
      </p:sp>
      <p:sp>
        <p:nvSpPr>
          <p:cNvPr id="13" name="Text 9"/>
          <p:cNvSpPr/>
          <p:nvPr/>
        </p:nvSpPr>
        <p:spPr>
          <a:xfrm>
            <a:off x="1828800" y="3931920"/>
            <a:ext cx="4023360" cy="731520"/>
          </a:xfrm>
          <a:prstGeom prst="rect">
            <a:avLst/>
          </a:prstGeom>
          <a:noFill/>
          <a:ln/>
        </p:spPr>
        <p:txBody>
          <a:bodyPr wrap="square" lIns="0" tIns="0" rIns="0" bIns="0" rtlCol="0" anchor="ctr"/>
          <a:lstStyle/>
          <a:p>
            <a:pPr indent="0" marL="0">
              <a:lnSpc>
                <a:spcPct val="115000"/>
              </a:lnSpc>
              <a:buNone/>
            </a:pPr>
            <a:r>
              <a:rPr lang="en-US" sz="970" dirty="0">
                <a:solidFill>
                  <a:srgbClr val="6B5B63"/>
                </a:solidFill>
                <a:latin typeface="Calibri" pitchFamily="34" charset="0"/>
                <a:ea typeface="Calibri" pitchFamily="34" charset="-122"/>
                <a:cs typeface="Calibri" pitchFamily="34" charset="-120"/>
              </a:rPr>
              <a:t>Publish electricity, water &amp; maintenance charges upfront to build tenant trust.</a:t>
            </a:r>
            <a:endParaRPr lang="en-US" sz="970" dirty="0"/>
          </a:p>
        </p:txBody>
      </p:sp>
      <p:sp>
        <p:nvSpPr>
          <p:cNvPr id="14" name="Shape 10"/>
          <p:cNvSpPr/>
          <p:nvPr/>
        </p:nvSpPr>
        <p:spPr>
          <a:xfrm>
            <a:off x="6217920" y="1828800"/>
            <a:ext cx="5212080" cy="1371600"/>
          </a:xfrm>
          <a:prstGeom prst="roundRect">
            <a:avLst>
              <a:gd name="adj" fmla="val 6667"/>
            </a:avLst>
          </a:prstGeom>
          <a:solidFill>
            <a:srgbClr val="FFF9F5"/>
          </a:solidFill>
          <a:ln/>
        </p:spPr>
      </p:sp>
      <p:sp>
        <p:nvSpPr>
          <p:cNvPr id="15" name="Shape 11"/>
          <p:cNvSpPr/>
          <p:nvPr/>
        </p:nvSpPr>
        <p:spPr>
          <a:xfrm>
            <a:off x="6400800" y="2148840"/>
            <a:ext cx="731520" cy="731520"/>
          </a:xfrm>
          <a:prstGeom prst="ellipse">
            <a:avLst/>
          </a:prstGeom>
          <a:solidFill>
            <a:srgbClr val="7B2D5E"/>
          </a:solidFill>
          <a:ln/>
        </p:spPr>
      </p:sp>
      <p:pic>
        <p:nvPicPr>
          <p:cNvPr id="16" name="Image 2" descr="/home/claude/icons/compass.png">    </p:cNvPr>
          <p:cNvPicPr>
            <a:picLocks noChangeAspect="1"/>
          </p:cNvPicPr>
          <p:nvPr/>
        </p:nvPicPr>
        <p:blipFill>
          <a:blip r:embed="rId3"/>
          <a:stretch>
            <a:fillRect/>
          </a:stretch>
        </p:blipFill>
        <p:spPr>
          <a:xfrm>
            <a:off x="6598310" y="2346350"/>
            <a:ext cx="336499" cy="336499"/>
          </a:xfrm>
          <a:prstGeom prst="rect">
            <a:avLst/>
          </a:prstGeom>
        </p:spPr>
      </p:pic>
      <p:sp>
        <p:nvSpPr>
          <p:cNvPr id="17" name="Text 12"/>
          <p:cNvSpPr/>
          <p:nvPr/>
        </p:nvSpPr>
        <p:spPr>
          <a:xfrm>
            <a:off x="7269480" y="1947672"/>
            <a:ext cx="4023360" cy="457200"/>
          </a:xfrm>
          <a:prstGeom prst="rect">
            <a:avLst/>
          </a:prstGeom>
          <a:noFill/>
          <a:ln/>
        </p:spPr>
        <p:txBody>
          <a:bodyPr wrap="square" lIns="0" tIns="0" rIns="0" bIns="0" rtlCol="0" anchor="ctr"/>
          <a:lstStyle/>
          <a:p>
            <a:pPr indent="0" marL="0">
              <a:buNone/>
            </a:pPr>
            <a:r>
              <a:rPr lang="en-US" sz="1250" b="1" dirty="0">
                <a:solidFill>
                  <a:srgbClr val="2B1B24"/>
                </a:solidFill>
                <a:latin typeface="Bookman Old Style" pitchFamily="34" charset="0"/>
                <a:ea typeface="Bookman Old Style" pitchFamily="34" charset="-122"/>
                <a:cs typeface="Bookman Old Style" pitchFamily="34" charset="-120"/>
              </a:rPr>
              <a:t>Highlight true differentiators</a:t>
            </a:r>
            <a:endParaRPr lang="en-US" sz="1250" dirty="0"/>
          </a:p>
        </p:txBody>
      </p:sp>
      <p:sp>
        <p:nvSpPr>
          <p:cNvPr id="18" name="Text 13"/>
          <p:cNvSpPr/>
          <p:nvPr/>
        </p:nvSpPr>
        <p:spPr>
          <a:xfrm>
            <a:off x="7269480" y="2395728"/>
            <a:ext cx="4023360" cy="731520"/>
          </a:xfrm>
          <a:prstGeom prst="rect">
            <a:avLst/>
          </a:prstGeom>
          <a:noFill/>
          <a:ln/>
        </p:spPr>
        <p:txBody>
          <a:bodyPr wrap="square" lIns="0" tIns="0" rIns="0" bIns="0" rtlCol="0" anchor="ctr"/>
          <a:lstStyle/>
          <a:p>
            <a:pPr indent="0" marL="0">
              <a:lnSpc>
                <a:spcPct val="115000"/>
              </a:lnSpc>
              <a:buNone/>
            </a:pPr>
            <a:r>
              <a:rPr lang="en-US" sz="970" dirty="0">
                <a:solidFill>
                  <a:srgbClr val="6B5B63"/>
                </a:solidFill>
                <a:latin typeface="Calibri" pitchFamily="34" charset="0"/>
                <a:ea typeface="Calibri" pitchFamily="34" charset="-122"/>
                <a:cs typeface="Calibri" pitchFamily="34" charset="-120"/>
              </a:rPr>
              <a:t>Market rare amenities (Gym, Power Backup) and safety scores, not generic Wi-Fi/AC claims.</a:t>
            </a:r>
            <a:endParaRPr lang="en-US" sz="970" dirty="0"/>
          </a:p>
        </p:txBody>
      </p:sp>
      <p:sp>
        <p:nvSpPr>
          <p:cNvPr id="19" name="Shape 14"/>
          <p:cNvSpPr/>
          <p:nvPr/>
        </p:nvSpPr>
        <p:spPr>
          <a:xfrm>
            <a:off x="6217920" y="3364992"/>
            <a:ext cx="5212080" cy="1371600"/>
          </a:xfrm>
          <a:prstGeom prst="roundRect">
            <a:avLst>
              <a:gd name="adj" fmla="val 6667"/>
            </a:avLst>
          </a:prstGeom>
          <a:solidFill>
            <a:srgbClr val="FBEFE9"/>
          </a:solidFill>
          <a:ln/>
        </p:spPr>
      </p:sp>
      <p:sp>
        <p:nvSpPr>
          <p:cNvPr id="20" name="Shape 15"/>
          <p:cNvSpPr/>
          <p:nvPr/>
        </p:nvSpPr>
        <p:spPr>
          <a:xfrm>
            <a:off x="6400800" y="3685032"/>
            <a:ext cx="731520" cy="731520"/>
          </a:xfrm>
          <a:prstGeom prst="ellipse">
            <a:avLst/>
          </a:prstGeom>
          <a:solidFill>
            <a:srgbClr val="8FA998"/>
          </a:solidFill>
          <a:ln/>
        </p:spPr>
      </p:sp>
      <p:pic>
        <p:nvPicPr>
          <p:cNvPr id="21" name="Image 3" descr="/home/claude/icons/map.png">    </p:cNvPr>
          <p:cNvPicPr>
            <a:picLocks noChangeAspect="1"/>
          </p:cNvPicPr>
          <p:nvPr/>
        </p:nvPicPr>
        <p:blipFill>
          <a:blip r:embed="rId4"/>
          <a:stretch>
            <a:fillRect/>
          </a:stretch>
        </p:blipFill>
        <p:spPr>
          <a:xfrm>
            <a:off x="6598310" y="3882542"/>
            <a:ext cx="336499" cy="336499"/>
          </a:xfrm>
          <a:prstGeom prst="rect">
            <a:avLst/>
          </a:prstGeom>
        </p:spPr>
      </p:pic>
      <p:sp>
        <p:nvSpPr>
          <p:cNvPr id="22" name="Text 16"/>
          <p:cNvSpPr/>
          <p:nvPr/>
        </p:nvSpPr>
        <p:spPr>
          <a:xfrm>
            <a:off x="7269480" y="3483864"/>
            <a:ext cx="4023360" cy="457200"/>
          </a:xfrm>
          <a:prstGeom prst="rect">
            <a:avLst/>
          </a:prstGeom>
          <a:noFill/>
          <a:ln/>
        </p:spPr>
        <p:txBody>
          <a:bodyPr wrap="square" lIns="0" tIns="0" rIns="0" bIns="0" rtlCol="0" anchor="ctr"/>
          <a:lstStyle/>
          <a:p>
            <a:pPr indent="0" marL="0">
              <a:buNone/>
            </a:pPr>
            <a:r>
              <a:rPr lang="en-US" sz="1250" b="1" dirty="0">
                <a:solidFill>
                  <a:srgbClr val="2B1B24"/>
                </a:solidFill>
                <a:latin typeface="Bookman Old Style" pitchFamily="34" charset="0"/>
                <a:ea typeface="Bookman Old Style" pitchFamily="34" charset="-122"/>
                <a:cs typeface="Bookman Old Style" pitchFamily="34" charset="-120"/>
              </a:rPr>
              <a:t>Target rising micro-markets</a:t>
            </a:r>
            <a:endParaRPr lang="en-US" sz="1250" dirty="0"/>
          </a:p>
        </p:txBody>
      </p:sp>
      <p:sp>
        <p:nvSpPr>
          <p:cNvPr id="23" name="Text 17"/>
          <p:cNvSpPr/>
          <p:nvPr/>
        </p:nvSpPr>
        <p:spPr>
          <a:xfrm>
            <a:off x="7269480" y="3931920"/>
            <a:ext cx="4023360" cy="731520"/>
          </a:xfrm>
          <a:prstGeom prst="rect">
            <a:avLst/>
          </a:prstGeom>
          <a:noFill/>
          <a:ln/>
        </p:spPr>
        <p:txBody>
          <a:bodyPr wrap="square" lIns="0" tIns="0" rIns="0" bIns="0" rtlCol="0" anchor="ctr"/>
          <a:lstStyle/>
          <a:p>
            <a:pPr indent="0" marL="0">
              <a:lnSpc>
                <a:spcPct val="115000"/>
              </a:lnSpc>
              <a:buNone/>
            </a:pPr>
            <a:r>
              <a:rPr lang="en-US" sz="970" dirty="0">
                <a:solidFill>
                  <a:srgbClr val="6B5B63"/>
                </a:solidFill>
                <a:latin typeface="Calibri" pitchFamily="34" charset="0"/>
                <a:ea typeface="Calibri" pitchFamily="34" charset="-122"/>
                <a:cs typeface="Calibri" pitchFamily="34" charset="-120"/>
              </a:rPr>
              <a:t>Investors should scout emerging high-rating areas like Whitefield &amp; Vijayanagar early.</a:t>
            </a:r>
            <a:endParaRPr lang="en-US" sz="970" dirty="0"/>
          </a:p>
        </p:txBody>
      </p:sp>
      <p:sp>
        <p:nvSpPr>
          <p:cNvPr id="24" name="Shape 18"/>
          <p:cNvSpPr/>
          <p:nvPr/>
        </p:nvSpPr>
        <p:spPr>
          <a:xfrm>
            <a:off x="11658600" y="1828800"/>
            <a:ext cx="5212080" cy="1371600"/>
          </a:xfrm>
          <a:prstGeom prst="roundRect">
            <a:avLst>
              <a:gd name="adj" fmla="val 6667"/>
            </a:avLst>
          </a:prstGeom>
          <a:solidFill>
            <a:srgbClr val="FFF9F5"/>
          </a:solidFill>
          <a:ln/>
        </p:spPr>
      </p:sp>
      <p:sp>
        <p:nvSpPr>
          <p:cNvPr id="25" name="Shape 19"/>
          <p:cNvSpPr/>
          <p:nvPr/>
        </p:nvSpPr>
        <p:spPr>
          <a:xfrm>
            <a:off x="11841480" y="2148840"/>
            <a:ext cx="731520" cy="731520"/>
          </a:xfrm>
          <a:prstGeom prst="ellipse">
            <a:avLst/>
          </a:prstGeom>
          <a:solidFill>
            <a:srgbClr val="E85D4E"/>
          </a:solidFill>
          <a:ln/>
        </p:spPr>
      </p:sp>
      <p:pic>
        <p:nvPicPr>
          <p:cNvPr id="26" name="Image 4" descr="/home/claude/icons/thumbsup.png">    </p:cNvPr>
          <p:cNvPicPr>
            <a:picLocks noChangeAspect="1"/>
          </p:cNvPicPr>
          <p:nvPr/>
        </p:nvPicPr>
        <p:blipFill>
          <a:blip r:embed="rId5"/>
          <a:stretch>
            <a:fillRect/>
          </a:stretch>
        </p:blipFill>
        <p:spPr>
          <a:xfrm>
            <a:off x="12038990" y="2346350"/>
            <a:ext cx="336499" cy="336499"/>
          </a:xfrm>
          <a:prstGeom prst="rect">
            <a:avLst/>
          </a:prstGeom>
        </p:spPr>
      </p:pic>
      <p:sp>
        <p:nvSpPr>
          <p:cNvPr id="27" name="Text 20"/>
          <p:cNvSpPr/>
          <p:nvPr/>
        </p:nvSpPr>
        <p:spPr>
          <a:xfrm>
            <a:off x="12710160" y="1947672"/>
            <a:ext cx="4023360" cy="457200"/>
          </a:xfrm>
          <a:prstGeom prst="rect">
            <a:avLst/>
          </a:prstGeom>
          <a:noFill/>
          <a:ln/>
        </p:spPr>
        <p:txBody>
          <a:bodyPr wrap="square" lIns="0" tIns="0" rIns="0" bIns="0" rtlCol="0" anchor="ctr"/>
          <a:lstStyle/>
          <a:p>
            <a:pPr indent="0" marL="0">
              <a:buNone/>
            </a:pPr>
            <a:r>
              <a:rPr lang="en-US" sz="1250" b="1" dirty="0">
                <a:solidFill>
                  <a:srgbClr val="2B1B24"/>
                </a:solidFill>
                <a:latin typeface="Bookman Old Style" pitchFamily="34" charset="0"/>
                <a:ea typeface="Bookman Old Style" pitchFamily="34" charset="-122"/>
                <a:cs typeface="Bookman Old Style" pitchFamily="34" charset="-120"/>
              </a:rPr>
              <a:t>Build a rating-first search</a:t>
            </a:r>
            <a:endParaRPr lang="en-US" sz="1250" dirty="0"/>
          </a:p>
        </p:txBody>
      </p:sp>
      <p:sp>
        <p:nvSpPr>
          <p:cNvPr id="28" name="Text 21"/>
          <p:cNvSpPr/>
          <p:nvPr/>
        </p:nvSpPr>
        <p:spPr>
          <a:xfrm>
            <a:off x="12710160" y="2395728"/>
            <a:ext cx="4023360" cy="731520"/>
          </a:xfrm>
          <a:prstGeom prst="rect">
            <a:avLst/>
          </a:prstGeom>
          <a:noFill/>
          <a:ln/>
        </p:spPr>
        <p:txBody>
          <a:bodyPr wrap="square" lIns="0" tIns="0" rIns="0" bIns="0" rtlCol="0" anchor="ctr"/>
          <a:lstStyle/>
          <a:p>
            <a:pPr indent="0" marL="0">
              <a:lnSpc>
                <a:spcPct val="115000"/>
              </a:lnSpc>
              <a:buNone/>
            </a:pPr>
            <a:r>
              <a:rPr lang="en-US" sz="970" dirty="0">
                <a:solidFill>
                  <a:srgbClr val="6B5B63"/>
                </a:solidFill>
                <a:latin typeface="Calibri" pitchFamily="34" charset="0"/>
                <a:ea typeface="Calibri" pitchFamily="34" charset="-122"/>
                <a:cs typeface="Calibri" pitchFamily="34" charset="-120"/>
              </a:rPr>
              <a:t>Platforms should let tenants filter/sort by value-for-money and safety, not rent alone.</a:t>
            </a:r>
            <a:endParaRPr lang="en-US" sz="970" dirty="0"/>
          </a:p>
        </p:txBody>
      </p:sp>
      <p:sp>
        <p:nvSpPr>
          <p:cNvPr id="29" name="Shape 22"/>
          <p:cNvSpPr/>
          <p:nvPr/>
        </p:nvSpPr>
        <p:spPr>
          <a:xfrm>
            <a:off x="11658600" y="3364992"/>
            <a:ext cx="5212080" cy="1371600"/>
          </a:xfrm>
          <a:prstGeom prst="roundRect">
            <a:avLst>
              <a:gd name="adj" fmla="val 6667"/>
            </a:avLst>
          </a:prstGeom>
          <a:solidFill>
            <a:srgbClr val="FBEFE9"/>
          </a:solidFill>
          <a:ln/>
        </p:spPr>
      </p:sp>
      <p:sp>
        <p:nvSpPr>
          <p:cNvPr id="30" name="Shape 23"/>
          <p:cNvSpPr/>
          <p:nvPr/>
        </p:nvSpPr>
        <p:spPr>
          <a:xfrm>
            <a:off x="11841480" y="3685032"/>
            <a:ext cx="731520" cy="731520"/>
          </a:xfrm>
          <a:prstGeom prst="ellipse">
            <a:avLst/>
          </a:prstGeom>
          <a:solidFill>
            <a:srgbClr val="F4B942"/>
          </a:solidFill>
          <a:ln/>
        </p:spPr>
      </p:sp>
      <p:pic>
        <p:nvPicPr>
          <p:cNvPr id="31" name="Image 5" descr="/home/claude/icons/barchart.png">    </p:cNvPr>
          <p:cNvPicPr>
            <a:picLocks noChangeAspect="1"/>
          </p:cNvPicPr>
          <p:nvPr/>
        </p:nvPicPr>
        <p:blipFill>
          <a:blip r:embed="rId6"/>
          <a:stretch>
            <a:fillRect/>
          </a:stretch>
        </p:blipFill>
        <p:spPr>
          <a:xfrm>
            <a:off x="12038990" y="3882542"/>
            <a:ext cx="336499" cy="336499"/>
          </a:xfrm>
          <a:prstGeom prst="rect">
            <a:avLst/>
          </a:prstGeom>
        </p:spPr>
      </p:pic>
      <p:sp>
        <p:nvSpPr>
          <p:cNvPr id="32" name="Text 24"/>
          <p:cNvSpPr/>
          <p:nvPr/>
        </p:nvSpPr>
        <p:spPr>
          <a:xfrm>
            <a:off x="12710160" y="3483864"/>
            <a:ext cx="4023360" cy="457200"/>
          </a:xfrm>
          <a:prstGeom prst="rect">
            <a:avLst/>
          </a:prstGeom>
          <a:noFill/>
          <a:ln/>
        </p:spPr>
        <p:txBody>
          <a:bodyPr wrap="square" lIns="0" tIns="0" rIns="0" bIns="0" rtlCol="0" anchor="ctr"/>
          <a:lstStyle/>
          <a:p>
            <a:pPr indent="0" marL="0">
              <a:buNone/>
            </a:pPr>
            <a:r>
              <a:rPr lang="en-US" sz="1250" b="1" dirty="0">
                <a:solidFill>
                  <a:srgbClr val="2B1B24"/>
                </a:solidFill>
                <a:latin typeface="Bookman Old Style" pitchFamily="34" charset="0"/>
                <a:ea typeface="Bookman Old Style" pitchFamily="34" charset="-122"/>
                <a:cs typeface="Bookman Old Style" pitchFamily="34" charset="-120"/>
              </a:rPr>
              <a:t>Monitor rent bands quarterly</a:t>
            </a:r>
            <a:endParaRPr lang="en-US" sz="1250" dirty="0"/>
          </a:p>
        </p:txBody>
      </p:sp>
      <p:sp>
        <p:nvSpPr>
          <p:cNvPr id="33" name="Text 25"/>
          <p:cNvSpPr/>
          <p:nvPr/>
        </p:nvSpPr>
        <p:spPr>
          <a:xfrm>
            <a:off x="12710160" y="3931920"/>
            <a:ext cx="4023360" cy="731520"/>
          </a:xfrm>
          <a:prstGeom prst="rect">
            <a:avLst/>
          </a:prstGeom>
          <a:noFill/>
          <a:ln/>
        </p:spPr>
        <p:txBody>
          <a:bodyPr wrap="square" lIns="0" tIns="0" rIns="0" bIns="0" rtlCol="0" anchor="ctr"/>
          <a:lstStyle/>
          <a:p>
            <a:pPr indent="0" marL="0">
              <a:lnSpc>
                <a:spcPct val="115000"/>
              </a:lnSpc>
              <a:buNone/>
            </a:pPr>
            <a:r>
              <a:rPr lang="en-US" sz="970" dirty="0">
                <a:solidFill>
                  <a:srgbClr val="6B5B63"/>
                </a:solidFill>
                <a:latin typeface="Calibri" pitchFamily="34" charset="0"/>
                <a:ea typeface="Calibri" pitchFamily="34" charset="-122"/>
                <a:cs typeface="Calibri" pitchFamily="34" charset="-120"/>
              </a:rPr>
              <a:t>Track the right-skewed premium segment separately from median-market listings.</a:t>
            </a:r>
            <a:endParaRPr lang="en-US" sz="970" dirty="0"/>
          </a:p>
        </p:txBody>
      </p:sp>
      <p:sp>
        <p:nvSpPr>
          <p:cNvPr id="34" name="Text 26"/>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D1730"/>
        </a:solidFill>
      </p:bgPr>
    </p:bg>
    <p:spTree>
      <p:nvGrpSpPr>
        <p:cNvPr id="1" name=""/>
        <p:cNvGrpSpPr/>
        <p:nvPr/>
      </p:nvGrpSpPr>
      <p:grpSpPr>
        <a:xfrm>
          <a:off x="0" y="0"/>
          <a:ext cx="0" cy="0"/>
          <a:chOff x="0" y="0"/>
          <a:chExt cx="0" cy="0"/>
        </a:xfrm>
      </p:grpSpPr>
      <p:sp>
        <p:nvSpPr>
          <p:cNvPr id="2" name="Shape 0"/>
          <p:cNvSpPr/>
          <p:nvPr/>
        </p:nvSpPr>
        <p:spPr>
          <a:xfrm>
            <a:off x="9326880" y="3657600"/>
            <a:ext cx="5029200" cy="5029200"/>
          </a:xfrm>
          <a:prstGeom prst="ellipse">
            <a:avLst/>
          </a:prstGeom>
          <a:solidFill>
            <a:srgbClr val="E85D4E">
              <a:alpha val="28000"/>
            </a:srgbClr>
          </a:solidFill>
          <a:ln/>
        </p:spPr>
      </p:sp>
      <p:sp>
        <p:nvSpPr>
          <p:cNvPr id="3" name="Text 1"/>
          <p:cNvSpPr/>
          <p:nvPr/>
        </p:nvSpPr>
        <p:spPr>
          <a:xfrm>
            <a:off x="777240" y="502920"/>
            <a:ext cx="8229600" cy="365760"/>
          </a:xfrm>
          <a:prstGeom prst="rect">
            <a:avLst/>
          </a:prstGeom>
          <a:noFill/>
          <a:ln/>
        </p:spPr>
        <p:txBody>
          <a:bodyPr wrap="square" rtlCol="0" anchor="ctr"/>
          <a:lstStyle/>
          <a:p>
            <a:pPr indent="0" marL="0">
              <a:buNone/>
            </a:pPr>
            <a:r>
              <a:rPr lang="en-US" sz="1300" b="1" spc="300" kern="0" dirty="0">
                <a:solidFill>
                  <a:srgbClr val="F4B942"/>
                </a:solidFill>
                <a:latin typeface="Calibri" pitchFamily="34" charset="0"/>
                <a:ea typeface="Calibri" pitchFamily="34" charset="-122"/>
                <a:cs typeface="Calibri" pitchFamily="34" charset="-120"/>
              </a:rPr>
              <a:t>CONCLUSION &amp; FUTURE SCOPE</a:t>
            </a:r>
            <a:endParaRPr lang="en-US" sz="1300" dirty="0"/>
          </a:p>
        </p:txBody>
      </p:sp>
      <p:sp>
        <p:nvSpPr>
          <p:cNvPr id="4" name="Text 2"/>
          <p:cNvSpPr/>
          <p:nvPr/>
        </p:nvSpPr>
        <p:spPr>
          <a:xfrm>
            <a:off x="777240" y="822960"/>
            <a:ext cx="9144000" cy="822960"/>
          </a:xfrm>
          <a:prstGeom prst="rect">
            <a:avLst/>
          </a:prstGeom>
          <a:noFill/>
          <a:ln/>
        </p:spPr>
        <p:txBody>
          <a:bodyPr wrap="square" rtlCol="0" anchor="ctr"/>
          <a:lstStyle/>
          <a:p>
            <a:pPr indent="0" marL="0">
              <a:buNone/>
            </a:pPr>
            <a:r>
              <a:rPr lang="en-US" sz="3400" b="1" dirty="0">
                <a:solidFill>
                  <a:srgbClr val="FFFFFF"/>
                </a:solidFill>
                <a:latin typeface="Bookman Old Style" pitchFamily="34" charset="0"/>
                <a:ea typeface="Bookman Old Style" pitchFamily="34" charset="-122"/>
                <a:cs typeface="Bookman Old Style" pitchFamily="34" charset="-120"/>
              </a:rPr>
              <a:t>Closing the Loop</a:t>
            </a:r>
            <a:endParaRPr lang="en-US" sz="3400" dirty="0"/>
          </a:p>
        </p:txBody>
      </p:sp>
      <p:sp>
        <p:nvSpPr>
          <p:cNvPr id="5" name="Shape 3"/>
          <p:cNvSpPr/>
          <p:nvPr/>
        </p:nvSpPr>
        <p:spPr>
          <a:xfrm>
            <a:off x="777240" y="1828800"/>
            <a:ext cx="5212080" cy="4343400"/>
          </a:xfrm>
          <a:prstGeom prst="roundRect">
            <a:avLst>
              <a:gd name="adj" fmla="val 2526"/>
            </a:avLst>
          </a:prstGeom>
          <a:solidFill>
            <a:srgbClr val="451D3A"/>
          </a:solidFill>
          <a:ln/>
        </p:spPr>
      </p:sp>
      <p:sp>
        <p:nvSpPr>
          <p:cNvPr id="6" name="Text 4"/>
          <p:cNvSpPr/>
          <p:nvPr/>
        </p:nvSpPr>
        <p:spPr>
          <a:xfrm>
            <a:off x="1051560" y="2057400"/>
            <a:ext cx="4572000" cy="320040"/>
          </a:xfrm>
          <a:prstGeom prst="rect">
            <a:avLst/>
          </a:prstGeom>
          <a:noFill/>
          <a:ln/>
        </p:spPr>
        <p:txBody>
          <a:bodyPr wrap="square" rtlCol="0" anchor="ctr"/>
          <a:lstStyle/>
          <a:p>
            <a:pPr indent="0" marL="0">
              <a:buNone/>
            </a:pPr>
            <a:r>
              <a:rPr lang="en-US" sz="1200" b="1" spc="200" kern="0" dirty="0">
                <a:solidFill>
                  <a:srgbClr val="F4B942"/>
                </a:solidFill>
                <a:latin typeface="Calibri" pitchFamily="34" charset="0"/>
                <a:ea typeface="Calibri" pitchFamily="34" charset="-122"/>
                <a:cs typeface="Calibri" pitchFamily="34" charset="-120"/>
              </a:rPr>
              <a:t>CONCLUSION</a:t>
            </a:r>
            <a:endParaRPr lang="en-US" sz="1200" dirty="0"/>
          </a:p>
        </p:txBody>
      </p:sp>
      <p:sp>
        <p:nvSpPr>
          <p:cNvPr id="7" name="Text 5"/>
          <p:cNvSpPr/>
          <p:nvPr/>
        </p:nvSpPr>
        <p:spPr>
          <a:xfrm>
            <a:off x="1051560" y="2423160"/>
            <a:ext cx="4709160" cy="3566160"/>
          </a:xfrm>
          <a:prstGeom prst="rect">
            <a:avLst/>
          </a:prstGeom>
          <a:noFill/>
          <a:ln/>
        </p:spPr>
        <p:txBody>
          <a:bodyPr wrap="square" lIns="0" tIns="0" rIns="0" bIns="0" rtlCol="0" anchor="t"/>
          <a:lstStyle/>
          <a:p>
            <a:pPr indent="0" marL="0">
              <a:lnSpc>
                <a:spcPct val="135000"/>
              </a:lnSpc>
              <a:buNone/>
            </a:pPr>
            <a:r>
              <a:rPr lang="en-US" sz="1250" dirty="0">
                <a:solidFill>
                  <a:srgbClr val="E8D9DF"/>
                </a:solidFill>
                <a:latin typeface="Calibri" pitchFamily="34" charset="0"/>
                <a:ea typeface="Calibri" pitchFamily="34" charset="-122"/>
                <a:cs typeface="Calibri" pitchFamily="34" charset="-120"/>
              </a:rPr>
              <a:t>The Bengaluru PG market is driven more by service quality, amenities and customer experience than by rental price alone. Owners who invest in facilities and maintain competitive, transparent pricing are best positioned to boost satisfaction, occupancy and long-term profitability.</a:t>
            </a:r>
            <a:endParaRPr lang="en-US" sz="1250" dirty="0"/>
          </a:p>
        </p:txBody>
      </p:sp>
      <p:sp>
        <p:nvSpPr>
          <p:cNvPr id="8" name="Shape 6"/>
          <p:cNvSpPr/>
          <p:nvPr/>
        </p:nvSpPr>
        <p:spPr>
          <a:xfrm>
            <a:off x="6199632" y="1828800"/>
            <a:ext cx="5212080" cy="4343400"/>
          </a:xfrm>
          <a:prstGeom prst="roundRect">
            <a:avLst>
              <a:gd name="adj" fmla="val 2526"/>
            </a:avLst>
          </a:prstGeom>
          <a:solidFill>
            <a:srgbClr val="451D3A"/>
          </a:solidFill>
          <a:ln/>
        </p:spPr>
      </p:sp>
      <p:sp>
        <p:nvSpPr>
          <p:cNvPr id="9" name="Text 7"/>
          <p:cNvSpPr/>
          <p:nvPr/>
        </p:nvSpPr>
        <p:spPr>
          <a:xfrm>
            <a:off x="6473952" y="2057400"/>
            <a:ext cx="4572000" cy="320040"/>
          </a:xfrm>
          <a:prstGeom prst="rect">
            <a:avLst/>
          </a:prstGeom>
          <a:noFill/>
          <a:ln/>
        </p:spPr>
        <p:txBody>
          <a:bodyPr wrap="square" rtlCol="0" anchor="ctr"/>
          <a:lstStyle/>
          <a:p>
            <a:pPr indent="0" marL="0">
              <a:buNone/>
            </a:pPr>
            <a:r>
              <a:rPr lang="en-US" sz="1200" b="1" spc="200" kern="0" dirty="0">
                <a:solidFill>
                  <a:srgbClr val="F4B942"/>
                </a:solidFill>
                <a:latin typeface="Calibri" pitchFamily="34" charset="0"/>
                <a:ea typeface="Calibri" pitchFamily="34" charset="-122"/>
                <a:cs typeface="Calibri" pitchFamily="34" charset="-120"/>
              </a:rPr>
              <a:t>FUTURE SCOPE</a:t>
            </a:r>
            <a:endParaRPr lang="en-US" sz="1200" dirty="0"/>
          </a:p>
        </p:txBody>
      </p:sp>
      <p:sp>
        <p:nvSpPr>
          <p:cNvPr id="10" name="Shape 8"/>
          <p:cNvSpPr/>
          <p:nvPr/>
        </p:nvSpPr>
        <p:spPr>
          <a:xfrm>
            <a:off x="6473952" y="2505456"/>
            <a:ext cx="100584" cy="100584"/>
          </a:xfrm>
          <a:prstGeom prst="ellipse">
            <a:avLst/>
          </a:prstGeom>
          <a:solidFill>
            <a:srgbClr val="F3927F"/>
          </a:solidFill>
          <a:ln/>
        </p:spPr>
      </p:sp>
      <p:sp>
        <p:nvSpPr>
          <p:cNvPr id="11" name="Text 9"/>
          <p:cNvSpPr/>
          <p:nvPr/>
        </p:nvSpPr>
        <p:spPr>
          <a:xfrm>
            <a:off x="6693408" y="2377440"/>
            <a:ext cx="4526280" cy="566928"/>
          </a:xfrm>
          <a:prstGeom prst="rect">
            <a:avLst/>
          </a:prstGeom>
          <a:noFill/>
          <a:ln/>
        </p:spPr>
        <p:txBody>
          <a:bodyPr wrap="square" lIns="0" tIns="0" rIns="0" bIns="0" rtlCol="0" anchor="ctr"/>
          <a:lstStyle/>
          <a:p>
            <a:pPr indent="0" marL="0">
              <a:lnSpc>
                <a:spcPct val="115000"/>
              </a:lnSpc>
              <a:buNone/>
            </a:pPr>
            <a:r>
              <a:rPr lang="en-US" sz="1130" dirty="0">
                <a:solidFill>
                  <a:srgbClr val="E8D9DF"/>
                </a:solidFill>
                <a:latin typeface="Calibri" pitchFamily="34" charset="0"/>
                <a:ea typeface="Calibri" pitchFamily="34" charset="-122"/>
                <a:cs typeface="Calibri" pitchFamily="34" charset="-120"/>
              </a:rPr>
              <a:t>Build a predictive rent model using ML (regression / gradient boosting).</a:t>
            </a:r>
            <a:endParaRPr lang="en-US" sz="1130" dirty="0"/>
          </a:p>
        </p:txBody>
      </p:sp>
      <p:sp>
        <p:nvSpPr>
          <p:cNvPr id="12" name="Shape 10"/>
          <p:cNvSpPr/>
          <p:nvPr/>
        </p:nvSpPr>
        <p:spPr>
          <a:xfrm>
            <a:off x="6473952" y="3218688"/>
            <a:ext cx="100584" cy="100584"/>
          </a:xfrm>
          <a:prstGeom prst="ellipse">
            <a:avLst/>
          </a:prstGeom>
          <a:solidFill>
            <a:srgbClr val="F3927F"/>
          </a:solidFill>
          <a:ln/>
        </p:spPr>
      </p:sp>
      <p:sp>
        <p:nvSpPr>
          <p:cNvPr id="13" name="Text 11"/>
          <p:cNvSpPr/>
          <p:nvPr/>
        </p:nvSpPr>
        <p:spPr>
          <a:xfrm>
            <a:off x="6693408" y="3090672"/>
            <a:ext cx="4526280" cy="566928"/>
          </a:xfrm>
          <a:prstGeom prst="rect">
            <a:avLst/>
          </a:prstGeom>
          <a:noFill/>
          <a:ln/>
        </p:spPr>
        <p:txBody>
          <a:bodyPr wrap="square" lIns="0" tIns="0" rIns="0" bIns="0" rtlCol="0" anchor="ctr"/>
          <a:lstStyle/>
          <a:p>
            <a:pPr indent="0" marL="0">
              <a:lnSpc>
                <a:spcPct val="115000"/>
              </a:lnSpc>
              <a:buNone/>
            </a:pPr>
            <a:r>
              <a:rPr lang="en-US" sz="1130" dirty="0">
                <a:solidFill>
                  <a:srgbClr val="E8D9DF"/>
                </a:solidFill>
                <a:latin typeface="Calibri" pitchFamily="34" charset="0"/>
                <a:ea typeface="Calibri" pitchFamily="34" charset="-122"/>
                <a:cs typeface="Calibri" pitchFamily="34" charset="-120"/>
              </a:rPr>
              <a:t>Integrate live listings via APIs for real-time market tracking.</a:t>
            </a:r>
            <a:endParaRPr lang="en-US" sz="1130" dirty="0"/>
          </a:p>
        </p:txBody>
      </p:sp>
      <p:sp>
        <p:nvSpPr>
          <p:cNvPr id="14" name="Shape 12"/>
          <p:cNvSpPr/>
          <p:nvPr/>
        </p:nvSpPr>
        <p:spPr>
          <a:xfrm>
            <a:off x="6473952" y="3931920"/>
            <a:ext cx="100584" cy="100584"/>
          </a:xfrm>
          <a:prstGeom prst="ellipse">
            <a:avLst/>
          </a:prstGeom>
          <a:solidFill>
            <a:srgbClr val="F3927F"/>
          </a:solidFill>
          <a:ln/>
        </p:spPr>
      </p:sp>
      <p:sp>
        <p:nvSpPr>
          <p:cNvPr id="15" name="Text 13"/>
          <p:cNvSpPr/>
          <p:nvPr/>
        </p:nvSpPr>
        <p:spPr>
          <a:xfrm>
            <a:off x="6693408" y="3803904"/>
            <a:ext cx="4526280" cy="566928"/>
          </a:xfrm>
          <a:prstGeom prst="rect">
            <a:avLst/>
          </a:prstGeom>
          <a:noFill/>
          <a:ln/>
        </p:spPr>
        <p:txBody>
          <a:bodyPr wrap="square" lIns="0" tIns="0" rIns="0" bIns="0" rtlCol="0" anchor="ctr"/>
          <a:lstStyle/>
          <a:p>
            <a:pPr indent="0" marL="0">
              <a:lnSpc>
                <a:spcPct val="115000"/>
              </a:lnSpc>
              <a:buNone/>
            </a:pPr>
            <a:r>
              <a:rPr lang="en-US" sz="1130" dirty="0">
                <a:solidFill>
                  <a:srgbClr val="E8D9DF"/>
                </a:solidFill>
                <a:latin typeface="Calibri" pitchFamily="34" charset="0"/>
                <a:ea typeface="Calibri" pitchFamily="34" charset="-122"/>
                <a:cs typeface="Calibri" pitchFamily="34" charset="-120"/>
              </a:rPr>
              <a:t>Add sentiment analysis on tenant reviews for deeper quality signals.</a:t>
            </a:r>
            <a:endParaRPr lang="en-US" sz="1130" dirty="0"/>
          </a:p>
        </p:txBody>
      </p:sp>
      <p:sp>
        <p:nvSpPr>
          <p:cNvPr id="16" name="Shape 14"/>
          <p:cNvSpPr/>
          <p:nvPr/>
        </p:nvSpPr>
        <p:spPr>
          <a:xfrm>
            <a:off x="6473952" y="4645152"/>
            <a:ext cx="100584" cy="100584"/>
          </a:xfrm>
          <a:prstGeom prst="ellipse">
            <a:avLst/>
          </a:prstGeom>
          <a:solidFill>
            <a:srgbClr val="F3927F"/>
          </a:solidFill>
          <a:ln/>
        </p:spPr>
      </p:sp>
      <p:sp>
        <p:nvSpPr>
          <p:cNvPr id="17" name="Text 15"/>
          <p:cNvSpPr/>
          <p:nvPr/>
        </p:nvSpPr>
        <p:spPr>
          <a:xfrm>
            <a:off x="6693408" y="4517136"/>
            <a:ext cx="4526280" cy="566928"/>
          </a:xfrm>
          <a:prstGeom prst="rect">
            <a:avLst/>
          </a:prstGeom>
          <a:noFill/>
          <a:ln/>
        </p:spPr>
        <p:txBody>
          <a:bodyPr wrap="square" lIns="0" tIns="0" rIns="0" bIns="0" rtlCol="0" anchor="ctr"/>
          <a:lstStyle/>
          <a:p>
            <a:pPr indent="0" marL="0">
              <a:lnSpc>
                <a:spcPct val="115000"/>
              </a:lnSpc>
              <a:buNone/>
            </a:pPr>
            <a:r>
              <a:rPr lang="en-US" sz="1130" dirty="0">
                <a:solidFill>
                  <a:srgbClr val="E8D9DF"/>
                </a:solidFill>
                <a:latin typeface="Calibri" pitchFamily="34" charset="0"/>
                <a:ea typeface="Calibri" pitchFamily="34" charset="-122"/>
                <a:cs typeface="Calibri" pitchFamily="34" charset="-120"/>
              </a:rPr>
              <a:t>Extend geospatial analysis with interactive maps &amp; heat zones.</a:t>
            </a:r>
            <a:endParaRPr lang="en-US" sz="1130" dirty="0"/>
          </a:p>
        </p:txBody>
      </p:sp>
      <p:sp>
        <p:nvSpPr>
          <p:cNvPr id="18" name="Shape 16"/>
          <p:cNvSpPr/>
          <p:nvPr/>
        </p:nvSpPr>
        <p:spPr>
          <a:xfrm>
            <a:off x="6473952" y="5358384"/>
            <a:ext cx="100584" cy="100584"/>
          </a:xfrm>
          <a:prstGeom prst="ellipse">
            <a:avLst/>
          </a:prstGeom>
          <a:solidFill>
            <a:srgbClr val="F3927F"/>
          </a:solidFill>
          <a:ln/>
        </p:spPr>
      </p:sp>
      <p:sp>
        <p:nvSpPr>
          <p:cNvPr id="19" name="Text 17"/>
          <p:cNvSpPr/>
          <p:nvPr/>
        </p:nvSpPr>
        <p:spPr>
          <a:xfrm>
            <a:off x="6693408" y="5230368"/>
            <a:ext cx="4526280" cy="566928"/>
          </a:xfrm>
          <a:prstGeom prst="rect">
            <a:avLst/>
          </a:prstGeom>
          <a:noFill/>
          <a:ln/>
        </p:spPr>
        <p:txBody>
          <a:bodyPr wrap="square" lIns="0" tIns="0" rIns="0" bIns="0" rtlCol="0" anchor="ctr"/>
          <a:lstStyle/>
          <a:p>
            <a:pPr indent="0" marL="0">
              <a:lnSpc>
                <a:spcPct val="115000"/>
              </a:lnSpc>
              <a:buNone/>
            </a:pPr>
            <a:r>
              <a:rPr lang="en-US" sz="1130" dirty="0">
                <a:solidFill>
                  <a:srgbClr val="E8D9DF"/>
                </a:solidFill>
                <a:latin typeface="Calibri" pitchFamily="34" charset="0"/>
                <a:ea typeface="Calibri" pitchFamily="34" charset="-122"/>
                <a:cs typeface="Calibri" pitchFamily="34" charset="-120"/>
              </a:rPr>
              <a:t>Develop a recommendation engine matching tenants to ideal PGs.</a:t>
            </a:r>
            <a:endParaRPr lang="en-US" sz="1130" dirty="0"/>
          </a:p>
        </p:txBody>
      </p:sp>
      <p:sp>
        <p:nvSpPr>
          <p:cNvPr id="20" name="Text 18"/>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D1730"/>
        </a:solidFill>
      </p:bgPr>
    </p:bg>
    <p:spTree>
      <p:nvGrpSpPr>
        <p:cNvPr id="1" name=""/>
        <p:cNvGrpSpPr/>
        <p:nvPr/>
      </p:nvGrpSpPr>
      <p:grpSpPr>
        <a:xfrm>
          <a:off x="0" y="0"/>
          <a:ext cx="0" cy="0"/>
          <a:chOff x="0" y="0"/>
          <a:chExt cx="0" cy="0"/>
        </a:xfrm>
      </p:grpSpPr>
      <p:sp>
        <p:nvSpPr>
          <p:cNvPr id="2" name="Shape 0"/>
          <p:cNvSpPr/>
          <p:nvPr/>
        </p:nvSpPr>
        <p:spPr>
          <a:xfrm>
            <a:off x="-2286000" y="-2743200"/>
            <a:ext cx="6400800" cy="6400800"/>
          </a:xfrm>
          <a:prstGeom prst="ellipse">
            <a:avLst/>
          </a:prstGeom>
          <a:solidFill>
            <a:srgbClr val="7B2D5E">
              <a:alpha val="45000"/>
            </a:srgbClr>
          </a:solidFill>
          <a:ln/>
        </p:spPr>
      </p:sp>
      <p:sp>
        <p:nvSpPr>
          <p:cNvPr id="3" name="Shape 1"/>
          <p:cNvSpPr/>
          <p:nvPr/>
        </p:nvSpPr>
        <p:spPr>
          <a:xfrm>
            <a:off x="8686800" y="3474720"/>
            <a:ext cx="5943600" cy="5943600"/>
          </a:xfrm>
          <a:prstGeom prst="ellipse">
            <a:avLst/>
          </a:prstGeom>
          <a:solidFill>
            <a:srgbClr val="E85D4E">
              <a:alpha val="30000"/>
            </a:srgbClr>
          </a:solidFill>
          <a:ln/>
        </p:spPr>
      </p:sp>
      <p:sp>
        <p:nvSpPr>
          <p:cNvPr id="4" name="Shape 2"/>
          <p:cNvSpPr/>
          <p:nvPr/>
        </p:nvSpPr>
        <p:spPr>
          <a:xfrm>
            <a:off x="9875520" y="-1645920"/>
            <a:ext cx="2743200" cy="2743200"/>
          </a:xfrm>
          <a:prstGeom prst="ellipse">
            <a:avLst/>
          </a:prstGeom>
          <a:solidFill>
            <a:srgbClr val="F4B942">
              <a:alpha val="38000"/>
            </a:srgbClr>
          </a:solidFill>
          <a:ln/>
        </p:spPr>
      </p:sp>
      <p:sp>
        <p:nvSpPr>
          <p:cNvPr id="5" name="Shape 3"/>
          <p:cNvSpPr/>
          <p:nvPr/>
        </p:nvSpPr>
        <p:spPr>
          <a:xfrm>
            <a:off x="5455768" y="1371600"/>
            <a:ext cx="1280160" cy="1280160"/>
          </a:xfrm>
          <a:prstGeom prst="ellipse">
            <a:avLst/>
          </a:prstGeom>
          <a:solidFill>
            <a:srgbClr val="E85D4E"/>
          </a:solidFill>
          <a:ln/>
        </p:spPr>
      </p:sp>
      <p:pic>
        <p:nvPicPr>
          <p:cNvPr id="6" name="Image 0" descr="/home/claude/icons/handshake.png">    </p:cNvPr>
          <p:cNvPicPr>
            <a:picLocks noChangeAspect="1"/>
          </p:cNvPicPr>
          <p:nvPr/>
        </p:nvPicPr>
        <p:blipFill>
          <a:blip r:embed="rId1"/>
          <a:stretch>
            <a:fillRect/>
          </a:stretch>
        </p:blipFill>
        <p:spPr>
          <a:xfrm>
            <a:off x="5801411" y="1717243"/>
            <a:ext cx="588874" cy="588874"/>
          </a:xfrm>
          <a:prstGeom prst="rect">
            <a:avLst/>
          </a:prstGeom>
        </p:spPr>
      </p:pic>
      <p:sp>
        <p:nvSpPr>
          <p:cNvPr id="7" name="Text 4"/>
          <p:cNvSpPr/>
          <p:nvPr/>
        </p:nvSpPr>
        <p:spPr>
          <a:xfrm>
            <a:off x="0" y="2880360"/>
            <a:ext cx="12191695" cy="1005840"/>
          </a:xfrm>
          <a:prstGeom prst="rect">
            <a:avLst/>
          </a:prstGeom>
          <a:noFill/>
          <a:ln/>
        </p:spPr>
        <p:txBody>
          <a:bodyPr wrap="square" rtlCol="0" anchor="ctr"/>
          <a:lstStyle/>
          <a:p>
            <a:pPr algn="ctr" indent="0" marL="0">
              <a:buNone/>
            </a:pPr>
            <a:r>
              <a:rPr lang="en-US" sz="5000" b="1" dirty="0">
                <a:solidFill>
                  <a:srgbClr val="FFFFFF"/>
                </a:solidFill>
                <a:latin typeface="Bookman Old Style" pitchFamily="34" charset="0"/>
                <a:ea typeface="Bookman Old Style" pitchFamily="34" charset="-122"/>
                <a:cs typeface="Bookman Old Style" pitchFamily="34" charset="-120"/>
              </a:rPr>
              <a:t>Thank You</a:t>
            </a:r>
            <a:endParaRPr lang="en-US" sz="5000" dirty="0"/>
          </a:p>
        </p:txBody>
      </p:sp>
      <p:sp>
        <p:nvSpPr>
          <p:cNvPr id="8" name="Text 5"/>
          <p:cNvSpPr/>
          <p:nvPr/>
        </p:nvSpPr>
        <p:spPr>
          <a:xfrm>
            <a:off x="0" y="3794760"/>
            <a:ext cx="12191695" cy="457200"/>
          </a:xfrm>
          <a:prstGeom prst="rect">
            <a:avLst/>
          </a:prstGeom>
          <a:noFill/>
          <a:ln/>
        </p:spPr>
        <p:txBody>
          <a:bodyPr wrap="square" rtlCol="0" anchor="ctr"/>
          <a:lstStyle/>
          <a:p>
            <a:pPr algn="ctr" indent="0" marL="0">
              <a:buNone/>
            </a:pPr>
            <a:r>
              <a:rPr lang="en-US" sz="1500" i="1" dirty="0">
                <a:solidFill>
                  <a:srgbClr val="F4B942"/>
                </a:solidFill>
                <a:latin typeface="Calibri" pitchFamily="34" charset="0"/>
                <a:ea typeface="Calibri" pitchFamily="34" charset="-122"/>
                <a:cs typeface="Calibri" pitchFamily="34" charset="-120"/>
              </a:rPr>
              <a:t>Bengaluru PG Market Intelligence &amp; Analysis</a:t>
            </a:r>
            <a:endParaRPr lang="en-US" sz="1500" dirty="0"/>
          </a:p>
        </p:txBody>
      </p:sp>
      <p:sp>
        <p:nvSpPr>
          <p:cNvPr id="9" name="Text 6"/>
          <p:cNvSpPr/>
          <p:nvPr/>
        </p:nvSpPr>
        <p:spPr>
          <a:xfrm>
            <a:off x="0" y="4297680"/>
            <a:ext cx="12191695" cy="365760"/>
          </a:xfrm>
          <a:prstGeom prst="rect">
            <a:avLst/>
          </a:prstGeom>
          <a:noFill/>
          <a:ln/>
        </p:spPr>
        <p:txBody>
          <a:bodyPr wrap="square" rtlCol="0" anchor="ctr"/>
          <a:lstStyle/>
          <a:p>
            <a:pPr algn="ctr" indent="0" marL="0">
              <a:buNone/>
            </a:pPr>
            <a:r>
              <a:rPr lang="en-US" sz="1200" dirty="0">
                <a:solidFill>
                  <a:srgbClr val="E8D9DF"/>
                </a:solidFill>
                <a:latin typeface="Calibri" pitchFamily="34" charset="0"/>
                <a:ea typeface="Calibri" pitchFamily="34" charset="-122"/>
                <a:cs typeface="Calibri" pitchFamily="34" charset="-120"/>
              </a:rPr>
              <a:t>Questions &amp; discussion welcome</a:t>
            </a:r>
            <a:endParaRPr lang="en-US" sz="1200" dirty="0"/>
          </a:p>
        </p:txBody>
      </p:sp>
      <p:sp>
        <p:nvSpPr>
          <p:cNvPr id="10" name="Shape 7"/>
          <p:cNvSpPr/>
          <p:nvPr/>
        </p:nvSpPr>
        <p:spPr>
          <a:xfrm>
            <a:off x="4815688" y="5074920"/>
            <a:ext cx="2560320" cy="0"/>
          </a:xfrm>
          <a:prstGeom prst="line">
            <a:avLst/>
          </a:prstGeom>
          <a:noFill/>
          <a:ln w="19050">
            <a:solidFill>
              <a:srgbClr val="F4B942"/>
            </a:solidFill>
            <a:prstDash val="solid"/>
          </a:ln>
        </p:spPr>
      </p:sp>
      <p:sp>
        <p:nvSpPr>
          <p:cNvPr id="11" name="Text 8"/>
          <p:cNvSpPr/>
          <p:nvPr/>
        </p:nvSpPr>
        <p:spPr>
          <a:xfrm>
            <a:off x="0" y="5257800"/>
            <a:ext cx="12191695" cy="365760"/>
          </a:xfrm>
          <a:prstGeom prst="rect">
            <a:avLst/>
          </a:prstGeom>
          <a:noFill/>
          <a:ln/>
        </p:spPr>
        <p:txBody>
          <a:bodyPr wrap="square" rtlCol="0" anchor="ctr"/>
          <a:lstStyle/>
          <a:p>
            <a:pPr algn="ctr" indent="0" marL="0">
              <a:buNone/>
            </a:pPr>
            <a:r>
              <a:rPr lang="en-US" sz="1050" dirty="0">
                <a:solidFill>
                  <a:srgbClr val="9C8B93"/>
                </a:solidFill>
                <a:latin typeface="Calibri" pitchFamily="34" charset="0"/>
                <a:ea typeface="Calibri" pitchFamily="34" charset="-122"/>
                <a:cs typeface="Calibri" pitchFamily="34" charset="-120"/>
              </a:rPr>
              <a:t>Python  •  Pandas  •  Seaborn  •  30,600 Records  •  15 Research Questions</a:t>
            </a:r>
            <a:endParaRPr lang="en-US" sz="1050" dirty="0"/>
          </a:p>
        </p:txBody>
      </p:sp>
      <p:sp>
        <p:nvSpPr>
          <p:cNvPr id="12" name="Text 9"/>
          <p:cNvSpPr/>
          <p:nvPr/>
        </p:nvSpPr>
        <p:spPr>
          <a:xfrm>
            <a:off x="11368735" y="6400800"/>
            <a:ext cx="548640" cy="274320"/>
          </a:xfrm>
          <a:prstGeom prst="rect">
            <a:avLst/>
          </a:prstGeom>
          <a:noFill/>
          <a:ln/>
        </p:spPr>
        <p:txBody>
          <a:bodyPr wrap="square" rtlCol="0" anchor="ctr"/>
          <a:lstStyle/>
          <a:p>
            <a:pPr algn="r" indent="0" marL="0">
              <a:buNone/>
            </a:pPr>
            <a:r>
              <a:rPr lang="en-US" sz="900" dirty="0">
                <a:solidFill>
                  <a:srgbClr val="9C8B9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2026-07-27T04:27:46Z</dcterms:created>
  <dcterms:modified xsi:type="dcterms:W3CDTF">2026-07-27T04:27:46Z</dcterms:modified>
</cp:coreProperties>
</file>